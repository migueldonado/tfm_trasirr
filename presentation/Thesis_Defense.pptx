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1" r:id="rId1"/>
  </p:sldMasterIdLst>
  <p:notesMasterIdLst>
    <p:notesMasterId r:id="rId26"/>
  </p:notesMasterIdLst>
  <p:handoutMasterIdLst>
    <p:handoutMasterId r:id="rId27"/>
  </p:handoutMasterIdLst>
  <p:sldIdLst>
    <p:sldId id="256" r:id="rId2"/>
    <p:sldId id="274" r:id="rId3"/>
    <p:sldId id="276" r:id="rId4"/>
    <p:sldId id="277" r:id="rId5"/>
    <p:sldId id="278" r:id="rId6"/>
    <p:sldId id="281" r:id="rId7"/>
    <p:sldId id="279" r:id="rId8"/>
    <p:sldId id="280" r:id="rId9"/>
    <p:sldId id="282" r:id="rId10"/>
    <p:sldId id="283" r:id="rId11"/>
    <p:sldId id="258" r:id="rId12"/>
    <p:sldId id="284" r:id="rId13"/>
    <p:sldId id="286" r:id="rId14"/>
    <p:sldId id="285" r:id="rId15"/>
    <p:sldId id="287" r:id="rId16"/>
    <p:sldId id="288" r:id="rId17"/>
    <p:sldId id="289" r:id="rId18"/>
    <p:sldId id="290" r:id="rId19"/>
    <p:sldId id="291" r:id="rId20"/>
    <p:sldId id="292" r:id="rId21"/>
    <p:sldId id="293" r:id="rId22"/>
    <p:sldId id="294" r:id="rId23"/>
    <p:sldId id="295" r:id="rId24"/>
    <p:sldId id="296" r:id="rId25"/>
  </p:sldIdLst>
  <p:sldSz cx="9144000" cy="5143500" type="screen16x9"/>
  <p:notesSz cx="7315200" cy="9601200"/>
  <p:defaultTextStyle>
    <a:defPPr marR="0" algn="l" rtl="0">
      <a:lnSpc>
        <a:spcPct val="100000"/>
      </a:lnSpc>
      <a:spcBef>
        <a:spcPts val="0"/>
      </a:spcBef>
      <a:spcAft>
        <a:spcPts val="0"/>
      </a:spcAft>
    </a:defPPr>
    <a:lvl1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7A8A149-0055-4E48-B641-E33EBA07B0A9}" v="4" dt="2026-09-30T17:44:54.764"/>
    <p1510:client id="{7B7EFF88-BC95-49D3-B969-106A757100E0}" v="781" dt="2026-10-01T12:01:11.098"/>
    <p1510:client id="{A3016552-3D72-4AF3-A4CB-60B1CBD4CEA8}" v="4887" dt="2026-09-30T17:42:59.223"/>
    <p1510:client id="{F4E2D854-FA2D-4E88-B70B-33970D3DB8A9}" v="558" dt="2026-09-30T13:09:47.587"/>
  </p1510:revLst>
</p1510:revInfo>
</file>

<file path=ppt/tableStyles.xml><?xml version="1.0" encoding="utf-8"?>
<a:tblStyleLst xmlns:a="http://schemas.openxmlformats.org/drawingml/2006/main" def="{90651C3A-4460-11DB-9652-00E08161165F}"/>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2" autoAdjust="0"/>
    <p:restoredTop sz="74317" autoAdjust="0"/>
  </p:normalViewPr>
  <p:slideViewPr>
    <p:cSldViewPr snapToGrid="0">
      <p:cViewPr varScale="1">
        <p:scale>
          <a:sx n="80" d="100"/>
          <a:sy n="80" d="100"/>
        </p:scale>
        <p:origin x="808" y="5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01" d="100"/>
          <a:sy n="101" d="100"/>
        </p:scale>
        <p:origin x="3552"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sz="quarter" idx="1"/>
          </p:nvPr>
        </p:nvSpPr>
        <p:spPr>
          <a:xfrm>
            <a:off x="4143587" y="0"/>
            <a:ext cx="3169920" cy="481727"/>
          </a:xfrm>
          <a:prstGeom prst="rect">
            <a:avLst/>
          </a:prstGeom>
        </p:spPr>
        <p:txBody>
          <a:bodyPr vert="horz" lIns="96661" tIns="48331" rIns="96661" bIns="48331" rtlCol="0"/>
          <a:lstStyle>
            <a:lvl1pPr algn="r">
              <a:defRPr sz="1300"/>
            </a:lvl1pPr>
          </a:lstStyle>
          <a:p>
            <a:fld id="{9A223849-021F-452E-A1F3-892AE52BBE56}" type="datetimeFigureOut">
              <a:rPr lang="en-US" smtClean="0"/>
              <a:t>10/1/2026</a:t>
            </a:fld>
            <a:endParaRPr lang="en-US"/>
          </a:p>
        </p:txBody>
      </p:sp>
      <p:sp>
        <p:nvSpPr>
          <p:cNvPr id="4" name="Footer Placeholder 3"/>
          <p:cNvSpPr>
            <a:spLocks noGrp="1"/>
          </p:cNvSpPr>
          <p:nvPr>
            <p:ph type="ftr" sz="quarter" idx="2"/>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5" name="Slide Number Placeholder 4"/>
          <p:cNvSpPr>
            <a:spLocks noGrp="1"/>
          </p:cNvSpPr>
          <p:nvPr>
            <p:ph type="sldNum" sz="quarter" idx="3"/>
          </p:nvPr>
        </p:nvSpPr>
        <p:spPr>
          <a:xfrm>
            <a:off x="4143587" y="9119474"/>
            <a:ext cx="3169920" cy="481726"/>
          </a:xfrm>
          <a:prstGeom prst="rect">
            <a:avLst/>
          </a:prstGeom>
        </p:spPr>
        <p:txBody>
          <a:bodyPr vert="horz" lIns="96661" tIns="48331" rIns="96661" bIns="48331" rtlCol="0" anchor="b"/>
          <a:lstStyle>
            <a:lvl1pPr algn="r">
              <a:defRPr sz="1300"/>
            </a:lvl1pPr>
          </a:lstStyle>
          <a:p>
            <a:fld id="{04A8F6EE-A0F6-4A24-8145-5E7B5CA58C82}" type="slidenum">
              <a:rPr lang="en-US" smtClean="0"/>
              <a:t>‹Nº›</a:t>
            </a:fld>
            <a:endParaRPr lang="en-US"/>
          </a:p>
        </p:txBody>
      </p:sp>
    </p:spTree>
    <p:extLst>
      <p:ext uri="{BB962C8B-B14F-4D97-AF65-F5344CB8AC3E}">
        <p14:creationId xmlns:p14="http://schemas.microsoft.com/office/powerpoint/2010/main" val="23336880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
        <p:cNvGrpSpPr/>
        <p:nvPr/>
      </p:nvGrpSpPr>
      <p:grpSpPr>
        <a:xfrm>
          <a:off x="0" y="0"/>
          <a:ext cx="0" cy="0"/>
          <a:chOff x="0" y="0"/>
          <a:chExt cx="0" cy="0"/>
        </a:xfrm>
      </p:grpSpPr>
      <p:sp>
        <p:nvSpPr>
          <p:cNvPr id="2" name="Shape 2"/>
          <p:cNvSpPr txBox="1">
            <a:spLocks noGrp="1"/>
          </p:cNvSpPr>
          <p:nvPr>
            <p:ph type="hdr" idx="2"/>
          </p:nvPr>
        </p:nvSpPr>
        <p:spPr>
          <a:xfrm>
            <a:off x="1" y="0"/>
            <a:ext cx="3169919" cy="480060"/>
          </a:xfrm>
          <a:prstGeom prst="rect">
            <a:avLst/>
          </a:prstGeom>
          <a:noFill/>
          <a:ln>
            <a:noFill/>
          </a:ln>
        </p:spPr>
        <p:txBody>
          <a:bodyPr lIns="96645" tIns="96645" rIns="96645" bIns="96645" anchor="t" anchorCtr="0"/>
          <a:lstStyle>
            <a:lvl1pPr marL="0" marR="0" indent="0" algn="l" rtl="0">
              <a:spcBef>
                <a:spcPts val="0"/>
              </a:spcBef>
              <a:defRPr/>
            </a:lvl1pPr>
            <a:lvl2pPr marL="483306" marR="0" indent="0" algn="l" rtl="0">
              <a:spcBef>
                <a:spcPts val="0"/>
              </a:spcBef>
              <a:defRPr/>
            </a:lvl2pPr>
            <a:lvl3pPr marL="966612" marR="0" indent="0" algn="l" rtl="0">
              <a:spcBef>
                <a:spcPts val="0"/>
              </a:spcBef>
              <a:defRPr/>
            </a:lvl3pPr>
            <a:lvl4pPr marL="1449918" marR="0" indent="0" algn="l" rtl="0">
              <a:spcBef>
                <a:spcPts val="0"/>
              </a:spcBef>
              <a:defRPr/>
            </a:lvl4pPr>
            <a:lvl5pPr marL="1933224" marR="0" indent="0" algn="l" rtl="0">
              <a:spcBef>
                <a:spcPts val="0"/>
              </a:spcBef>
              <a:defRPr/>
            </a:lvl5pPr>
            <a:lvl6pPr marL="2416531" marR="0" indent="0" algn="l" rtl="0">
              <a:spcBef>
                <a:spcPts val="0"/>
              </a:spcBef>
              <a:defRPr/>
            </a:lvl6pPr>
            <a:lvl7pPr marL="2899837" marR="0" indent="0" algn="l" rtl="0">
              <a:spcBef>
                <a:spcPts val="0"/>
              </a:spcBef>
              <a:defRPr/>
            </a:lvl7pPr>
            <a:lvl8pPr marL="3383143" marR="0" indent="0" algn="l" rtl="0">
              <a:spcBef>
                <a:spcPts val="0"/>
              </a:spcBef>
              <a:defRPr/>
            </a:lvl8pPr>
            <a:lvl9pPr marL="3866449" marR="0" indent="0" algn="l" rtl="0">
              <a:spcBef>
                <a:spcPts val="0"/>
              </a:spcBef>
              <a:defRPr/>
            </a:lvl9pPr>
          </a:lstStyle>
          <a:p>
            <a:endParaRPr/>
          </a:p>
        </p:txBody>
      </p:sp>
      <p:sp>
        <p:nvSpPr>
          <p:cNvPr id="3" name="Shape 3"/>
          <p:cNvSpPr txBox="1">
            <a:spLocks noGrp="1"/>
          </p:cNvSpPr>
          <p:nvPr>
            <p:ph type="dt" idx="10"/>
          </p:nvPr>
        </p:nvSpPr>
        <p:spPr>
          <a:xfrm>
            <a:off x="4143587" y="0"/>
            <a:ext cx="3169919" cy="480060"/>
          </a:xfrm>
          <a:prstGeom prst="rect">
            <a:avLst/>
          </a:prstGeom>
          <a:noFill/>
          <a:ln>
            <a:noFill/>
          </a:ln>
        </p:spPr>
        <p:txBody>
          <a:bodyPr lIns="96645" tIns="96645" rIns="96645" bIns="96645" anchor="t" anchorCtr="0"/>
          <a:lstStyle>
            <a:lvl1pPr marL="0" marR="0" indent="0" algn="r" rtl="0">
              <a:spcBef>
                <a:spcPts val="0"/>
              </a:spcBef>
              <a:defRPr/>
            </a:lvl1pPr>
            <a:lvl2pPr marL="483306" marR="0" indent="0" algn="l" rtl="0">
              <a:spcBef>
                <a:spcPts val="0"/>
              </a:spcBef>
              <a:defRPr/>
            </a:lvl2pPr>
            <a:lvl3pPr marL="966612" marR="0" indent="0" algn="l" rtl="0">
              <a:spcBef>
                <a:spcPts val="0"/>
              </a:spcBef>
              <a:defRPr/>
            </a:lvl3pPr>
            <a:lvl4pPr marL="1449918" marR="0" indent="0" algn="l" rtl="0">
              <a:spcBef>
                <a:spcPts val="0"/>
              </a:spcBef>
              <a:defRPr/>
            </a:lvl4pPr>
            <a:lvl5pPr marL="1933224" marR="0" indent="0" algn="l" rtl="0">
              <a:spcBef>
                <a:spcPts val="0"/>
              </a:spcBef>
              <a:defRPr/>
            </a:lvl5pPr>
            <a:lvl6pPr marL="2416531" marR="0" indent="0" algn="l" rtl="0">
              <a:spcBef>
                <a:spcPts val="0"/>
              </a:spcBef>
              <a:defRPr/>
            </a:lvl6pPr>
            <a:lvl7pPr marL="2899837" marR="0" indent="0" algn="l" rtl="0">
              <a:spcBef>
                <a:spcPts val="0"/>
              </a:spcBef>
              <a:defRPr/>
            </a:lvl7pPr>
            <a:lvl8pPr marL="3383143" marR="0" indent="0" algn="l" rtl="0">
              <a:spcBef>
                <a:spcPts val="0"/>
              </a:spcBef>
              <a:defRPr/>
            </a:lvl8pPr>
            <a:lvl9pPr marL="3866449" marR="0" indent="0" algn="l" rtl="0">
              <a:spcBef>
                <a:spcPts val="0"/>
              </a:spcBef>
              <a:defRPr/>
            </a:lvl9pPr>
          </a:lstStyle>
          <a:p>
            <a:endParaRPr/>
          </a:p>
        </p:txBody>
      </p:sp>
      <p:sp>
        <p:nvSpPr>
          <p:cNvPr id="4" name="Shape 4"/>
          <p:cNvSpPr>
            <a:spLocks noGrp="1" noRot="1" noChangeAspect="1"/>
          </p:cNvSpPr>
          <p:nvPr>
            <p:ph type="sldImg" idx="3"/>
          </p:nvPr>
        </p:nvSpPr>
        <p:spPr>
          <a:xfrm>
            <a:off x="457200" y="720725"/>
            <a:ext cx="6400800" cy="360045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a:solidFill>
              <a:srgbClr val="000000"/>
            </a:solidFill>
            <a:prstDash val="solid"/>
            <a:round/>
            <a:headEnd type="none" w="med" len="med"/>
            <a:tailEnd type="none" w="med" len="med"/>
          </a:ln>
        </p:spPr>
      </p:sp>
      <p:sp>
        <p:nvSpPr>
          <p:cNvPr id="5" name="Shape 5"/>
          <p:cNvSpPr txBox="1">
            <a:spLocks noGrp="1"/>
          </p:cNvSpPr>
          <p:nvPr>
            <p:ph type="body" idx="1"/>
          </p:nvPr>
        </p:nvSpPr>
        <p:spPr>
          <a:xfrm>
            <a:off x="731521" y="4560570"/>
            <a:ext cx="5852159" cy="4320540"/>
          </a:xfrm>
          <a:prstGeom prst="rect">
            <a:avLst/>
          </a:prstGeom>
          <a:noFill/>
          <a:ln>
            <a:noFill/>
          </a:ln>
        </p:spPr>
        <p:txBody>
          <a:bodyPr lIns="96645" tIns="96645" rIns="96645" bIns="96645" anchor="t" anchorCtr="0"/>
          <a:lstStyle>
            <a:lvl1pPr marL="0" marR="0" indent="0" algn="l" rtl="0">
              <a:spcBef>
                <a:spcPts val="0"/>
              </a:spcBef>
              <a:defRPr/>
            </a:lvl1pPr>
            <a:lvl2pPr marL="457200" marR="0" indent="0" algn="l" rtl="0">
              <a:spcBef>
                <a:spcPts val="0"/>
              </a:spcBef>
              <a:defRPr/>
            </a:lvl2pPr>
            <a:lvl3pPr marL="914400" marR="0" indent="0" algn="l" rtl="0">
              <a:spcBef>
                <a:spcPts val="0"/>
              </a:spcBef>
              <a:defRPr/>
            </a:lvl3pPr>
            <a:lvl4pPr marL="1371600" marR="0" indent="0" algn="l" rtl="0">
              <a:spcBef>
                <a:spcPts val="0"/>
              </a:spcBef>
              <a:defRPr/>
            </a:lvl4pPr>
            <a:lvl5pPr marL="1828800" marR="0" indent="0" algn="l" rtl="0">
              <a:spcBef>
                <a:spcPts val="0"/>
              </a:spcBef>
              <a:defRPr/>
            </a:lvl5pPr>
            <a:lvl6pPr marL="2286000" marR="0" indent="0" algn="l" rtl="0">
              <a:spcBef>
                <a:spcPts val="0"/>
              </a:spcBef>
              <a:defRPr/>
            </a:lvl6pPr>
            <a:lvl7pPr marL="2743200" marR="0" indent="0" algn="l" rtl="0">
              <a:spcBef>
                <a:spcPts val="0"/>
              </a:spcBef>
              <a:defRPr/>
            </a:lvl7pPr>
            <a:lvl8pPr marL="3200400" marR="0" indent="0" algn="l" rtl="0">
              <a:spcBef>
                <a:spcPts val="0"/>
              </a:spcBef>
              <a:defRPr/>
            </a:lvl8pPr>
            <a:lvl9pPr marL="3657600" marR="0" indent="0" algn="l" rtl="0">
              <a:spcBef>
                <a:spcPts val="0"/>
              </a:spcBef>
              <a:defRPr/>
            </a:lvl9pPr>
          </a:lstStyle>
          <a:p>
            <a:endParaRPr/>
          </a:p>
        </p:txBody>
      </p:sp>
      <p:sp>
        <p:nvSpPr>
          <p:cNvPr id="6" name="Shape 6"/>
          <p:cNvSpPr txBox="1">
            <a:spLocks noGrp="1"/>
          </p:cNvSpPr>
          <p:nvPr>
            <p:ph type="ftr" idx="11"/>
          </p:nvPr>
        </p:nvSpPr>
        <p:spPr>
          <a:xfrm>
            <a:off x="1" y="9119474"/>
            <a:ext cx="3169919" cy="480060"/>
          </a:xfrm>
          <a:prstGeom prst="rect">
            <a:avLst/>
          </a:prstGeom>
          <a:noFill/>
          <a:ln>
            <a:noFill/>
          </a:ln>
        </p:spPr>
        <p:txBody>
          <a:bodyPr lIns="96645" tIns="96645" rIns="96645" bIns="96645" anchor="b" anchorCtr="0"/>
          <a:lstStyle>
            <a:lvl1pPr marL="0" marR="0" indent="0" algn="l" rtl="0">
              <a:spcBef>
                <a:spcPts val="0"/>
              </a:spcBef>
              <a:defRPr/>
            </a:lvl1pPr>
            <a:lvl2pPr marL="483306" marR="0" indent="0" algn="l" rtl="0">
              <a:spcBef>
                <a:spcPts val="0"/>
              </a:spcBef>
              <a:defRPr/>
            </a:lvl2pPr>
            <a:lvl3pPr marL="966612" marR="0" indent="0" algn="l" rtl="0">
              <a:spcBef>
                <a:spcPts val="0"/>
              </a:spcBef>
              <a:defRPr/>
            </a:lvl3pPr>
            <a:lvl4pPr marL="1449918" marR="0" indent="0" algn="l" rtl="0">
              <a:spcBef>
                <a:spcPts val="0"/>
              </a:spcBef>
              <a:defRPr/>
            </a:lvl4pPr>
            <a:lvl5pPr marL="1933224" marR="0" indent="0" algn="l" rtl="0">
              <a:spcBef>
                <a:spcPts val="0"/>
              </a:spcBef>
              <a:defRPr/>
            </a:lvl5pPr>
            <a:lvl6pPr marL="2416531" marR="0" indent="0" algn="l" rtl="0">
              <a:spcBef>
                <a:spcPts val="0"/>
              </a:spcBef>
              <a:defRPr/>
            </a:lvl6pPr>
            <a:lvl7pPr marL="2899837" marR="0" indent="0" algn="l" rtl="0">
              <a:spcBef>
                <a:spcPts val="0"/>
              </a:spcBef>
              <a:defRPr/>
            </a:lvl7pPr>
            <a:lvl8pPr marL="3383143" marR="0" indent="0" algn="l" rtl="0">
              <a:spcBef>
                <a:spcPts val="0"/>
              </a:spcBef>
              <a:defRPr/>
            </a:lvl8pPr>
            <a:lvl9pPr marL="3866449" marR="0" indent="0" algn="l" rtl="0">
              <a:spcBef>
                <a:spcPts val="0"/>
              </a:spcBef>
              <a:defRPr/>
            </a:lvl9pPr>
          </a:lstStyle>
          <a:p>
            <a:endParaRPr/>
          </a:p>
        </p:txBody>
      </p:sp>
      <p:sp>
        <p:nvSpPr>
          <p:cNvPr id="7" name="Shape 7"/>
          <p:cNvSpPr txBox="1">
            <a:spLocks noGrp="1"/>
          </p:cNvSpPr>
          <p:nvPr>
            <p:ph type="sldNum" idx="12"/>
          </p:nvPr>
        </p:nvSpPr>
        <p:spPr>
          <a:xfrm>
            <a:off x="4143587" y="9119474"/>
            <a:ext cx="3169919" cy="480060"/>
          </a:xfrm>
          <a:prstGeom prst="rect">
            <a:avLst/>
          </a:prstGeom>
          <a:noFill/>
          <a:ln>
            <a:noFill/>
          </a:ln>
        </p:spPr>
        <p:txBody>
          <a:bodyPr lIns="96645" tIns="48309" rIns="96645" bIns="48309" anchor="b" anchorCtr="0">
            <a:noAutofit/>
          </a:bodyPr>
          <a:lstStyle>
            <a:lvl1pPr marL="0" marR="0" indent="0" algn="r" rtl="0">
              <a:spcBef>
                <a:spcPts val="0"/>
              </a:spcBef>
              <a:buNone/>
              <a:defRPr sz="1300" b="0" i="0" u="none" strike="noStrike" cap="none" baseline="0">
                <a:solidFill>
                  <a:schemeClr val="dk1"/>
                </a:solidFill>
                <a:latin typeface="Calibri"/>
                <a:ea typeface="Calibri"/>
                <a:cs typeface="Calibri"/>
                <a:sym typeface="Calibri"/>
              </a:defRPr>
            </a:lvl1pPr>
          </a:lstStyle>
          <a:p>
            <a:pPr>
              <a:buSzPct val="25000"/>
            </a:pPr>
            <a:fld id="{00000000-1234-1234-1234-123412341234}" type="slidenum">
              <a:rPr lang="en-US" smtClean="0"/>
              <a:pPr>
                <a:buSzPct val="25000"/>
              </a:pPr>
              <a:t>‹Nº›</a:t>
            </a:fld>
            <a:endParaRPr lang="en-US"/>
          </a:p>
        </p:txBody>
      </p:sp>
    </p:spTree>
    <p:extLst>
      <p:ext uri="{BB962C8B-B14F-4D97-AF65-F5344CB8AC3E}">
        <p14:creationId xmlns:p14="http://schemas.microsoft.com/office/powerpoint/2010/main" val="2199052532"/>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
        <p:cNvGrpSpPr/>
        <p:nvPr/>
      </p:nvGrpSpPr>
      <p:grpSpPr>
        <a:xfrm>
          <a:off x="0" y="0"/>
          <a:ext cx="0" cy="0"/>
          <a:chOff x="0" y="0"/>
          <a:chExt cx="0" cy="0"/>
        </a:xfrm>
      </p:grpSpPr>
      <p:sp>
        <p:nvSpPr>
          <p:cNvPr id="28" name="Shape 28"/>
          <p:cNvSpPr txBox="1">
            <a:spLocks noGrp="1"/>
          </p:cNvSpPr>
          <p:nvPr>
            <p:ph type="sldNum" idx="12"/>
          </p:nvPr>
        </p:nvSpPr>
        <p:spPr>
          <a:xfrm>
            <a:off x="4143587" y="9119474"/>
            <a:ext cx="3169919" cy="480060"/>
          </a:xfrm>
          <a:prstGeom prst="rect">
            <a:avLst/>
          </a:prstGeom>
          <a:noFill/>
          <a:ln>
            <a:noFill/>
          </a:ln>
        </p:spPr>
        <p:txBody>
          <a:bodyPr lIns="96645" tIns="48309" rIns="96645" bIns="48309" anchor="b" anchorCtr="0">
            <a:noAutofit/>
          </a:bodyPr>
          <a:lstStyle/>
          <a:p>
            <a:pPr>
              <a:buSzPct val="25000"/>
            </a:pPr>
            <a:fld id="{00000000-1234-1234-1234-123412341234}" type="slidenum">
              <a:rPr lang="en-US"/>
              <a:pPr>
                <a:buSzPct val="25000"/>
              </a:pPr>
              <a:t>1</a:t>
            </a:fld>
            <a:endParaRPr lang="en-US"/>
          </a:p>
        </p:txBody>
      </p:sp>
      <p:sp>
        <p:nvSpPr>
          <p:cNvPr id="29" name="Shape 29"/>
          <p:cNvSpPr>
            <a:spLocks noGrp="1" noRot="1" noChangeAspect="1"/>
          </p:cNvSpPr>
          <p:nvPr>
            <p:ph type="sldImg" idx="2"/>
          </p:nvPr>
        </p:nvSpPr>
        <p:spPr>
          <a:xfrm>
            <a:off x="482600" y="733425"/>
            <a:ext cx="6353175" cy="3573463"/>
          </a:xfrm>
          <a:custGeom>
            <a:avLst/>
            <a:gdLst/>
            <a:ahLst/>
            <a:cxnLst/>
            <a:rect l="0" t="0" r="0" b="0"/>
            <a:pathLst>
              <a:path w="120000" h="120000" extrusionOk="0">
                <a:moveTo>
                  <a:pt x="0" y="0"/>
                </a:moveTo>
                <a:lnTo>
                  <a:pt x="120000" y="0"/>
                </a:lnTo>
                <a:lnTo>
                  <a:pt x="120000" y="120000"/>
                </a:lnTo>
                <a:lnTo>
                  <a:pt x="0" y="120000"/>
                </a:lnTo>
                <a:close/>
              </a:path>
            </a:pathLst>
          </a:custGeom>
          <a:noFill/>
          <a:ln w="9525" cap="flat">
            <a:solidFill>
              <a:srgbClr val="000000"/>
            </a:solidFill>
            <a:prstDash val="solid"/>
            <a:miter/>
            <a:headEnd type="none" w="med" len="med"/>
            <a:tailEnd type="none" w="med" len="med"/>
          </a:ln>
        </p:spPr>
      </p:sp>
      <p:sp>
        <p:nvSpPr>
          <p:cNvPr id="30" name="Shape 30"/>
          <p:cNvSpPr txBox="1">
            <a:spLocks noGrp="1"/>
          </p:cNvSpPr>
          <p:nvPr>
            <p:ph type="body" idx="1"/>
          </p:nvPr>
        </p:nvSpPr>
        <p:spPr>
          <a:xfrm>
            <a:off x="973666" y="4560570"/>
            <a:ext cx="5367866" cy="4318873"/>
          </a:xfrm>
          <a:prstGeom prst="rect">
            <a:avLst/>
          </a:prstGeom>
          <a:noFill/>
          <a:ln>
            <a:noFill/>
          </a:ln>
        </p:spPr>
        <p:txBody>
          <a:bodyPr lIns="95615" tIns="46962" rIns="95615" bIns="46962" anchor="t" anchorCtr="0">
            <a:noAutofit/>
          </a:bodyPr>
          <a:lstStyle/>
          <a:p>
            <a:pPr defTabSz="985072">
              <a:spcBef>
                <a:spcPct val="0"/>
              </a:spcBef>
            </a:pPr>
            <a:r>
              <a:rPr lang="en-US" altLang="en-US" dirty="0"/>
              <a:t>This file presents an assertion-evidence template for making effective slides for scientific presentations. Although much about the layout and typography contrasts sharply with the defaults of PowerPoint, these changes are done so to make the slides more effective at communicating technical information. The design advocated by this template arises from Chapter 4 of </a:t>
            </a:r>
            <a:r>
              <a:rPr lang="en-US" altLang="en-US" i="1" dirty="0"/>
              <a:t>The Craft of Scientific Presentations, </a:t>
            </a:r>
            <a:r>
              <a:rPr lang="en-US" altLang="en-US" dirty="0"/>
              <a:t>2</a:t>
            </a:r>
            <a:r>
              <a:rPr lang="en-US" altLang="en-US" baseline="30000" dirty="0"/>
              <a:t>nd</a:t>
            </a:r>
            <a:r>
              <a:rPr lang="en-US" altLang="en-US" dirty="0"/>
              <a:t> edition</a:t>
            </a:r>
            <a:r>
              <a:rPr lang="en-US" altLang="en-US" i="1" dirty="0"/>
              <a:t> </a:t>
            </a:r>
            <a:r>
              <a:rPr lang="en-US" altLang="en-US" dirty="0"/>
              <a:t>(Springer, 2013). The homepage for this template exists at the following</a:t>
            </a:r>
            <a:r>
              <a:rPr lang="en-US" altLang="en-US" baseline="0" dirty="0"/>
              <a:t> website</a:t>
            </a:r>
            <a:r>
              <a:rPr lang="en-US" altLang="en-US" dirty="0"/>
              <a:t>:</a:t>
            </a:r>
          </a:p>
          <a:p>
            <a:pPr defTabSz="985072">
              <a:spcBef>
                <a:spcPct val="0"/>
              </a:spcBef>
            </a:pPr>
            <a:r>
              <a:rPr lang="en-US" altLang="en-US" dirty="0"/>
              <a:t>	http://writing.engr.psu.edu/assertion_evidence.html </a:t>
            </a:r>
          </a:p>
          <a:p>
            <a:pPr defTabSz="985072">
              <a:spcBef>
                <a:spcPct val="0"/>
              </a:spcBef>
            </a:pPr>
            <a:r>
              <a:rPr lang="en-US" altLang="en-US" dirty="0"/>
              <a:t> Right now you are viewing the notes pages. To work on the slides, click on “Slide” under “View.” </a:t>
            </a:r>
            <a:r>
              <a:rPr lang="en-US" altLang="en-US" baseline="0" dirty="0"/>
              <a:t> </a:t>
            </a:r>
            <a:r>
              <a:rPr lang="en-US" altLang="en-US" dirty="0"/>
              <a:t>Tip: When creating a new presentation, </a:t>
            </a:r>
            <a:r>
              <a:rPr lang="en-US" altLang="en-US" b="1" dirty="0"/>
              <a:t>save</a:t>
            </a:r>
            <a:r>
              <a:rPr lang="en-US" altLang="en-US" dirty="0"/>
              <a:t> this file </a:t>
            </a:r>
            <a:r>
              <a:rPr lang="en-US" altLang="en-US" b="1" dirty="0"/>
              <a:t>as</a:t>
            </a:r>
            <a:r>
              <a:rPr lang="en-US" altLang="en-US" dirty="0"/>
              <a:t> the name of your presentation.  Warning: </a:t>
            </a:r>
            <a:r>
              <a:rPr lang="en-US" altLang="en-US" sz="1300" i="1" dirty="0"/>
              <a:t>You are more than welcome to use this template for your presentation slides. You may not, though, distribute this template for profit or distribute this template without giving credit to the source: http://writing.engr.psu.edu/</a:t>
            </a:r>
          </a:p>
          <a:p>
            <a:pPr defTabSz="985072">
              <a:spcBef>
                <a:spcPct val="0"/>
              </a:spcBef>
            </a:pPr>
            <a:endParaRPr lang="en-US" altLang="en-US" dirty="0"/>
          </a:p>
          <a:p>
            <a:pPr eaLnBrk="1" hangingPunct="1">
              <a:spcBef>
                <a:spcPct val="0"/>
              </a:spcBef>
            </a:pPr>
            <a:r>
              <a:rPr lang="en-US" altLang="en-US" dirty="0"/>
              <a:t>This slide is for the title slide of a presentation. Consider inserting an image that helps</a:t>
            </a:r>
            <a:r>
              <a:rPr lang="en-US" altLang="en-US" baseline="0" dirty="0"/>
              <a:t> orient the audience to the title. You should not leave this slide until the audience feel comfortable with the title. </a:t>
            </a:r>
            <a:r>
              <a:rPr lang="en-US" altLang="en-US" dirty="0"/>
              <a:t>Forcing yourself to spend more time with this slide is good because a common mistake in presentations is to leave the title slide too</a:t>
            </a:r>
            <a:r>
              <a:rPr lang="en-US" altLang="en-US" baseline="0" dirty="0"/>
              <a:t> soon</a:t>
            </a:r>
            <a:r>
              <a:rPr lang="en-US" altLang="en-US" dirty="0"/>
              <a:t>. Because of this mistake, many in the audience do not have the chance to comprehend the key details of the title. See pages 172-184 in </a:t>
            </a:r>
            <a:r>
              <a:rPr lang="en-US" altLang="en-US" i="1" dirty="0"/>
              <a:t>The Craft of Scientific Presentations, </a:t>
            </a:r>
            <a:r>
              <a:rPr lang="en-US" altLang="en-US" dirty="0"/>
              <a:t>2</a:t>
            </a:r>
            <a:r>
              <a:rPr lang="en-US" altLang="en-US" baseline="30000" dirty="0"/>
              <a:t>nd</a:t>
            </a:r>
            <a:r>
              <a:rPr lang="en-US" altLang="en-US" dirty="0"/>
              <a:t> ed. (</a:t>
            </a:r>
            <a:r>
              <a:rPr lang="en-US" altLang="en-US" i="1" dirty="0"/>
              <a:t>CSP</a:t>
            </a:r>
            <a:r>
              <a:rPr lang="en-US" altLang="en-US" dirty="0"/>
              <a:t>). </a:t>
            </a:r>
          </a:p>
          <a:p>
            <a:pPr eaLnBrk="1" hangingPunct="1">
              <a:spcBef>
                <a:spcPct val="0"/>
              </a:spcBef>
            </a:pPr>
            <a:endParaRPr lang="en-US" altLang="en-US" dirty="0"/>
          </a:p>
          <a:p>
            <a:pPr eaLnBrk="1" hangingPunct="1">
              <a:spcBef>
                <a:spcPct val="0"/>
              </a:spcBef>
            </a:pPr>
            <a:r>
              <a:rPr lang="en-US" altLang="en-US" dirty="0"/>
              <a:t>This template shows one layout for the slide. You might want to rearrange the placement of the body’s wording to accommodate a different sized image. On the next slide is a sample title slide. You</a:t>
            </a:r>
            <a:r>
              <a:rPr lang="en-US" altLang="en-US" baseline="0" dirty="0"/>
              <a:t> should delete the examples after you create your own slides.</a:t>
            </a:r>
            <a:endParaRPr lang="en-US" altLang="en-US" dirty="0"/>
          </a:p>
        </p:txBody>
      </p:sp>
    </p:spTree>
    <p:extLst>
      <p:ext uri="{BB962C8B-B14F-4D97-AF65-F5344CB8AC3E}">
        <p14:creationId xmlns:p14="http://schemas.microsoft.com/office/powerpoint/2010/main" val="693594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a:extLst>
            <a:ext uri="{FF2B5EF4-FFF2-40B4-BE49-F238E27FC236}">
              <a16:creationId xmlns:a16="http://schemas.microsoft.com/office/drawing/2014/main" id="{35610E11-A487-FBAD-D73E-D4436A06EC33}"/>
            </a:ext>
          </a:extLst>
        </p:cNvPr>
        <p:cNvGrpSpPr/>
        <p:nvPr/>
      </p:nvGrpSpPr>
      <p:grpSpPr>
        <a:xfrm>
          <a:off x="0" y="0"/>
          <a:ext cx="0" cy="0"/>
          <a:chOff x="0" y="0"/>
          <a:chExt cx="0" cy="0"/>
        </a:xfrm>
      </p:grpSpPr>
      <p:sp>
        <p:nvSpPr>
          <p:cNvPr id="89" name="Shape 89">
            <a:extLst>
              <a:ext uri="{FF2B5EF4-FFF2-40B4-BE49-F238E27FC236}">
                <a16:creationId xmlns:a16="http://schemas.microsoft.com/office/drawing/2014/main" id="{0E12C8F8-6EBD-5BB7-19D0-97FF29CF2D64}"/>
              </a:ext>
            </a:extLst>
          </p:cNvPr>
          <p:cNvSpPr txBox="1">
            <a:spLocks noGrp="1"/>
          </p:cNvSpPr>
          <p:nvPr>
            <p:ph type="sldNum" idx="12"/>
          </p:nvPr>
        </p:nvSpPr>
        <p:spPr>
          <a:xfrm>
            <a:off x="4143587" y="9119474"/>
            <a:ext cx="3169919" cy="480060"/>
          </a:xfrm>
          <a:prstGeom prst="rect">
            <a:avLst/>
          </a:prstGeom>
          <a:noFill/>
          <a:ln>
            <a:noFill/>
          </a:ln>
        </p:spPr>
        <p:txBody>
          <a:bodyPr lIns="96645" tIns="48309" rIns="96645" bIns="48309" anchor="b" anchorCtr="0">
            <a:noAutofit/>
          </a:bodyPr>
          <a:lstStyle/>
          <a:p>
            <a:pPr>
              <a:buSzPct val="25000"/>
            </a:pPr>
            <a:fld id="{00000000-1234-1234-1234-123412341234}" type="slidenum">
              <a:rPr lang="en-US"/>
              <a:pPr>
                <a:buSzPct val="25000"/>
              </a:pPr>
              <a:t>2</a:t>
            </a:fld>
            <a:endParaRPr lang="en-US"/>
          </a:p>
        </p:txBody>
      </p:sp>
      <p:sp>
        <p:nvSpPr>
          <p:cNvPr id="90" name="Shape 90">
            <a:extLst>
              <a:ext uri="{FF2B5EF4-FFF2-40B4-BE49-F238E27FC236}">
                <a16:creationId xmlns:a16="http://schemas.microsoft.com/office/drawing/2014/main" id="{4D78CFC6-8B34-D0E7-97F9-80E1A1176751}"/>
              </a:ext>
            </a:extLst>
          </p:cNvPr>
          <p:cNvSpPr>
            <a:spLocks noGrp="1" noRot="1" noChangeAspect="1"/>
          </p:cNvSpPr>
          <p:nvPr>
            <p:ph type="sldImg" idx="2"/>
          </p:nvPr>
        </p:nvSpPr>
        <p:spPr>
          <a:xfrm>
            <a:off x="482600" y="733425"/>
            <a:ext cx="6353175" cy="3573463"/>
          </a:xfrm>
          <a:custGeom>
            <a:avLst/>
            <a:gdLst/>
            <a:ahLst/>
            <a:cxnLst/>
            <a:rect l="0" t="0" r="0" b="0"/>
            <a:pathLst>
              <a:path w="120000" h="120000" extrusionOk="0">
                <a:moveTo>
                  <a:pt x="0" y="0"/>
                </a:moveTo>
                <a:lnTo>
                  <a:pt x="120000" y="0"/>
                </a:lnTo>
                <a:lnTo>
                  <a:pt x="120000" y="120000"/>
                </a:lnTo>
                <a:lnTo>
                  <a:pt x="0" y="120000"/>
                </a:lnTo>
                <a:close/>
              </a:path>
            </a:pathLst>
          </a:custGeom>
          <a:noFill/>
          <a:ln w="9525" cap="flat">
            <a:solidFill>
              <a:srgbClr val="000000"/>
            </a:solidFill>
            <a:prstDash val="solid"/>
            <a:miter/>
            <a:headEnd type="none" w="med" len="med"/>
            <a:tailEnd type="none" w="med" len="med"/>
          </a:ln>
        </p:spPr>
      </p:sp>
      <p:sp>
        <p:nvSpPr>
          <p:cNvPr id="91" name="Shape 91">
            <a:extLst>
              <a:ext uri="{FF2B5EF4-FFF2-40B4-BE49-F238E27FC236}">
                <a16:creationId xmlns:a16="http://schemas.microsoft.com/office/drawing/2014/main" id="{22D0CF20-605D-9100-FE28-4EC599B81DEB}"/>
              </a:ext>
            </a:extLst>
          </p:cNvPr>
          <p:cNvSpPr txBox="1">
            <a:spLocks noGrp="1"/>
          </p:cNvSpPr>
          <p:nvPr>
            <p:ph type="body" idx="1"/>
          </p:nvPr>
        </p:nvSpPr>
        <p:spPr>
          <a:xfrm>
            <a:off x="973666" y="4560570"/>
            <a:ext cx="5367866" cy="4318873"/>
          </a:xfrm>
          <a:prstGeom prst="rect">
            <a:avLst/>
          </a:prstGeom>
          <a:noFill/>
          <a:ln>
            <a:noFill/>
          </a:ln>
        </p:spPr>
        <p:txBody>
          <a:bodyPr lIns="96619" tIns="48309" rIns="96619" bIns="48309" anchor="t" anchorCtr="0">
            <a:noAutofit/>
          </a:bodyPr>
          <a:lstStyle/>
          <a:p>
            <a:pPr>
              <a:buSzPct val="25000"/>
            </a:pPr>
            <a:r>
              <a:rPr lang="en-US" sz="1300">
                <a:solidFill>
                  <a:schemeClr val="dk1"/>
                </a:solidFill>
                <a:latin typeface="Calibri"/>
                <a:ea typeface="Calibri"/>
                <a:cs typeface="Calibri"/>
                <a:sym typeface="Calibri"/>
              </a:rPr>
              <a:t>Body slide from the first section of the presentation’s middle. Consider having the first-topic image from the mapping slide repeated here. Use the headline (no more than two lines) to make an assertion about this topic. In the body of the slide, support that headline with images and with words, if necessary. See Chapter 4 of </a:t>
            </a:r>
            <a:r>
              <a:rPr lang="en-US" sz="1300" i="1">
                <a:solidFill>
                  <a:schemeClr val="dk1"/>
                </a:solidFill>
                <a:latin typeface="Calibri"/>
                <a:ea typeface="Calibri"/>
                <a:cs typeface="Calibri"/>
                <a:sym typeface="Calibri"/>
              </a:rPr>
              <a:t>The Craft of Scientific Presentations, 2</a:t>
            </a:r>
            <a:r>
              <a:rPr lang="en-US" sz="1300" i="1" baseline="30000">
                <a:solidFill>
                  <a:schemeClr val="dk1"/>
                </a:solidFill>
                <a:latin typeface="Calibri"/>
                <a:ea typeface="Calibri"/>
                <a:cs typeface="Calibri"/>
                <a:sym typeface="Calibri"/>
              </a:rPr>
              <a:t>nd</a:t>
            </a:r>
            <a:r>
              <a:rPr lang="en-US" sz="1300" i="1">
                <a:solidFill>
                  <a:schemeClr val="dk1"/>
                </a:solidFill>
                <a:latin typeface="Calibri"/>
                <a:ea typeface="Calibri"/>
                <a:cs typeface="Calibri"/>
                <a:sym typeface="Calibri"/>
              </a:rPr>
              <a:t> ed</a:t>
            </a:r>
            <a:r>
              <a:rPr lang="en-US" sz="1300">
                <a:solidFill>
                  <a:schemeClr val="dk1"/>
                </a:solidFill>
                <a:latin typeface="Calibri"/>
                <a:ea typeface="Calibri"/>
                <a:cs typeface="Calibri"/>
                <a:sym typeface="Calibri"/>
              </a:rPr>
              <a:t>.</a:t>
            </a:r>
          </a:p>
          <a:p>
            <a:endParaRPr sz="1300">
              <a:solidFill>
                <a:schemeClr val="dk1"/>
              </a:solidFill>
              <a:latin typeface="Calibri"/>
              <a:ea typeface="Calibri"/>
              <a:cs typeface="Calibri"/>
              <a:sym typeface="Calibri"/>
            </a:endParaRPr>
          </a:p>
          <a:p>
            <a:pPr>
              <a:buSzPct val="25000"/>
            </a:pPr>
            <a:r>
              <a:rPr lang="en-US" sz="1300">
                <a:solidFill>
                  <a:schemeClr val="dk1"/>
                </a:solidFill>
                <a:latin typeface="Calibri"/>
                <a:ea typeface="Calibri"/>
                <a:cs typeface="Calibri"/>
                <a:sym typeface="Calibri"/>
              </a:rPr>
              <a:t>This slide shows one orientation for the image and text in the body of the slide. Other orientations appear in this template. Choose the one that best supports your headline assertion.</a:t>
            </a:r>
          </a:p>
          <a:p>
            <a:endParaRPr sz="1300">
              <a:solidFill>
                <a:schemeClr val="dk1"/>
              </a:solidFill>
              <a:latin typeface="Calibri"/>
              <a:ea typeface="Calibri"/>
              <a:cs typeface="Calibri"/>
              <a:sym typeface="Calibri"/>
            </a:endParaRPr>
          </a:p>
          <a:p>
            <a:pPr>
              <a:buSzPct val="25000"/>
            </a:pPr>
            <a:r>
              <a:rPr lang="en-US" sz="1300">
                <a:solidFill>
                  <a:schemeClr val="dk1"/>
                </a:solidFill>
                <a:latin typeface="Calibri"/>
                <a:ea typeface="Calibri"/>
                <a:cs typeface="Calibri"/>
                <a:sym typeface="Calibri"/>
              </a:rPr>
              <a:t>Some institutions will insist that you place an institutional logo on each slide. Other institutions recommend a logo on the first slide and the last.  If you do place a logo on each slide, make sure that logo is at the bottom of the slide rather than the top. Placing the logo at the top (the place on a slide that receives the most emphasis) shifts the emphasis away from the work.</a:t>
            </a:r>
          </a:p>
          <a:p>
            <a:endParaRPr sz="1300">
              <a:solidFill>
                <a:schemeClr val="dk1"/>
              </a:solidFill>
              <a:latin typeface="Calibri"/>
              <a:ea typeface="Calibri"/>
              <a:cs typeface="Calibri"/>
              <a:sym typeface="Calibri"/>
            </a:endParaRPr>
          </a:p>
          <a:p>
            <a:endParaRPr sz="1300">
              <a:solidFill>
                <a:schemeClr val="dk1"/>
              </a:solidFill>
              <a:latin typeface="Calibri"/>
              <a:ea typeface="Calibri"/>
              <a:cs typeface="Calibri"/>
              <a:sym typeface="Calibri"/>
            </a:endParaRPr>
          </a:p>
          <a:p>
            <a:endParaRPr sz="1300">
              <a:solidFill>
                <a:schemeClr val="dk1"/>
              </a:solidFill>
              <a:latin typeface="Calibri"/>
              <a:ea typeface="Calibri"/>
              <a:cs typeface="Calibri"/>
              <a:sym typeface="Calibri"/>
            </a:endParaRPr>
          </a:p>
          <a:p>
            <a:endParaRPr sz="25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282601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7B808834-C098-CD98-7F2F-AE477689362B}"/>
            </a:ext>
          </a:extLst>
        </p:cNvPr>
        <p:cNvGrpSpPr/>
        <p:nvPr/>
      </p:nvGrpSpPr>
      <p:grpSpPr>
        <a:xfrm>
          <a:off x="0" y="0"/>
          <a:ext cx="0" cy="0"/>
          <a:chOff x="0" y="0"/>
          <a:chExt cx="0" cy="0"/>
        </a:xfrm>
      </p:grpSpPr>
      <p:sp>
        <p:nvSpPr>
          <p:cNvPr id="71" name="Shape 71">
            <a:extLst>
              <a:ext uri="{FF2B5EF4-FFF2-40B4-BE49-F238E27FC236}">
                <a16:creationId xmlns:a16="http://schemas.microsoft.com/office/drawing/2014/main" id="{3706FBBF-5942-E3C2-BBD8-E570DD9A5E48}"/>
              </a:ext>
            </a:extLst>
          </p:cNvPr>
          <p:cNvSpPr txBox="1">
            <a:spLocks noGrp="1"/>
          </p:cNvSpPr>
          <p:nvPr>
            <p:ph type="sldNum" idx="12"/>
          </p:nvPr>
        </p:nvSpPr>
        <p:spPr>
          <a:xfrm>
            <a:off x="4143587" y="9119474"/>
            <a:ext cx="3169919" cy="480060"/>
          </a:xfrm>
          <a:prstGeom prst="rect">
            <a:avLst/>
          </a:prstGeom>
          <a:noFill/>
          <a:ln>
            <a:noFill/>
          </a:ln>
        </p:spPr>
        <p:txBody>
          <a:bodyPr lIns="96645" tIns="48309" rIns="96645" bIns="48309" anchor="b" anchorCtr="0">
            <a:noAutofit/>
          </a:bodyPr>
          <a:lstStyle/>
          <a:p>
            <a:pPr>
              <a:buSzPct val="25000"/>
            </a:pPr>
            <a:fld id="{00000000-1234-1234-1234-123412341234}" type="slidenum">
              <a:rPr lang="en-US"/>
              <a:pPr>
                <a:buSzPct val="25000"/>
              </a:pPr>
              <a:t>3</a:t>
            </a:fld>
            <a:endParaRPr lang="en-US"/>
          </a:p>
        </p:txBody>
      </p:sp>
      <p:sp>
        <p:nvSpPr>
          <p:cNvPr id="72" name="Shape 72">
            <a:extLst>
              <a:ext uri="{FF2B5EF4-FFF2-40B4-BE49-F238E27FC236}">
                <a16:creationId xmlns:a16="http://schemas.microsoft.com/office/drawing/2014/main" id="{1F5C606D-9686-1E39-D50E-516673A7A6C6}"/>
              </a:ext>
            </a:extLst>
          </p:cNvPr>
          <p:cNvSpPr>
            <a:spLocks noGrp="1" noRot="1" noChangeAspect="1"/>
          </p:cNvSpPr>
          <p:nvPr>
            <p:ph type="sldImg" idx="2"/>
          </p:nvPr>
        </p:nvSpPr>
        <p:spPr>
          <a:xfrm>
            <a:off x="482600" y="733425"/>
            <a:ext cx="6353175" cy="3573463"/>
          </a:xfrm>
          <a:custGeom>
            <a:avLst/>
            <a:gdLst/>
            <a:ahLst/>
            <a:cxnLst/>
            <a:rect l="0" t="0" r="0" b="0"/>
            <a:pathLst>
              <a:path w="120000" h="120000" extrusionOk="0">
                <a:moveTo>
                  <a:pt x="0" y="0"/>
                </a:moveTo>
                <a:lnTo>
                  <a:pt x="120000" y="0"/>
                </a:lnTo>
                <a:lnTo>
                  <a:pt x="120000" y="120000"/>
                </a:lnTo>
                <a:lnTo>
                  <a:pt x="0" y="120000"/>
                </a:lnTo>
                <a:close/>
              </a:path>
            </a:pathLst>
          </a:custGeom>
          <a:noFill/>
          <a:ln w="9525" cap="flat">
            <a:solidFill>
              <a:srgbClr val="000000"/>
            </a:solidFill>
            <a:prstDash val="solid"/>
            <a:miter/>
            <a:headEnd type="none" w="med" len="med"/>
            <a:tailEnd type="none" w="med" len="med"/>
          </a:ln>
        </p:spPr>
      </p:sp>
      <p:sp>
        <p:nvSpPr>
          <p:cNvPr id="73" name="Shape 73">
            <a:extLst>
              <a:ext uri="{FF2B5EF4-FFF2-40B4-BE49-F238E27FC236}">
                <a16:creationId xmlns:a16="http://schemas.microsoft.com/office/drawing/2014/main" id="{C7BDAF47-2C1F-152F-896A-7AF873BC1A85}"/>
              </a:ext>
            </a:extLst>
          </p:cNvPr>
          <p:cNvSpPr txBox="1">
            <a:spLocks noGrp="1"/>
          </p:cNvSpPr>
          <p:nvPr>
            <p:ph type="body" idx="1"/>
          </p:nvPr>
        </p:nvSpPr>
        <p:spPr>
          <a:xfrm>
            <a:off x="973666" y="4560570"/>
            <a:ext cx="5367866" cy="4318873"/>
          </a:xfrm>
          <a:prstGeom prst="rect">
            <a:avLst/>
          </a:prstGeom>
          <a:noFill/>
          <a:ln>
            <a:noFill/>
          </a:ln>
        </p:spPr>
        <p:txBody>
          <a:bodyPr lIns="96619" tIns="48309" rIns="96619" bIns="48309" anchor="t" anchorCtr="0">
            <a:noAutofit/>
          </a:bodyPr>
          <a:lstStyle/>
          <a:p>
            <a:pPr>
              <a:buSzPct val="25000"/>
            </a:pPr>
            <a:r>
              <a:rPr lang="en-US" sz="1300">
                <a:solidFill>
                  <a:schemeClr val="dk1"/>
                </a:solidFill>
                <a:latin typeface="Calibri"/>
                <a:ea typeface="Calibri"/>
                <a:cs typeface="Calibri"/>
                <a:sym typeface="Calibri"/>
              </a:rPr>
              <a:t>Sample mapping slide.</a:t>
            </a:r>
          </a:p>
          <a:p>
            <a:endParaRPr sz="1300">
              <a:solidFill>
                <a:schemeClr val="dk1"/>
              </a:solidFill>
              <a:latin typeface="Calibri"/>
              <a:ea typeface="Calibri"/>
              <a:cs typeface="Calibri"/>
              <a:sym typeface="Calibri"/>
            </a:endParaRPr>
          </a:p>
          <a:p>
            <a:endParaRPr sz="1300">
              <a:solidFill>
                <a:schemeClr val="dk1"/>
              </a:solidFill>
              <a:latin typeface="Calibri"/>
              <a:ea typeface="Calibri"/>
              <a:cs typeface="Calibri"/>
              <a:sym typeface="Calibri"/>
            </a:endParaRPr>
          </a:p>
          <a:p>
            <a:endParaRPr sz="1300">
              <a:solidFill>
                <a:schemeClr val="dk1"/>
              </a:solidFill>
              <a:latin typeface="Calibri"/>
              <a:ea typeface="Calibri"/>
              <a:cs typeface="Calibri"/>
              <a:sym typeface="Calibri"/>
            </a:endParaRPr>
          </a:p>
          <a:p>
            <a:pPr>
              <a:buSzPct val="25000"/>
            </a:pPr>
            <a:r>
              <a:rPr lang="en-US" sz="1100">
                <a:solidFill>
                  <a:schemeClr val="dk1"/>
                </a:solidFill>
                <a:latin typeface="Calibri"/>
                <a:ea typeface="Calibri"/>
                <a:cs typeface="Calibri"/>
                <a:sym typeface="Calibri"/>
              </a:rPr>
              <a:t>Reference:</a:t>
            </a:r>
          </a:p>
          <a:p>
            <a:endParaRPr sz="1100">
              <a:solidFill>
                <a:schemeClr val="dk1"/>
              </a:solidFill>
              <a:latin typeface="Calibri"/>
              <a:ea typeface="Calibri"/>
              <a:cs typeface="Calibri"/>
              <a:sym typeface="Calibri"/>
            </a:endParaRPr>
          </a:p>
          <a:p>
            <a:pPr>
              <a:buSzPct val="25000"/>
            </a:pPr>
            <a:r>
              <a:rPr lang="en-US" sz="1100">
                <a:solidFill>
                  <a:schemeClr val="dk1"/>
                </a:solidFill>
                <a:latin typeface="Calibri"/>
                <a:ea typeface="Calibri"/>
                <a:cs typeface="Calibri"/>
                <a:sym typeface="Calibri"/>
              </a:rPr>
              <a:t>Katrina Aspmo, Torunn Berg, and Grethe Wibetoe, “Atmospheric Mercury Depletion Events (AMDEs) in Polar Regions During Arctic Spring,” presentation (Oslo, Norway: University of Oslo, 16 June 2004). </a:t>
            </a:r>
          </a:p>
          <a:p>
            <a:endParaRPr sz="11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12262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a:extLst>
            <a:ext uri="{FF2B5EF4-FFF2-40B4-BE49-F238E27FC236}">
              <a16:creationId xmlns:a16="http://schemas.microsoft.com/office/drawing/2014/main" id="{FC178467-0FEA-6A19-39A1-05D16B870CE8}"/>
            </a:ext>
          </a:extLst>
        </p:cNvPr>
        <p:cNvGrpSpPr/>
        <p:nvPr/>
      </p:nvGrpSpPr>
      <p:grpSpPr>
        <a:xfrm>
          <a:off x="0" y="0"/>
          <a:ext cx="0" cy="0"/>
          <a:chOff x="0" y="0"/>
          <a:chExt cx="0" cy="0"/>
        </a:xfrm>
      </p:grpSpPr>
      <p:sp>
        <p:nvSpPr>
          <p:cNvPr id="89" name="Shape 89">
            <a:extLst>
              <a:ext uri="{FF2B5EF4-FFF2-40B4-BE49-F238E27FC236}">
                <a16:creationId xmlns:a16="http://schemas.microsoft.com/office/drawing/2014/main" id="{2CBB0254-AB82-BBEC-DD05-CCE001DA0238}"/>
              </a:ext>
            </a:extLst>
          </p:cNvPr>
          <p:cNvSpPr txBox="1">
            <a:spLocks noGrp="1"/>
          </p:cNvSpPr>
          <p:nvPr>
            <p:ph type="sldNum" idx="12"/>
          </p:nvPr>
        </p:nvSpPr>
        <p:spPr>
          <a:xfrm>
            <a:off x="4143587" y="9119474"/>
            <a:ext cx="3169919" cy="480060"/>
          </a:xfrm>
          <a:prstGeom prst="rect">
            <a:avLst/>
          </a:prstGeom>
          <a:noFill/>
          <a:ln>
            <a:noFill/>
          </a:ln>
        </p:spPr>
        <p:txBody>
          <a:bodyPr lIns="96645" tIns="48309" rIns="96645" bIns="48309" anchor="b" anchorCtr="0">
            <a:noAutofit/>
          </a:bodyPr>
          <a:lstStyle/>
          <a:p>
            <a:pPr>
              <a:buSzPct val="25000"/>
            </a:pPr>
            <a:fld id="{00000000-1234-1234-1234-123412341234}" type="slidenum">
              <a:rPr lang="en-US"/>
              <a:pPr>
                <a:buSzPct val="25000"/>
              </a:pPr>
              <a:t>4</a:t>
            </a:fld>
            <a:endParaRPr lang="en-US"/>
          </a:p>
        </p:txBody>
      </p:sp>
      <p:sp>
        <p:nvSpPr>
          <p:cNvPr id="90" name="Shape 90">
            <a:extLst>
              <a:ext uri="{FF2B5EF4-FFF2-40B4-BE49-F238E27FC236}">
                <a16:creationId xmlns:a16="http://schemas.microsoft.com/office/drawing/2014/main" id="{B44955AE-5583-91D3-A307-621B5789F9C9}"/>
              </a:ext>
            </a:extLst>
          </p:cNvPr>
          <p:cNvSpPr>
            <a:spLocks noGrp="1" noRot="1" noChangeAspect="1"/>
          </p:cNvSpPr>
          <p:nvPr>
            <p:ph type="sldImg" idx="2"/>
          </p:nvPr>
        </p:nvSpPr>
        <p:spPr>
          <a:xfrm>
            <a:off x="482600" y="733425"/>
            <a:ext cx="6353175" cy="3573463"/>
          </a:xfrm>
          <a:custGeom>
            <a:avLst/>
            <a:gdLst/>
            <a:ahLst/>
            <a:cxnLst/>
            <a:rect l="0" t="0" r="0" b="0"/>
            <a:pathLst>
              <a:path w="120000" h="120000" extrusionOk="0">
                <a:moveTo>
                  <a:pt x="0" y="0"/>
                </a:moveTo>
                <a:lnTo>
                  <a:pt x="120000" y="0"/>
                </a:lnTo>
                <a:lnTo>
                  <a:pt x="120000" y="120000"/>
                </a:lnTo>
                <a:lnTo>
                  <a:pt x="0" y="120000"/>
                </a:lnTo>
                <a:close/>
              </a:path>
            </a:pathLst>
          </a:custGeom>
          <a:noFill/>
          <a:ln w="9525" cap="flat">
            <a:solidFill>
              <a:srgbClr val="000000"/>
            </a:solidFill>
            <a:prstDash val="solid"/>
            <a:miter/>
            <a:headEnd type="none" w="med" len="med"/>
            <a:tailEnd type="none" w="med" len="med"/>
          </a:ln>
        </p:spPr>
      </p:sp>
      <p:sp>
        <p:nvSpPr>
          <p:cNvPr id="91" name="Shape 91">
            <a:extLst>
              <a:ext uri="{FF2B5EF4-FFF2-40B4-BE49-F238E27FC236}">
                <a16:creationId xmlns:a16="http://schemas.microsoft.com/office/drawing/2014/main" id="{8B0E48E1-9BEB-9D2F-CB5E-226371917147}"/>
              </a:ext>
            </a:extLst>
          </p:cNvPr>
          <p:cNvSpPr txBox="1">
            <a:spLocks noGrp="1"/>
          </p:cNvSpPr>
          <p:nvPr>
            <p:ph type="body" idx="1"/>
          </p:nvPr>
        </p:nvSpPr>
        <p:spPr>
          <a:xfrm>
            <a:off x="973666" y="4560570"/>
            <a:ext cx="5367866" cy="4318873"/>
          </a:xfrm>
          <a:prstGeom prst="rect">
            <a:avLst/>
          </a:prstGeom>
          <a:noFill/>
          <a:ln>
            <a:noFill/>
          </a:ln>
        </p:spPr>
        <p:txBody>
          <a:bodyPr lIns="96619" tIns="48309" rIns="96619" bIns="48309" anchor="t" anchorCtr="0">
            <a:noAutofit/>
          </a:bodyPr>
          <a:lstStyle/>
          <a:p>
            <a:pPr>
              <a:buSzPct val="25000"/>
            </a:pPr>
            <a:r>
              <a:rPr lang="en-US" sz="1300">
                <a:solidFill>
                  <a:schemeClr val="dk1"/>
                </a:solidFill>
                <a:latin typeface="Calibri"/>
                <a:ea typeface="Calibri"/>
                <a:cs typeface="Calibri"/>
                <a:sym typeface="Calibri"/>
              </a:rPr>
              <a:t>Body slide from the first section of the presentation’s middle. Consider having the first-topic image from the mapping slide repeated here. Use the headline (no more than two lines) to make an assertion about this topic. In the body of the slide, support that headline with images and with words, if necessary. See Chapter 4 of </a:t>
            </a:r>
            <a:r>
              <a:rPr lang="en-US" sz="1300" i="1">
                <a:solidFill>
                  <a:schemeClr val="dk1"/>
                </a:solidFill>
                <a:latin typeface="Calibri"/>
                <a:ea typeface="Calibri"/>
                <a:cs typeface="Calibri"/>
                <a:sym typeface="Calibri"/>
              </a:rPr>
              <a:t>The Craft of Scientific Presentations, 2</a:t>
            </a:r>
            <a:r>
              <a:rPr lang="en-US" sz="1300" i="1" baseline="30000">
                <a:solidFill>
                  <a:schemeClr val="dk1"/>
                </a:solidFill>
                <a:latin typeface="Calibri"/>
                <a:ea typeface="Calibri"/>
                <a:cs typeface="Calibri"/>
                <a:sym typeface="Calibri"/>
              </a:rPr>
              <a:t>nd</a:t>
            </a:r>
            <a:r>
              <a:rPr lang="en-US" sz="1300" i="1">
                <a:solidFill>
                  <a:schemeClr val="dk1"/>
                </a:solidFill>
                <a:latin typeface="Calibri"/>
                <a:ea typeface="Calibri"/>
                <a:cs typeface="Calibri"/>
                <a:sym typeface="Calibri"/>
              </a:rPr>
              <a:t> ed</a:t>
            </a:r>
            <a:r>
              <a:rPr lang="en-US" sz="1300">
                <a:solidFill>
                  <a:schemeClr val="dk1"/>
                </a:solidFill>
                <a:latin typeface="Calibri"/>
                <a:ea typeface="Calibri"/>
                <a:cs typeface="Calibri"/>
                <a:sym typeface="Calibri"/>
              </a:rPr>
              <a:t>.</a:t>
            </a:r>
          </a:p>
          <a:p>
            <a:endParaRPr sz="1300">
              <a:solidFill>
                <a:schemeClr val="dk1"/>
              </a:solidFill>
              <a:latin typeface="Calibri"/>
              <a:ea typeface="Calibri"/>
              <a:cs typeface="Calibri"/>
              <a:sym typeface="Calibri"/>
            </a:endParaRPr>
          </a:p>
          <a:p>
            <a:pPr>
              <a:buSzPct val="25000"/>
            </a:pPr>
            <a:r>
              <a:rPr lang="en-US" sz="1300">
                <a:solidFill>
                  <a:schemeClr val="dk1"/>
                </a:solidFill>
                <a:latin typeface="Calibri"/>
                <a:ea typeface="Calibri"/>
                <a:cs typeface="Calibri"/>
                <a:sym typeface="Calibri"/>
              </a:rPr>
              <a:t>This slide shows one orientation for the image and text in the body of the slide. Other orientations appear in this template. Choose the one that best supports your headline assertion.</a:t>
            </a:r>
          </a:p>
          <a:p>
            <a:endParaRPr sz="1300">
              <a:solidFill>
                <a:schemeClr val="dk1"/>
              </a:solidFill>
              <a:latin typeface="Calibri"/>
              <a:ea typeface="Calibri"/>
              <a:cs typeface="Calibri"/>
              <a:sym typeface="Calibri"/>
            </a:endParaRPr>
          </a:p>
          <a:p>
            <a:pPr>
              <a:buSzPct val="25000"/>
            </a:pPr>
            <a:r>
              <a:rPr lang="en-US" sz="1300">
                <a:solidFill>
                  <a:schemeClr val="dk1"/>
                </a:solidFill>
                <a:latin typeface="Calibri"/>
                <a:ea typeface="Calibri"/>
                <a:cs typeface="Calibri"/>
                <a:sym typeface="Calibri"/>
              </a:rPr>
              <a:t>Some institutions will insist that you place an institutional logo on each slide. Other institutions recommend a logo on the first slide and the last.  If you do place a logo on each slide, make sure that logo is at the bottom of the slide rather than the top. Placing the logo at the top (the place on a slide that receives the most emphasis) shifts the emphasis away from the work.</a:t>
            </a:r>
          </a:p>
          <a:p>
            <a:endParaRPr sz="1300">
              <a:solidFill>
                <a:schemeClr val="dk1"/>
              </a:solidFill>
              <a:latin typeface="Calibri"/>
              <a:ea typeface="Calibri"/>
              <a:cs typeface="Calibri"/>
              <a:sym typeface="Calibri"/>
            </a:endParaRPr>
          </a:p>
          <a:p>
            <a:endParaRPr sz="1300">
              <a:solidFill>
                <a:schemeClr val="dk1"/>
              </a:solidFill>
              <a:latin typeface="Calibri"/>
              <a:ea typeface="Calibri"/>
              <a:cs typeface="Calibri"/>
              <a:sym typeface="Calibri"/>
            </a:endParaRPr>
          </a:p>
          <a:p>
            <a:endParaRPr sz="1300">
              <a:solidFill>
                <a:schemeClr val="dk1"/>
              </a:solidFill>
              <a:latin typeface="Calibri"/>
              <a:ea typeface="Calibri"/>
              <a:cs typeface="Calibri"/>
              <a:sym typeface="Calibri"/>
            </a:endParaRPr>
          </a:p>
          <a:p>
            <a:endParaRPr sz="25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82588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FD857421-F600-D79E-90CC-6693683007F3}"/>
            </a:ext>
          </a:extLst>
        </p:cNvPr>
        <p:cNvGrpSpPr/>
        <p:nvPr/>
      </p:nvGrpSpPr>
      <p:grpSpPr>
        <a:xfrm>
          <a:off x="0" y="0"/>
          <a:ext cx="0" cy="0"/>
          <a:chOff x="0" y="0"/>
          <a:chExt cx="0" cy="0"/>
        </a:xfrm>
      </p:grpSpPr>
      <p:sp>
        <p:nvSpPr>
          <p:cNvPr id="71" name="Shape 71">
            <a:extLst>
              <a:ext uri="{FF2B5EF4-FFF2-40B4-BE49-F238E27FC236}">
                <a16:creationId xmlns:a16="http://schemas.microsoft.com/office/drawing/2014/main" id="{21D56FAF-D3BC-DC2E-EFEA-B3172F07BD0F}"/>
              </a:ext>
            </a:extLst>
          </p:cNvPr>
          <p:cNvSpPr txBox="1">
            <a:spLocks noGrp="1"/>
          </p:cNvSpPr>
          <p:nvPr>
            <p:ph type="sldNum" idx="12"/>
          </p:nvPr>
        </p:nvSpPr>
        <p:spPr>
          <a:xfrm>
            <a:off x="4143587" y="9119474"/>
            <a:ext cx="3169919" cy="480060"/>
          </a:xfrm>
          <a:prstGeom prst="rect">
            <a:avLst/>
          </a:prstGeom>
          <a:noFill/>
          <a:ln>
            <a:noFill/>
          </a:ln>
        </p:spPr>
        <p:txBody>
          <a:bodyPr lIns="96645" tIns="48309" rIns="96645" bIns="48309" anchor="b" anchorCtr="0">
            <a:noAutofit/>
          </a:bodyPr>
          <a:lstStyle/>
          <a:p>
            <a:pPr>
              <a:buSzPct val="25000"/>
            </a:pPr>
            <a:fld id="{00000000-1234-1234-1234-123412341234}" type="slidenum">
              <a:rPr lang="en-US"/>
              <a:pPr>
                <a:buSzPct val="25000"/>
              </a:pPr>
              <a:t>5</a:t>
            </a:fld>
            <a:endParaRPr lang="en-US"/>
          </a:p>
        </p:txBody>
      </p:sp>
      <p:sp>
        <p:nvSpPr>
          <p:cNvPr id="72" name="Shape 72">
            <a:extLst>
              <a:ext uri="{FF2B5EF4-FFF2-40B4-BE49-F238E27FC236}">
                <a16:creationId xmlns:a16="http://schemas.microsoft.com/office/drawing/2014/main" id="{A3B8CAB0-026B-BD2D-631A-4B1E778E6724}"/>
              </a:ext>
            </a:extLst>
          </p:cNvPr>
          <p:cNvSpPr>
            <a:spLocks noGrp="1" noRot="1" noChangeAspect="1"/>
          </p:cNvSpPr>
          <p:nvPr>
            <p:ph type="sldImg" idx="2"/>
          </p:nvPr>
        </p:nvSpPr>
        <p:spPr>
          <a:xfrm>
            <a:off x="482600" y="733425"/>
            <a:ext cx="6353175" cy="3573463"/>
          </a:xfrm>
          <a:custGeom>
            <a:avLst/>
            <a:gdLst/>
            <a:ahLst/>
            <a:cxnLst/>
            <a:rect l="0" t="0" r="0" b="0"/>
            <a:pathLst>
              <a:path w="120000" h="120000" extrusionOk="0">
                <a:moveTo>
                  <a:pt x="0" y="0"/>
                </a:moveTo>
                <a:lnTo>
                  <a:pt x="120000" y="0"/>
                </a:lnTo>
                <a:lnTo>
                  <a:pt x="120000" y="120000"/>
                </a:lnTo>
                <a:lnTo>
                  <a:pt x="0" y="120000"/>
                </a:lnTo>
                <a:close/>
              </a:path>
            </a:pathLst>
          </a:custGeom>
          <a:noFill/>
          <a:ln w="9525" cap="flat">
            <a:solidFill>
              <a:srgbClr val="000000"/>
            </a:solidFill>
            <a:prstDash val="solid"/>
            <a:miter/>
            <a:headEnd type="none" w="med" len="med"/>
            <a:tailEnd type="none" w="med" len="med"/>
          </a:ln>
        </p:spPr>
      </p:sp>
      <p:sp>
        <p:nvSpPr>
          <p:cNvPr id="73" name="Shape 73">
            <a:extLst>
              <a:ext uri="{FF2B5EF4-FFF2-40B4-BE49-F238E27FC236}">
                <a16:creationId xmlns:a16="http://schemas.microsoft.com/office/drawing/2014/main" id="{9CD7A2E3-DAB3-3F4E-0CC8-327AC5726329}"/>
              </a:ext>
            </a:extLst>
          </p:cNvPr>
          <p:cNvSpPr txBox="1">
            <a:spLocks noGrp="1"/>
          </p:cNvSpPr>
          <p:nvPr>
            <p:ph type="body" idx="1"/>
          </p:nvPr>
        </p:nvSpPr>
        <p:spPr>
          <a:xfrm>
            <a:off x="973666" y="4560570"/>
            <a:ext cx="5367866" cy="4318873"/>
          </a:xfrm>
          <a:prstGeom prst="rect">
            <a:avLst/>
          </a:prstGeom>
          <a:noFill/>
          <a:ln>
            <a:noFill/>
          </a:ln>
        </p:spPr>
        <p:txBody>
          <a:bodyPr lIns="96619" tIns="48309" rIns="96619" bIns="48309" anchor="t" anchorCtr="0">
            <a:noAutofit/>
          </a:bodyPr>
          <a:lstStyle/>
          <a:p>
            <a:pPr>
              <a:buSzPct val="25000"/>
            </a:pPr>
            <a:r>
              <a:rPr lang="en-US" sz="1300">
                <a:solidFill>
                  <a:schemeClr val="dk1"/>
                </a:solidFill>
                <a:latin typeface="Calibri"/>
                <a:ea typeface="Calibri"/>
                <a:cs typeface="Calibri"/>
                <a:sym typeface="Calibri"/>
              </a:rPr>
              <a:t>Sample mapping slide.</a:t>
            </a:r>
          </a:p>
          <a:p>
            <a:endParaRPr sz="1300">
              <a:solidFill>
                <a:schemeClr val="dk1"/>
              </a:solidFill>
              <a:latin typeface="Calibri"/>
              <a:ea typeface="Calibri"/>
              <a:cs typeface="Calibri"/>
              <a:sym typeface="Calibri"/>
            </a:endParaRPr>
          </a:p>
          <a:p>
            <a:endParaRPr sz="1300">
              <a:solidFill>
                <a:schemeClr val="dk1"/>
              </a:solidFill>
              <a:latin typeface="Calibri"/>
              <a:ea typeface="Calibri"/>
              <a:cs typeface="Calibri"/>
              <a:sym typeface="Calibri"/>
            </a:endParaRPr>
          </a:p>
          <a:p>
            <a:endParaRPr sz="1300">
              <a:solidFill>
                <a:schemeClr val="dk1"/>
              </a:solidFill>
              <a:latin typeface="Calibri"/>
              <a:ea typeface="Calibri"/>
              <a:cs typeface="Calibri"/>
              <a:sym typeface="Calibri"/>
            </a:endParaRPr>
          </a:p>
          <a:p>
            <a:pPr>
              <a:buSzPct val="25000"/>
            </a:pPr>
            <a:r>
              <a:rPr lang="en-US" sz="1100">
                <a:solidFill>
                  <a:schemeClr val="dk1"/>
                </a:solidFill>
                <a:latin typeface="Calibri"/>
                <a:ea typeface="Calibri"/>
                <a:cs typeface="Calibri"/>
                <a:sym typeface="Calibri"/>
              </a:rPr>
              <a:t>Reference:</a:t>
            </a:r>
          </a:p>
          <a:p>
            <a:endParaRPr sz="1100">
              <a:solidFill>
                <a:schemeClr val="dk1"/>
              </a:solidFill>
              <a:latin typeface="Calibri"/>
              <a:ea typeface="Calibri"/>
              <a:cs typeface="Calibri"/>
              <a:sym typeface="Calibri"/>
            </a:endParaRPr>
          </a:p>
          <a:p>
            <a:pPr>
              <a:buSzPct val="25000"/>
            </a:pPr>
            <a:r>
              <a:rPr lang="en-US" sz="1100">
                <a:solidFill>
                  <a:schemeClr val="dk1"/>
                </a:solidFill>
                <a:latin typeface="Calibri"/>
                <a:ea typeface="Calibri"/>
                <a:cs typeface="Calibri"/>
                <a:sym typeface="Calibri"/>
              </a:rPr>
              <a:t>Katrina Aspmo, Torunn Berg, and Grethe Wibetoe, “Atmospheric Mercury Depletion Events (AMDEs) in Polar Regions During Arctic Spring,” presentation (Oslo, Norway: University of Oslo, 16 June 2004). </a:t>
            </a:r>
          </a:p>
          <a:p>
            <a:endParaRPr sz="11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683260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2A719FE4-22E7-6640-77F9-0C67BADA09EE}"/>
            </a:ext>
          </a:extLst>
        </p:cNvPr>
        <p:cNvGrpSpPr/>
        <p:nvPr/>
      </p:nvGrpSpPr>
      <p:grpSpPr>
        <a:xfrm>
          <a:off x="0" y="0"/>
          <a:ext cx="0" cy="0"/>
          <a:chOff x="0" y="0"/>
          <a:chExt cx="0" cy="0"/>
        </a:xfrm>
      </p:grpSpPr>
      <p:sp>
        <p:nvSpPr>
          <p:cNvPr id="169" name="Shape 169">
            <a:extLst>
              <a:ext uri="{FF2B5EF4-FFF2-40B4-BE49-F238E27FC236}">
                <a16:creationId xmlns:a16="http://schemas.microsoft.com/office/drawing/2014/main" id="{50E4DD97-11A6-DC1A-E614-A72B2FEF383B}"/>
              </a:ext>
            </a:extLst>
          </p:cNvPr>
          <p:cNvSpPr txBox="1">
            <a:spLocks noGrp="1"/>
          </p:cNvSpPr>
          <p:nvPr>
            <p:ph type="sldNum" idx="12"/>
          </p:nvPr>
        </p:nvSpPr>
        <p:spPr>
          <a:xfrm>
            <a:off x="4143587" y="9119474"/>
            <a:ext cx="3169919" cy="480060"/>
          </a:xfrm>
          <a:prstGeom prst="rect">
            <a:avLst/>
          </a:prstGeom>
          <a:noFill/>
          <a:ln>
            <a:noFill/>
          </a:ln>
        </p:spPr>
        <p:txBody>
          <a:bodyPr lIns="96645" tIns="48309" rIns="96645" bIns="48309" anchor="b" anchorCtr="0">
            <a:noAutofit/>
          </a:bodyPr>
          <a:lstStyle/>
          <a:p>
            <a:pPr>
              <a:buSzPct val="25000"/>
            </a:pPr>
            <a:fld id="{00000000-1234-1234-1234-123412341234}" type="slidenum">
              <a:rPr lang="en-US"/>
              <a:pPr>
                <a:buSzPct val="25000"/>
              </a:pPr>
              <a:t>9</a:t>
            </a:fld>
            <a:endParaRPr lang="en-US"/>
          </a:p>
        </p:txBody>
      </p:sp>
      <p:sp>
        <p:nvSpPr>
          <p:cNvPr id="170" name="Shape 170">
            <a:extLst>
              <a:ext uri="{FF2B5EF4-FFF2-40B4-BE49-F238E27FC236}">
                <a16:creationId xmlns:a16="http://schemas.microsoft.com/office/drawing/2014/main" id="{FD3732B6-6EDF-B117-3ED7-65C52739CE30}"/>
              </a:ext>
            </a:extLst>
          </p:cNvPr>
          <p:cNvSpPr>
            <a:spLocks noGrp="1" noRot="1" noChangeAspect="1"/>
          </p:cNvSpPr>
          <p:nvPr>
            <p:ph type="sldImg" idx="2"/>
          </p:nvPr>
        </p:nvSpPr>
        <p:spPr>
          <a:xfrm>
            <a:off x="482600" y="733425"/>
            <a:ext cx="6353175" cy="3573463"/>
          </a:xfrm>
          <a:custGeom>
            <a:avLst/>
            <a:gdLst/>
            <a:ahLst/>
            <a:cxnLst/>
            <a:rect l="0" t="0" r="0" b="0"/>
            <a:pathLst>
              <a:path w="120000" h="120000" extrusionOk="0">
                <a:moveTo>
                  <a:pt x="0" y="0"/>
                </a:moveTo>
                <a:lnTo>
                  <a:pt x="120000" y="0"/>
                </a:lnTo>
                <a:lnTo>
                  <a:pt x="120000" y="120000"/>
                </a:lnTo>
                <a:lnTo>
                  <a:pt x="0" y="120000"/>
                </a:lnTo>
                <a:close/>
              </a:path>
            </a:pathLst>
          </a:custGeom>
          <a:noFill/>
          <a:ln w="9525" cap="flat">
            <a:solidFill>
              <a:srgbClr val="000000"/>
            </a:solidFill>
            <a:prstDash val="solid"/>
            <a:miter/>
            <a:headEnd type="none" w="med" len="med"/>
            <a:tailEnd type="none" w="med" len="med"/>
          </a:ln>
        </p:spPr>
      </p:sp>
      <p:sp>
        <p:nvSpPr>
          <p:cNvPr id="171" name="Shape 171">
            <a:extLst>
              <a:ext uri="{FF2B5EF4-FFF2-40B4-BE49-F238E27FC236}">
                <a16:creationId xmlns:a16="http://schemas.microsoft.com/office/drawing/2014/main" id="{E6455EBA-C5FB-78D3-96E3-A8E8B8E7B42B}"/>
              </a:ext>
            </a:extLst>
          </p:cNvPr>
          <p:cNvSpPr txBox="1">
            <a:spLocks noGrp="1"/>
          </p:cNvSpPr>
          <p:nvPr>
            <p:ph type="body" idx="1"/>
          </p:nvPr>
        </p:nvSpPr>
        <p:spPr>
          <a:xfrm>
            <a:off x="731521" y="4560570"/>
            <a:ext cx="5852159" cy="4318873"/>
          </a:xfrm>
          <a:prstGeom prst="rect">
            <a:avLst/>
          </a:prstGeom>
          <a:noFill/>
          <a:ln>
            <a:noFill/>
          </a:ln>
        </p:spPr>
        <p:txBody>
          <a:bodyPr lIns="96645" tIns="48309" rIns="96645" bIns="48309" anchor="t" anchorCtr="0">
            <a:noAutofit/>
          </a:bodyPr>
          <a:lstStyle/>
          <a:p>
            <a:pPr>
              <a:buSzPct val="25000"/>
            </a:pPr>
            <a:r>
              <a:rPr lang="en-US" sz="1300">
                <a:solidFill>
                  <a:schemeClr val="dk1"/>
                </a:solidFill>
                <a:latin typeface="Calibri"/>
                <a:ea typeface="Calibri"/>
                <a:cs typeface="Calibri"/>
                <a:sym typeface="Calibri"/>
              </a:rPr>
              <a:t>Sample slide from the middle of a presentation. Notice how animation works to allow the speaker to present fairly complex connections in a way that the audience can digest. Notice how the arrows show connections—something that bullets could not achieve.</a:t>
            </a:r>
          </a:p>
          <a:p>
            <a:endParaRPr sz="1300">
              <a:solidFill>
                <a:schemeClr val="dk1"/>
              </a:solidFill>
              <a:latin typeface="Calibri"/>
              <a:ea typeface="Calibri"/>
              <a:cs typeface="Calibri"/>
              <a:sym typeface="Calibri"/>
            </a:endParaRPr>
          </a:p>
          <a:p>
            <a:endParaRPr sz="1300">
              <a:solidFill>
                <a:schemeClr val="dk1"/>
              </a:solidFill>
              <a:latin typeface="Calibri"/>
              <a:ea typeface="Calibri"/>
              <a:cs typeface="Calibri"/>
              <a:sym typeface="Calibri"/>
            </a:endParaRPr>
          </a:p>
          <a:p>
            <a:pPr>
              <a:buSzPct val="25000"/>
            </a:pPr>
            <a:r>
              <a:rPr lang="en-US" sz="1100">
                <a:solidFill>
                  <a:schemeClr val="dk1"/>
                </a:solidFill>
                <a:latin typeface="Calibri"/>
                <a:ea typeface="Calibri"/>
                <a:cs typeface="Calibri"/>
                <a:sym typeface="Calibri"/>
              </a:rPr>
              <a:t>Reference</a:t>
            </a:r>
          </a:p>
          <a:p>
            <a:endParaRPr sz="1100">
              <a:solidFill>
                <a:schemeClr val="dk1"/>
              </a:solidFill>
              <a:latin typeface="Calibri"/>
              <a:ea typeface="Calibri"/>
              <a:cs typeface="Calibri"/>
              <a:sym typeface="Calibri"/>
            </a:endParaRPr>
          </a:p>
          <a:p>
            <a:pPr>
              <a:buSzPct val="25000"/>
            </a:pPr>
            <a:r>
              <a:rPr lang="en-US" sz="1100">
                <a:solidFill>
                  <a:schemeClr val="dk1"/>
                </a:solidFill>
                <a:latin typeface="Calibri"/>
                <a:ea typeface="Calibri"/>
                <a:cs typeface="Calibri"/>
                <a:sym typeface="Calibri"/>
              </a:rPr>
              <a:t>This slide is a composite slide from a number of mechanical engineering seniors in ME 4006, a laboratory course at Virginia Tech. These presentations occurred during the Fall 2004 semester.</a:t>
            </a:r>
          </a:p>
          <a:p>
            <a:endParaRPr sz="11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019936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Shape 51"/>
          <p:cNvSpPr txBox="1">
            <a:spLocks noGrp="1"/>
          </p:cNvSpPr>
          <p:nvPr>
            <p:ph type="sldNum" idx="12"/>
          </p:nvPr>
        </p:nvSpPr>
        <p:spPr>
          <a:xfrm>
            <a:off x="4143587" y="9119474"/>
            <a:ext cx="3169919" cy="480060"/>
          </a:xfrm>
          <a:prstGeom prst="rect">
            <a:avLst/>
          </a:prstGeom>
          <a:noFill/>
          <a:ln>
            <a:noFill/>
          </a:ln>
        </p:spPr>
        <p:txBody>
          <a:bodyPr lIns="96645" tIns="48309" rIns="96645" bIns="48309" anchor="b" anchorCtr="0">
            <a:noAutofit/>
          </a:bodyPr>
          <a:lstStyle/>
          <a:p>
            <a:pPr>
              <a:buSzPct val="25000"/>
            </a:pPr>
            <a:fld id="{00000000-1234-1234-1234-123412341234}" type="slidenum">
              <a:rPr lang="en-US"/>
              <a:pPr>
                <a:buSzPct val="25000"/>
              </a:pPr>
              <a:t>11</a:t>
            </a:fld>
            <a:endParaRPr lang="en-US"/>
          </a:p>
        </p:txBody>
      </p:sp>
      <p:sp>
        <p:nvSpPr>
          <p:cNvPr id="52" name="Shape 52"/>
          <p:cNvSpPr>
            <a:spLocks noGrp="1" noRot="1" noChangeAspect="1"/>
          </p:cNvSpPr>
          <p:nvPr>
            <p:ph type="sldImg" idx="2"/>
          </p:nvPr>
        </p:nvSpPr>
        <p:spPr>
          <a:xfrm>
            <a:off x="482600" y="733425"/>
            <a:ext cx="6353175" cy="3573463"/>
          </a:xfrm>
          <a:custGeom>
            <a:avLst/>
            <a:gdLst/>
            <a:ahLst/>
            <a:cxnLst/>
            <a:rect l="0" t="0" r="0" b="0"/>
            <a:pathLst>
              <a:path w="120000" h="120000" extrusionOk="0">
                <a:moveTo>
                  <a:pt x="0" y="0"/>
                </a:moveTo>
                <a:lnTo>
                  <a:pt x="120000" y="0"/>
                </a:lnTo>
                <a:lnTo>
                  <a:pt x="120000" y="120000"/>
                </a:lnTo>
                <a:lnTo>
                  <a:pt x="0" y="120000"/>
                </a:lnTo>
                <a:close/>
              </a:path>
            </a:pathLst>
          </a:custGeom>
          <a:noFill/>
          <a:ln w="9525" cap="flat">
            <a:solidFill>
              <a:srgbClr val="000000"/>
            </a:solidFill>
            <a:prstDash val="solid"/>
            <a:miter/>
            <a:headEnd type="none" w="med" len="med"/>
            <a:tailEnd type="none" w="med" len="med"/>
          </a:ln>
        </p:spPr>
      </p:sp>
      <p:sp>
        <p:nvSpPr>
          <p:cNvPr id="53" name="Shape 53"/>
          <p:cNvSpPr txBox="1">
            <a:spLocks noGrp="1"/>
          </p:cNvSpPr>
          <p:nvPr>
            <p:ph type="body" idx="1"/>
          </p:nvPr>
        </p:nvSpPr>
        <p:spPr>
          <a:xfrm>
            <a:off x="973666" y="4560570"/>
            <a:ext cx="5367866" cy="4318873"/>
          </a:xfrm>
          <a:prstGeom prst="rect">
            <a:avLst/>
          </a:prstGeom>
          <a:noFill/>
          <a:ln>
            <a:noFill/>
          </a:ln>
        </p:spPr>
        <p:txBody>
          <a:bodyPr lIns="96619" tIns="48309" rIns="96619" bIns="48309" anchor="t" anchorCtr="0">
            <a:noAutofit/>
          </a:bodyPr>
          <a:lstStyle/>
          <a:p>
            <a:pPr>
              <a:buSzPct val="25000"/>
            </a:pPr>
            <a:r>
              <a:rPr lang="en-US" sz="1300">
                <a:solidFill>
                  <a:schemeClr val="dk1"/>
                </a:solidFill>
                <a:latin typeface="Calibri"/>
                <a:ea typeface="Calibri"/>
                <a:cs typeface="Calibri"/>
                <a:sym typeface="Calibri"/>
              </a:rPr>
              <a:t>Mapping slide for the presentation (note that a background slide or a slide justifying the importance might precede this slide). A common mistake with mapping slides is to give the audience simply an unmemorable bulleted list of topics (including the names “Introduction” and “Conclusion” and “Questions”). Such a list is quickly forgotten after the slide is removed.</a:t>
            </a:r>
          </a:p>
          <a:p>
            <a:endParaRPr sz="1300">
              <a:solidFill>
                <a:schemeClr val="dk1"/>
              </a:solidFill>
              <a:latin typeface="Calibri"/>
              <a:ea typeface="Calibri"/>
              <a:cs typeface="Calibri"/>
              <a:sym typeface="Calibri"/>
            </a:endParaRPr>
          </a:p>
          <a:p>
            <a:pPr>
              <a:buSzPct val="25000"/>
            </a:pPr>
            <a:r>
              <a:rPr lang="en-US" sz="1300">
                <a:solidFill>
                  <a:schemeClr val="dk1"/>
                </a:solidFill>
                <a:latin typeface="Calibri"/>
                <a:ea typeface="Calibri"/>
                <a:cs typeface="Calibri"/>
                <a:sym typeface="Calibri"/>
              </a:rPr>
              <a:t>On a mapping slide, take the opportunity to show a key image or perhaps a representative image for each major section of the presentation. In the second case, each image would be repeated on the first visual of the corresponding section and would remind the audience that they have arrived to a major section of the presentation’s middle. </a:t>
            </a:r>
          </a:p>
          <a:p>
            <a:endParaRPr sz="1300">
              <a:solidFill>
                <a:schemeClr val="dk1"/>
              </a:solidFill>
              <a:latin typeface="Calibri"/>
              <a:ea typeface="Calibri"/>
              <a:cs typeface="Calibri"/>
              <a:sym typeface="Calibri"/>
            </a:endParaRPr>
          </a:p>
          <a:p>
            <a:pPr>
              <a:buSzPct val="25000"/>
            </a:pPr>
            <a:r>
              <a:rPr lang="en-US" sz="1300">
                <a:solidFill>
                  <a:schemeClr val="dk1"/>
                </a:solidFill>
                <a:latin typeface="Calibri"/>
                <a:ea typeface="Calibri"/>
                <a:cs typeface="Calibri"/>
                <a:sym typeface="Calibri"/>
              </a:rPr>
              <a:t>In regards to the names “Introduction” and “Conclusion,” every talk has those sections, and the names are ignored by audiences. So why state them? Also, for the divisions that you do have, find a logical and parallel grouping. Note that groups of two’s, three’s, and four’s are much easier to remember and are not so nearly intimidating as groups of five’s, six’s, and seven’s. See the discussion of mapping slides in </a:t>
            </a:r>
            <a:r>
              <a:rPr lang="en-US" sz="1300" i="1">
                <a:solidFill>
                  <a:schemeClr val="dk1"/>
                </a:solidFill>
                <a:latin typeface="Calibri"/>
                <a:ea typeface="Calibri"/>
                <a:cs typeface="Calibri"/>
                <a:sym typeface="Calibri"/>
              </a:rPr>
              <a:t>The Craft of Scientific Presentations, 2</a:t>
            </a:r>
            <a:r>
              <a:rPr lang="en-US" sz="1300" i="1" baseline="30000">
                <a:solidFill>
                  <a:schemeClr val="dk1"/>
                </a:solidFill>
                <a:latin typeface="Calibri"/>
                <a:ea typeface="Calibri"/>
                <a:cs typeface="Calibri"/>
                <a:sym typeface="Calibri"/>
              </a:rPr>
              <a:t>nd</a:t>
            </a:r>
            <a:r>
              <a:rPr lang="en-US" sz="1300" i="1">
                <a:solidFill>
                  <a:schemeClr val="dk1"/>
                </a:solidFill>
                <a:latin typeface="Calibri"/>
                <a:ea typeface="Calibri"/>
                <a:cs typeface="Calibri"/>
                <a:sym typeface="Calibri"/>
              </a:rPr>
              <a:t> ed. (pages 177-181).</a:t>
            </a:r>
          </a:p>
        </p:txBody>
      </p:sp>
    </p:spTree>
    <p:extLst>
      <p:ext uri="{BB962C8B-B14F-4D97-AF65-F5344CB8AC3E}">
        <p14:creationId xmlns:p14="http://schemas.microsoft.com/office/powerpoint/2010/main" val="15125604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a:extLst>
            <a:ext uri="{FF2B5EF4-FFF2-40B4-BE49-F238E27FC236}">
              <a16:creationId xmlns:a16="http://schemas.microsoft.com/office/drawing/2014/main" id="{11AEC4C8-D7BE-1260-B593-E9916C116447}"/>
            </a:ext>
          </a:extLst>
        </p:cNvPr>
        <p:cNvGrpSpPr/>
        <p:nvPr/>
      </p:nvGrpSpPr>
      <p:grpSpPr>
        <a:xfrm>
          <a:off x="0" y="0"/>
          <a:ext cx="0" cy="0"/>
          <a:chOff x="0" y="0"/>
          <a:chExt cx="0" cy="0"/>
        </a:xfrm>
      </p:grpSpPr>
      <p:sp>
        <p:nvSpPr>
          <p:cNvPr id="250" name="Shape 250">
            <a:extLst>
              <a:ext uri="{FF2B5EF4-FFF2-40B4-BE49-F238E27FC236}">
                <a16:creationId xmlns:a16="http://schemas.microsoft.com/office/drawing/2014/main" id="{E51D3791-05E1-B317-3891-F54C94BD0815}"/>
              </a:ext>
            </a:extLst>
          </p:cNvPr>
          <p:cNvSpPr txBox="1">
            <a:spLocks noGrp="1"/>
          </p:cNvSpPr>
          <p:nvPr>
            <p:ph type="sldNum" idx="12"/>
          </p:nvPr>
        </p:nvSpPr>
        <p:spPr>
          <a:xfrm>
            <a:off x="4143587" y="9119474"/>
            <a:ext cx="3169919" cy="480060"/>
          </a:xfrm>
          <a:prstGeom prst="rect">
            <a:avLst/>
          </a:prstGeom>
          <a:noFill/>
          <a:ln>
            <a:noFill/>
          </a:ln>
        </p:spPr>
        <p:txBody>
          <a:bodyPr lIns="96645" tIns="48309" rIns="96645" bIns="48309" anchor="b" anchorCtr="0">
            <a:noAutofit/>
          </a:bodyPr>
          <a:lstStyle/>
          <a:p>
            <a:pPr>
              <a:buSzPct val="25000"/>
            </a:pPr>
            <a:fld id="{00000000-1234-1234-1234-123412341234}" type="slidenum">
              <a:rPr lang="en-US"/>
              <a:pPr>
                <a:buSzPct val="25000"/>
              </a:pPr>
              <a:t>23</a:t>
            </a:fld>
            <a:endParaRPr lang="en-US"/>
          </a:p>
        </p:txBody>
      </p:sp>
      <p:sp>
        <p:nvSpPr>
          <p:cNvPr id="251" name="Shape 251">
            <a:extLst>
              <a:ext uri="{FF2B5EF4-FFF2-40B4-BE49-F238E27FC236}">
                <a16:creationId xmlns:a16="http://schemas.microsoft.com/office/drawing/2014/main" id="{26907444-0B65-BBEB-93D2-1199D4D6B647}"/>
              </a:ext>
            </a:extLst>
          </p:cNvPr>
          <p:cNvSpPr>
            <a:spLocks noGrp="1" noRot="1" noChangeAspect="1"/>
          </p:cNvSpPr>
          <p:nvPr>
            <p:ph type="sldImg" idx="2"/>
          </p:nvPr>
        </p:nvSpPr>
        <p:spPr>
          <a:xfrm>
            <a:off x="482600" y="733425"/>
            <a:ext cx="6353175" cy="3573463"/>
          </a:xfrm>
          <a:custGeom>
            <a:avLst/>
            <a:gdLst/>
            <a:ahLst/>
            <a:cxnLst/>
            <a:rect l="0" t="0" r="0" b="0"/>
            <a:pathLst>
              <a:path w="120000" h="120000" extrusionOk="0">
                <a:moveTo>
                  <a:pt x="0" y="0"/>
                </a:moveTo>
                <a:lnTo>
                  <a:pt x="120000" y="0"/>
                </a:lnTo>
                <a:lnTo>
                  <a:pt x="120000" y="120000"/>
                </a:lnTo>
                <a:lnTo>
                  <a:pt x="0" y="120000"/>
                </a:lnTo>
                <a:close/>
              </a:path>
            </a:pathLst>
          </a:custGeom>
          <a:noFill/>
          <a:ln w="9525" cap="flat">
            <a:solidFill>
              <a:srgbClr val="000000"/>
            </a:solidFill>
            <a:prstDash val="solid"/>
            <a:miter/>
            <a:headEnd type="none" w="med" len="med"/>
            <a:tailEnd type="none" w="med" len="med"/>
          </a:ln>
        </p:spPr>
      </p:sp>
      <p:sp>
        <p:nvSpPr>
          <p:cNvPr id="252" name="Shape 252">
            <a:extLst>
              <a:ext uri="{FF2B5EF4-FFF2-40B4-BE49-F238E27FC236}">
                <a16:creationId xmlns:a16="http://schemas.microsoft.com/office/drawing/2014/main" id="{A7DB5B49-EAD9-D1EB-03D4-E76533F0B561}"/>
              </a:ext>
            </a:extLst>
          </p:cNvPr>
          <p:cNvSpPr txBox="1">
            <a:spLocks noGrp="1"/>
          </p:cNvSpPr>
          <p:nvPr>
            <p:ph type="body" idx="1"/>
          </p:nvPr>
        </p:nvSpPr>
        <p:spPr>
          <a:xfrm>
            <a:off x="973666" y="4560570"/>
            <a:ext cx="5367866" cy="4318873"/>
          </a:xfrm>
          <a:prstGeom prst="rect">
            <a:avLst/>
          </a:prstGeom>
          <a:noFill/>
          <a:ln>
            <a:noFill/>
          </a:ln>
        </p:spPr>
        <p:txBody>
          <a:bodyPr lIns="96619" tIns="48309" rIns="96619" bIns="48309" anchor="t" anchorCtr="0">
            <a:noAutofit/>
          </a:bodyPr>
          <a:lstStyle/>
          <a:p>
            <a:pPr>
              <a:buSzPct val="25000"/>
            </a:pPr>
            <a:r>
              <a:rPr lang="en-US" sz="1300">
                <a:solidFill>
                  <a:schemeClr val="dk1"/>
                </a:solidFill>
                <a:latin typeface="Calibri"/>
                <a:ea typeface="Calibri"/>
                <a:cs typeface="Calibri"/>
                <a:sym typeface="Calibri"/>
              </a:rPr>
              <a:t>Conclusion slide. Use the headline (no more than two lines) to state your most important conclusion. Begin the headline with </a:t>
            </a:r>
            <a:r>
              <a:rPr lang="en-US" sz="1300" i="1">
                <a:solidFill>
                  <a:schemeClr val="dk1"/>
                </a:solidFill>
                <a:latin typeface="Calibri"/>
                <a:ea typeface="Calibri"/>
                <a:cs typeface="Calibri"/>
                <a:sym typeface="Calibri"/>
              </a:rPr>
              <a:t>In summary</a:t>
            </a:r>
            <a:r>
              <a:rPr lang="en-US" sz="1300">
                <a:solidFill>
                  <a:schemeClr val="dk1"/>
                </a:solidFill>
                <a:latin typeface="Calibri"/>
                <a:ea typeface="Calibri"/>
                <a:cs typeface="Calibri"/>
                <a:sym typeface="Calibri"/>
              </a:rPr>
              <a:t> or </a:t>
            </a:r>
            <a:r>
              <a:rPr lang="en-US" sz="1300" i="1">
                <a:solidFill>
                  <a:schemeClr val="dk1"/>
                </a:solidFill>
                <a:latin typeface="Calibri"/>
                <a:ea typeface="Calibri"/>
                <a:cs typeface="Calibri"/>
                <a:sym typeface="Calibri"/>
              </a:rPr>
              <a:t>In conclusion</a:t>
            </a:r>
            <a:r>
              <a:rPr lang="en-US" sz="1300">
                <a:solidFill>
                  <a:schemeClr val="dk1"/>
                </a:solidFill>
                <a:latin typeface="Calibri"/>
                <a:ea typeface="Calibri"/>
                <a:cs typeface="Calibri"/>
                <a:sym typeface="Calibri"/>
              </a:rPr>
              <a:t> to ensure that the audience knows they have come to the presentation’s end. Support that headline with an image and parallel points. </a:t>
            </a:r>
          </a:p>
          <a:p>
            <a:endParaRPr sz="1300">
              <a:solidFill>
                <a:schemeClr val="dk1"/>
              </a:solidFill>
              <a:latin typeface="Calibri"/>
              <a:ea typeface="Calibri"/>
              <a:cs typeface="Calibri"/>
              <a:sym typeface="Calibri"/>
            </a:endParaRPr>
          </a:p>
          <a:p>
            <a:pPr>
              <a:buSzPct val="25000"/>
            </a:pPr>
            <a:r>
              <a:rPr lang="en-US" sz="1300">
                <a:solidFill>
                  <a:schemeClr val="dk1"/>
                </a:solidFill>
                <a:latin typeface="Calibri"/>
                <a:ea typeface="Calibri"/>
                <a:cs typeface="Calibri"/>
                <a:sym typeface="Calibri"/>
              </a:rPr>
              <a:t>This slide should be your last slide. Audiences lose patience when they believe that they have come to the end, but other slides follow. </a:t>
            </a:r>
          </a:p>
          <a:p>
            <a:endParaRPr sz="1300">
              <a:solidFill>
                <a:schemeClr val="dk1"/>
              </a:solidFill>
              <a:latin typeface="Calibri"/>
              <a:ea typeface="Calibri"/>
              <a:cs typeface="Calibri"/>
              <a:sym typeface="Calibri"/>
            </a:endParaRPr>
          </a:p>
          <a:p>
            <a:pPr>
              <a:buSzPct val="25000"/>
            </a:pPr>
            <a:r>
              <a:rPr lang="en-US" sz="1300">
                <a:solidFill>
                  <a:schemeClr val="dk1"/>
                </a:solidFill>
                <a:latin typeface="Calibri"/>
                <a:ea typeface="Calibri"/>
                <a:cs typeface="Calibri"/>
                <a:sym typeface="Calibri"/>
              </a:rPr>
              <a:t>Notice that the word </a:t>
            </a:r>
            <a:r>
              <a:rPr lang="en-US" sz="1300" i="1">
                <a:solidFill>
                  <a:schemeClr val="dk1"/>
                </a:solidFill>
                <a:latin typeface="Calibri"/>
                <a:ea typeface="Calibri"/>
                <a:cs typeface="Calibri"/>
                <a:sym typeface="Calibri"/>
              </a:rPr>
              <a:t>Questions</a:t>
            </a:r>
            <a:r>
              <a:rPr lang="en-US" sz="1300">
                <a:solidFill>
                  <a:schemeClr val="dk1"/>
                </a:solidFill>
                <a:latin typeface="Calibri"/>
                <a:ea typeface="Calibri"/>
                <a:cs typeface="Calibri"/>
                <a:sym typeface="Calibri"/>
              </a:rPr>
              <a:t> appears at the bottom of this slide. That strategy is much more effective than burning a slide with just the word </a:t>
            </a:r>
            <a:r>
              <a:rPr lang="en-US" sz="1300" i="1">
                <a:solidFill>
                  <a:schemeClr val="dk1"/>
                </a:solidFill>
                <a:latin typeface="Calibri"/>
                <a:ea typeface="Calibri"/>
                <a:cs typeface="Calibri"/>
                <a:sym typeface="Calibri"/>
              </a:rPr>
              <a:t>Questions</a:t>
            </a:r>
            <a:r>
              <a:rPr lang="en-US" sz="1300">
                <a:solidFill>
                  <a:schemeClr val="dk1"/>
                </a:solidFill>
                <a:latin typeface="Calibri"/>
                <a:ea typeface="Calibri"/>
                <a:cs typeface="Calibri"/>
                <a:sym typeface="Calibri"/>
              </a:rPr>
              <a:t>. This slide allows the audience to look at the most important slide of the presentation during the question period. See </a:t>
            </a:r>
            <a:r>
              <a:rPr lang="en-US" sz="1300" i="1">
                <a:solidFill>
                  <a:schemeClr val="dk1"/>
                </a:solidFill>
                <a:latin typeface="Calibri"/>
                <a:ea typeface="Calibri"/>
                <a:cs typeface="Calibri"/>
                <a:sym typeface="Calibri"/>
              </a:rPr>
              <a:t>The Craft of Scientific Presentations, 2</a:t>
            </a:r>
            <a:r>
              <a:rPr lang="en-US" sz="1300" i="1" baseline="30000">
                <a:solidFill>
                  <a:schemeClr val="dk1"/>
                </a:solidFill>
                <a:latin typeface="Calibri"/>
                <a:ea typeface="Calibri"/>
                <a:cs typeface="Calibri"/>
                <a:sym typeface="Calibri"/>
              </a:rPr>
              <a:t>nd</a:t>
            </a:r>
            <a:r>
              <a:rPr lang="en-US" sz="1300" i="1">
                <a:solidFill>
                  <a:schemeClr val="dk1"/>
                </a:solidFill>
                <a:latin typeface="Calibri"/>
                <a:ea typeface="Calibri"/>
                <a:cs typeface="Calibri"/>
                <a:sym typeface="Calibri"/>
              </a:rPr>
              <a:t> ed</a:t>
            </a:r>
            <a:r>
              <a:rPr lang="en-US" sz="1300">
                <a:solidFill>
                  <a:schemeClr val="dk1"/>
                </a:solidFill>
                <a:latin typeface="Calibri"/>
                <a:ea typeface="Calibri"/>
                <a:cs typeface="Calibri"/>
                <a:sym typeface="Calibri"/>
              </a:rPr>
              <a:t>.</a:t>
            </a:r>
            <a:r>
              <a:rPr lang="en-US" sz="1300" i="1">
                <a:solidFill>
                  <a:schemeClr val="dk1"/>
                </a:solidFill>
                <a:latin typeface="Calibri"/>
                <a:ea typeface="Calibri"/>
                <a:cs typeface="Calibri"/>
                <a:sym typeface="Calibri"/>
              </a:rPr>
              <a:t>, </a:t>
            </a:r>
            <a:r>
              <a:rPr lang="en-US" sz="1300">
                <a:solidFill>
                  <a:schemeClr val="dk1"/>
                </a:solidFill>
                <a:latin typeface="Calibri"/>
                <a:ea typeface="Calibri"/>
                <a:cs typeface="Calibri"/>
                <a:sym typeface="Calibri"/>
              </a:rPr>
              <a:t>pages 182-183. </a:t>
            </a:r>
          </a:p>
        </p:txBody>
      </p:sp>
    </p:spTree>
    <p:extLst>
      <p:ext uri="{BB962C8B-B14F-4D97-AF65-F5344CB8AC3E}">
        <p14:creationId xmlns:p14="http://schemas.microsoft.com/office/powerpoint/2010/main" val="30696926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Assertion Evidence">
    <p:spTree>
      <p:nvGrpSpPr>
        <p:cNvPr id="1" name="Shape 12"/>
        <p:cNvGrpSpPr/>
        <p:nvPr/>
      </p:nvGrpSpPr>
      <p:grpSpPr>
        <a:xfrm>
          <a:off x="0" y="0"/>
          <a:ext cx="0" cy="0"/>
          <a:chOff x="0" y="0"/>
          <a:chExt cx="0" cy="0"/>
        </a:xfrm>
      </p:grpSpPr>
      <p:sp>
        <p:nvSpPr>
          <p:cNvPr id="5" name="Text Placeholder 4"/>
          <p:cNvSpPr>
            <a:spLocks noGrp="1"/>
          </p:cNvSpPr>
          <p:nvPr>
            <p:ph type="body" sz="quarter" idx="14" hasCustomPrompt="1"/>
          </p:nvPr>
        </p:nvSpPr>
        <p:spPr>
          <a:xfrm>
            <a:off x="695335" y="2052536"/>
            <a:ext cx="2230745" cy="369332"/>
          </a:xfrm>
          <a:prstGeom prst="rect">
            <a:avLst/>
          </a:prstGeom>
        </p:spPr>
        <p:txBody>
          <a:bodyPr wrap="square" lIns="0" tIns="0" rIns="0" bIns="0">
            <a:spAutoFit/>
          </a:bodyPr>
          <a:lstStyle>
            <a:lvl1pPr>
              <a:defRPr sz="2400" b="1">
                <a:latin typeface="Calibri" panose="020F0502020204030204" pitchFamily="34" charset="0"/>
              </a:defRPr>
            </a:lvl1pPr>
          </a:lstStyle>
          <a:p>
            <a:pPr lvl="0"/>
            <a:r>
              <a:rPr lang="en-US" dirty="0">
                <a:latin typeface="Calibri" panose="020F0502020204030204" pitchFamily="34" charset="0"/>
              </a:rPr>
              <a:t>Insert text here</a:t>
            </a:r>
            <a:endParaRPr lang="en-US" dirty="0"/>
          </a:p>
        </p:txBody>
      </p:sp>
      <p:sp>
        <p:nvSpPr>
          <p:cNvPr id="8" name="Title 7"/>
          <p:cNvSpPr>
            <a:spLocks noGrp="1"/>
          </p:cNvSpPr>
          <p:nvPr>
            <p:ph type="title" hasCustomPrompt="1"/>
          </p:nvPr>
        </p:nvSpPr>
        <p:spPr>
          <a:xfrm>
            <a:off x="73152" y="73152"/>
            <a:ext cx="8863030" cy="430887"/>
          </a:xfrm>
          <a:prstGeom prst="rect">
            <a:avLst/>
          </a:prstGeom>
        </p:spPr>
        <p:txBody>
          <a:bodyPr wrap="square" lIns="0" tIns="0" rIns="0" bIns="0">
            <a:spAutoFit/>
          </a:bodyPr>
          <a:lstStyle>
            <a:lvl1pPr>
              <a:defRPr sz="2800" b="1" baseline="0">
                <a:latin typeface="Calibri" panose="020F0502020204030204" pitchFamily="34" charset="0"/>
              </a:defRPr>
            </a:lvl1pPr>
          </a:lstStyle>
          <a:p>
            <a:r>
              <a:rPr lang="en-US" dirty="0"/>
              <a:t>Insert assertion here</a:t>
            </a:r>
          </a:p>
        </p:txBody>
      </p:sp>
      <p:sp>
        <p:nvSpPr>
          <p:cNvPr id="9" name="Slide Number Placeholder 5"/>
          <p:cNvSpPr>
            <a:spLocks noGrp="1"/>
          </p:cNvSpPr>
          <p:nvPr>
            <p:ph type="sldNum" sz="quarter" idx="4"/>
          </p:nvPr>
        </p:nvSpPr>
        <p:spPr>
          <a:xfrm>
            <a:off x="63050" y="4788399"/>
            <a:ext cx="456094" cy="338554"/>
          </a:xfrm>
          <a:prstGeom prst="rect">
            <a:avLst/>
          </a:prstGeom>
        </p:spPr>
        <p:txBody>
          <a:bodyPr vert="horz" lIns="91440" tIns="45720" rIns="91440" bIns="45720" rtlCol="0" anchor="t">
            <a:spAutoFit/>
          </a:bodyPr>
          <a:lstStyle>
            <a:lvl1pPr algn="r">
              <a:defRPr sz="1600">
                <a:solidFill>
                  <a:schemeClr val="tx1">
                    <a:tint val="75000"/>
                  </a:schemeClr>
                </a:solidFill>
                <a:latin typeface="Calibri" panose="020F0502020204030204" pitchFamily="34" charset="0"/>
              </a:defRPr>
            </a:lvl1pPr>
          </a:lstStyle>
          <a:p>
            <a:fld id="{F577E53E-616C-4B80-8F3C-B6584B31683E}" type="slidenum">
              <a:rPr lang="en-US" smtClean="0"/>
              <a:pPr/>
              <a:t>‹Nº›</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
        <p:cNvGrpSpPr/>
        <p:nvPr/>
      </p:nvGrpSpPr>
      <p:grpSpPr>
        <a:xfrm>
          <a:off x="0" y="0"/>
          <a:ext cx="0" cy="0"/>
          <a:chOff x="0" y="0"/>
          <a:chExt cx="0" cy="0"/>
        </a:xfrm>
      </p:grpSpPr>
      <p:sp>
        <p:nvSpPr>
          <p:cNvPr id="2" name="Slide Number Placeholder 5"/>
          <p:cNvSpPr>
            <a:spLocks noGrp="1"/>
          </p:cNvSpPr>
          <p:nvPr>
            <p:ph type="sldNum" sz="quarter" idx="4"/>
          </p:nvPr>
        </p:nvSpPr>
        <p:spPr>
          <a:xfrm>
            <a:off x="63050" y="4788399"/>
            <a:ext cx="456094" cy="338554"/>
          </a:xfrm>
          <a:prstGeom prst="rect">
            <a:avLst/>
          </a:prstGeom>
        </p:spPr>
        <p:txBody>
          <a:bodyPr vert="horz" lIns="91440" tIns="45720" rIns="91440" bIns="45720" rtlCol="0" anchor="t">
            <a:spAutoFit/>
          </a:bodyPr>
          <a:lstStyle>
            <a:lvl1pPr algn="r">
              <a:defRPr sz="1600">
                <a:solidFill>
                  <a:schemeClr val="tx1">
                    <a:tint val="75000"/>
                  </a:schemeClr>
                </a:solidFill>
                <a:latin typeface="Calibri" panose="020F0502020204030204" pitchFamily="34" charset="0"/>
              </a:defRPr>
            </a:lvl1pPr>
          </a:lstStyle>
          <a:p>
            <a:fld id="{F577E53E-616C-4B80-8F3C-B6584B31683E}" type="slidenum">
              <a:rPr lang="en-US" smtClean="0"/>
              <a:pPr/>
              <a:t>‹Nº›</a:t>
            </a:fld>
            <a:endParaRPr lang="en-US" dirty="0"/>
          </a:p>
        </p:txBody>
      </p:sp>
    </p:spTree>
  </p:cSld>
  <p:clrMap bg1="lt1" tx1="dk1" bg2="dk2" tx2="lt2" accent1="accent1" accent2="accent2" accent3="accent3" accent4="accent4" accent5="accent5" accent6="accent6" hlink="hlink" folHlink="folHlink"/>
  <p:sldLayoutIdLst>
    <p:sldLayoutId id="2147483648" r:id="rId1"/>
  </p:sldLayoutIdLst>
  <p:hf hdr="0" ftr="0" dt="0"/>
  <p:txStyles>
    <p:titleStyle>
      <a:defPPr marR="0" algn="l" rtl="0">
        <a:lnSpc>
          <a:spcPct val="100000"/>
        </a:lnSpc>
        <a:spcBef>
          <a:spcPts val="0"/>
        </a:spcBef>
        <a:spcAft>
          <a:spcPts val="0"/>
        </a:spcAft>
      </a:defPPr>
      <a:lvl1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p:titleStyle>
    <p:bodyStyle>
      <a:defPPr marR="0" algn="l" rtl="0">
        <a:lnSpc>
          <a:spcPct val="100000"/>
        </a:lnSpc>
        <a:spcBef>
          <a:spcPts val="0"/>
        </a:spcBef>
        <a:spcAft>
          <a:spcPts val="0"/>
        </a:spcAft>
      </a:defPPr>
      <a:lvl1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p:bodyStyle>
    <p:otherStyle>
      <a:defPPr marR="0" algn="l" rtl="0">
        <a:lnSpc>
          <a:spcPct val="100000"/>
        </a:lnSpc>
        <a:spcBef>
          <a:spcPts val="0"/>
        </a:spcBef>
        <a:spcAft>
          <a:spcPts val="0"/>
        </a:spcAft>
      </a:defPPr>
      <a:lvl1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jpeg"/><Relationship Id="rId4" Type="http://schemas.openxmlformats.org/officeDocument/2006/relationships/image" Target="../media/image5.jpe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4.png"/><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
        <p:cNvGrpSpPr/>
        <p:nvPr/>
      </p:nvGrpSpPr>
      <p:grpSpPr>
        <a:xfrm>
          <a:off x="0" y="0"/>
          <a:ext cx="0" cy="0"/>
          <a:chOff x="0" y="0"/>
          <a:chExt cx="0" cy="0"/>
        </a:xfrm>
      </p:grpSpPr>
      <p:sp>
        <p:nvSpPr>
          <p:cNvPr id="23" name="Shape 23"/>
          <p:cNvSpPr/>
          <p:nvPr/>
        </p:nvSpPr>
        <p:spPr>
          <a:xfrm>
            <a:off x="152400" y="2171700"/>
            <a:ext cx="3352799" cy="1776411"/>
          </a:xfrm>
          <a:prstGeom prst="rect">
            <a:avLst/>
          </a:prstGeom>
          <a:noFill/>
          <a:ln>
            <a:noFill/>
          </a:ln>
        </p:spPr>
        <p:txBody>
          <a:bodyPr lIns="91425" tIns="25400" rIns="91425" bIns="25400" anchor="t" anchorCtr="0">
            <a:noAutofit/>
          </a:bodyPr>
          <a:lstStyle/>
          <a:p>
            <a:pPr>
              <a:buSzPct val="25000"/>
            </a:pPr>
            <a:r>
              <a:rPr lang="en-US" sz="2000" b="1" dirty="0">
                <a:solidFill>
                  <a:srgbClr val="262626"/>
                </a:solidFill>
                <a:latin typeface="Calibri"/>
                <a:ea typeface="Calibri"/>
                <a:cs typeface="Calibri"/>
                <a:sym typeface="Calibri"/>
              </a:rPr>
              <a:t>Miguel Ángel </a:t>
            </a:r>
            <a:endParaRPr lang="es-ES"/>
          </a:p>
          <a:p>
            <a:r>
              <a:rPr lang="en-US" sz="2000" b="1" dirty="0">
                <a:solidFill>
                  <a:srgbClr val="262626"/>
                </a:solidFill>
                <a:latin typeface="Calibri"/>
                <a:ea typeface="Calibri"/>
                <a:cs typeface="Calibri"/>
                <a:sym typeface="Calibri"/>
              </a:rPr>
              <a:t>Donado Fernández</a:t>
            </a:r>
            <a:endParaRPr lang="en-US" dirty="0"/>
          </a:p>
          <a:p>
            <a:r>
              <a:rPr lang="en-US" sz="1600" b="1" dirty="0">
                <a:solidFill>
                  <a:srgbClr val="262626"/>
                </a:solidFill>
                <a:latin typeface="Calibri"/>
                <a:ea typeface="Calibri"/>
                <a:cs typeface="Calibri"/>
                <a:sym typeface="Calibri"/>
              </a:rPr>
              <a:t>Polytechnic University of Catalonia</a:t>
            </a:r>
            <a:endParaRPr lang="en-US" sz="1600">
              <a:ea typeface="Calibri"/>
            </a:endParaRPr>
          </a:p>
          <a:p>
            <a:endParaRPr lang="en-US" sz="1800" b="1" dirty="0">
              <a:solidFill>
                <a:srgbClr val="262626"/>
              </a:solidFill>
              <a:latin typeface="Calibri"/>
              <a:ea typeface="Calibri"/>
              <a:cs typeface="Calibri"/>
              <a:sym typeface="Calibri"/>
            </a:endParaRPr>
          </a:p>
          <a:p>
            <a:r>
              <a:rPr lang="en-US" sz="1600" b="1" dirty="0">
                <a:solidFill>
                  <a:srgbClr val="262626"/>
                </a:solidFill>
                <a:latin typeface="Calibri"/>
                <a:ea typeface="Calibri"/>
                <a:cs typeface="Calibri"/>
                <a:sym typeface="Calibri"/>
              </a:rPr>
              <a:t>07/10/2026</a:t>
            </a:r>
            <a:endParaRPr lang="en-US" sz="1600" dirty="0"/>
          </a:p>
        </p:txBody>
      </p:sp>
      <p:sp>
        <p:nvSpPr>
          <p:cNvPr id="26" name="Shape 26"/>
          <p:cNvSpPr txBox="1"/>
          <p:nvPr/>
        </p:nvSpPr>
        <p:spPr>
          <a:xfrm>
            <a:off x="76200" y="57150"/>
            <a:ext cx="7502399" cy="1107996"/>
          </a:xfrm>
          <a:prstGeom prst="rect">
            <a:avLst/>
          </a:prstGeom>
          <a:noFill/>
          <a:ln>
            <a:noFill/>
          </a:ln>
        </p:spPr>
        <p:txBody>
          <a:bodyPr lIns="0" tIns="0" rIns="0" bIns="0" anchor="t" anchorCtr="0">
            <a:spAutoFit/>
          </a:bodyPr>
          <a:lstStyle/>
          <a:p>
            <a:r>
              <a:rPr lang="en-US" sz="3600" b="1" dirty="0">
                <a:latin typeface="Calibri"/>
                <a:ea typeface="Calibri"/>
                <a:cs typeface="Calibri"/>
              </a:rPr>
              <a:t>TRAFFIC SIMULATION WITH</a:t>
            </a:r>
            <a:endParaRPr lang="es-ES" dirty="0">
              <a:ea typeface="Calibri"/>
            </a:endParaRPr>
          </a:p>
          <a:p>
            <a:r>
              <a:rPr lang="en-US" sz="3600" b="1" dirty="0">
                <a:latin typeface="Calibri"/>
                <a:ea typeface="Calibri"/>
                <a:cs typeface="Calibri"/>
              </a:rPr>
              <a:t>IRRATIONAL DRIVERS</a:t>
            </a:r>
            <a:endParaRPr lang="en-US" sz="3600" b="1" i="0" u="none" strike="noStrike" cap="none" baseline="0" dirty="0">
              <a:solidFill>
                <a:schemeClr val="dk1"/>
              </a:solidFill>
              <a:latin typeface="Calibri"/>
              <a:ea typeface="Calibri"/>
              <a:cs typeface="Calibri"/>
            </a:endParaRPr>
          </a:p>
        </p:txBody>
      </p:sp>
      <p:sp>
        <p:nvSpPr>
          <p:cNvPr id="3" name="TextBox 2"/>
          <p:cNvSpPr txBox="1"/>
          <p:nvPr/>
        </p:nvSpPr>
        <p:spPr>
          <a:xfrm>
            <a:off x="1600200" y="1589314"/>
            <a:ext cx="184731" cy="400110"/>
          </a:xfrm>
          <a:prstGeom prst="rect">
            <a:avLst/>
          </a:prstGeom>
          <a:noFill/>
        </p:spPr>
        <p:txBody>
          <a:bodyPr wrap="none" rtlCol="0">
            <a:spAutoFit/>
          </a:bodyPr>
          <a:lstStyle/>
          <a:p>
            <a:endParaRPr lang="en-US" sz="2000" b="1" dirty="0">
              <a:latin typeface="Calibri" panose="020F0502020204030204" pitchFamily="34" charset="0"/>
            </a:endParaRPr>
          </a:p>
        </p:txBody>
      </p:sp>
      <p:pic>
        <p:nvPicPr>
          <p:cNvPr id="2" name="Imagen 1" descr="UPC-CEI-positiu-p3005-interior-blanc.png">
            <a:extLst>
              <a:ext uri="{FF2B5EF4-FFF2-40B4-BE49-F238E27FC236}">
                <a16:creationId xmlns:a16="http://schemas.microsoft.com/office/drawing/2014/main" id="{A3ED9325-AC68-DC85-2532-271544B1B297}"/>
              </a:ext>
            </a:extLst>
          </p:cNvPr>
          <p:cNvPicPr>
            <a:picLocks noChangeAspect="1"/>
          </p:cNvPicPr>
          <p:nvPr/>
        </p:nvPicPr>
        <p:blipFill>
          <a:blip r:embed="rId3"/>
          <a:srcRect b="24837"/>
          <a:stretch>
            <a:fillRect/>
          </a:stretch>
        </p:blipFill>
        <p:spPr>
          <a:xfrm>
            <a:off x="64294" y="4312444"/>
            <a:ext cx="3257550" cy="830481"/>
          </a:xfrm>
          <a:prstGeom prst="rect">
            <a:avLst/>
          </a:prstGeom>
        </p:spPr>
      </p:pic>
      <p:pic>
        <p:nvPicPr>
          <p:cNvPr id="5" name="Imagen 4">
            <a:extLst>
              <a:ext uri="{FF2B5EF4-FFF2-40B4-BE49-F238E27FC236}">
                <a16:creationId xmlns:a16="http://schemas.microsoft.com/office/drawing/2014/main" id="{799DB78A-9E5E-5D36-0BBB-428302151E53}"/>
              </a:ext>
            </a:extLst>
          </p:cNvPr>
          <p:cNvPicPr>
            <a:picLocks noChangeAspect="1"/>
          </p:cNvPicPr>
          <p:nvPr/>
        </p:nvPicPr>
        <p:blipFill>
          <a:blip r:embed="rId4"/>
          <a:stretch>
            <a:fillRect/>
          </a:stretch>
        </p:blipFill>
        <p:spPr>
          <a:xfrm>
            <a:off x="4322038" y="1171575"/>
            <a:ext cx="4171812" cy="3557587"/>
          </a:xfrm>
          <a:prstGeom prst="rect">
            <a:avLst/>
          </a:prstGeom>
        </p:spPr>
      </p:pic>
    </p:spTree>
  </p:cSld>
  <p:clrMapOvr>
    <a:masterClrMapping/>
  </p:clrMapOvr>
  <p:transition spd="slow">
    <p:cu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2">
          <a:extLst>
            <a:ext uri="{FF2B5EF4-FFF2-40B4-BE49-F238E27FC236}">
              <a16:creationId xmlns:a16="http://schemas.microsoft.com/office/drawing/2014/main" id="{927B400D-C98B-75A5-6FDF-0D320A356563}"/>
            </a:ext>
          </a:extLst>
        </p:cNvPr>
        <p:cNvGrpSpPr/>
        <p:nvPr/>
      </p:nvGrpSpPr>
      <p:grpSpPr>
        <a:xfrm>
          <a:off x="0" y="0"/>
          <a:ext cx="0" cy="0"/>
          <a:chOff x="0" y="0"/>
          <a:chExt cx="0" cy="0"/>
        </a:xfrm>
      </p:grpSpPr>
      <p:sp>
        <p:nvSpPr>
          <p:cNvPr id="86" name="Shape 86">
            <a:extLst>
              <a:ext uri="{FF2B5EF4-FFF2-40B4-BE49-F238E27FC236}">
                <a16:creationId xmlns:a16="http://schemas.microsoft.com/office/drawing/2014/main" id="{C27EB288-1460-E37E-9A84-6F8925C3D1A1}"/>
              </a:ext>
            </a:extLst>
          </p:cNvPr>
          <p:cNvSpPr txBox="1"/>
          <p:nvPr/>
        </p:nvSpPr>
        <p:spPr>
          <a:xfrm>
            <a:off x="288925" y="45243"/>
            <a:ext cx="184200" cy="297600"/>
          </a:xfrm>
          <a:prstGeom prst="rect">
            <a:avLst/>
          </a:prstGeom>
          <a:noFill/>
          <a:ln>
            <a:noFill/>
          </a:ln>
        </p:spPr>
        <p:txBody>
          <a:bodyPr lIns="91425" tIns="45700" rIns="91425" bIns="45700" anchor="t" anchorCtr="0">
            <a:noAutofit/>
          </a:bodyPr>
          <a:lstStyle/>
          <a:p>
            <a:pPr marL="0" marR="0" lvl="0" indent="0" algn="l" rtl="0">
              <a:spcBef>
                <a:spcPts val="0"/>
              </a:spcBef>
              <a:buNone/>
            </a:pPr>
            <a:endParaRPr sz="1800" b="0" i="0" u="none" strike="noStrike" cap="none" baseline="0">
              <a:solidFill>
                <a:schemeClr val="dk1"/>
              </a:solidFill>
              <a:latin typeface="Calibri"/>
              <a:ea typeface="Calibri"/>
              <a:cs typeface="Calibri"/>
              <a:sym typeface="Calibri"/>
            </a:endParaRPr>
          </a:p>
        </p:txBody>
      </p:sp>
      <p:sp>
        <p:nvSpPr>
          <p:cNvPr id="87" name="Shape 87">
            <a:extLst>
              <a:ext uri="{FF2B5EF4-FFF2-40B4-BE49-F238E27FC236}">
                <a16:creationId xmlns:a16="http://schemas.microsoft.com/office/drawing/2014/main" id="{B16991CD-E04D-78B4-84DA-E38345A84789}"/>
              </a:ext>
            </a:extLst>
          </p:cNvPr>
          <p:cNvSpPr txBox="1"/>
          <p:nvPr/>
        </p:nvSpPr>
        <p:spPr>
          <a:xfrm>
            <a:off x="76200" y="57150"/>
            <a:ext cx="8997900" cy="430887"/>
          </a:xfrm>
          <a:prstGeom prst="rect">
            <a:avLst/>
          </a:prstGeom>
          <a:noFill/>
          <a:ln>
            <a:noFill/>
          </a:ln>
        </p:spPr>
        <p:txBody>
          <a:bodyPr lIns="0" tIns="0" rIns="0" bIns="0" anchor="t" anchorCtr="0">
            <a:spAutoFit/>
          </a:bodyPr>
          <a:lstStyle/>
          <a:p>
            <a:r>
              <a:rPr lang="en-US" sz="2800" b="1" dirty="0">
                <a:latin typeface="Calibri"/>
                <a:ea typeface="Calibri"/>
                <a:cs typeface="Calibri"/>
                <a:sym typeface="Calibri"/>
              </a:rPr>
              <a:t>Traffic congestion is expected to grow</a:t>
            </a:r>
            <a:endParaRPr lang="es-ES" dirty="0"/>
          </a:p>
        </p:txBody>
      </p:sp>
      <p:pic>
        <p:nvPicPr>
          <p:cNvPr id="2" name="Imagen 1">
            <a:extLst>
              <a:ext uri="{FF2B5EF4-FFF2-40B4-BE49-F238E27FC236}">
                <a16:creationId xmlns:a16="http://schemas.microsoft.com/office/drawing/2014/main" id="{5B2C8C93-11D4-8492-4F72-EDE47B0B81FB}"/>
              </a:ext>
            </a:extLst>
          </p:cNvPr>
          <p:cNvPicPr>
            <a:picLocks noChangeAspect="1"/>
          </p:cNvPicPr>
          <p:nvPr/>
        </p:nvPicPr>
        <p:blipFill>
          <a:blip r:embed="rId3"/>
          <a:stretch>
            <a:fillRect/>
          </a:stretch>
        </p:blipFill>
        <p:spPr>
          <a:xfrm>
            <a:off x="881140" y="457200"/>
            <a:ext cx="6974529" cy="4221958"/>
          </a:xfrm>
          <a:prstGeom prst="rect">
            <a:avLst/>
          </a:prstGeom>
        </p:spPr>
      </p:pic>
      <p:sp>
        <p:nvSpPr>
          <p:cNvPr id="3" name="CuadroTexto 2">
            <a:extLst>
              <a:ext uri="{FF2B5EF4-FFF2-40B4-BE49-F238E27FC236}">
                <a16:creationId xmlns:a16="http://schemas.microsoft.com/office/drawing/2014/main" id="{DE5878B9-FD32-DA4D-06ED-293717462F28}"/>
              </a:ext>
            </a:extLst>
          </p:cNvPr>
          <p:cNvSpPr txBox="1"/>
          <p:nvPr/>
        </p:nvSpPr>
        <p:spPr>
          <a:xfrm>
            <a:off x="1538801" y="4824155"/>
            <a:ext cx="4116640"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1100" i="1" dirty="0" err="1">
                <a:solidFill>
                  <a:schemeClr val="tx1"/>
                </a:solidFill>
                <a:latin typeface="Calibri"/>
                <a:ea typeface="Calibri"/>
                <a:cs typeface="Calibri"/>
              </a:rPr>
              <a:t>Source</a:t>
            </a:r>
            <a:r>
              <a:rPr lang="es-ES" sz="1100" i="1" dirty="0">
                <a:solidFill>
                  <a:schemeClr val="tx1"/>
                </a:solidFill>
                <a:latin typeface="Calibri"/>
                <a:ea typeface="Calibri"/>
                <a:cs typeface="Calibri"/>
              </a:rPr>
              <a:t>: </a:t>
            </a:r>
            <a:r>
              <a:rPr lang="es-ES" sz="1100" i="1" dirty="0" err="1">
                <a:solidFill>
                  <a:schemeClr val="tx1"/>
                </a:solidFill>
                <a:latin typeface="Calibri"/>
                <a:ea typeface="Calibri"/>
                <a:cs typeface="Calibri"/>
              </a:rPr>
              <a:t>Reproduced</a:t>
            </a:r>
            <a:r>
              <a:rPr lang="es-ES" sz="1100" i="1" dirty="0">
                <a:solidFill>
                  <a:schemeClr val="tx1"/>
                </a:solidFill>
                <a:latin typeface="Calibri"/>
                <a:ea typeface="Calibri"/>
                <a:cs typeface="Calibri"/>
              </a:rPr>
              <a:t> </a:t>
            </a:r>
            <a:r>
              <a:rPr lang="es-ES" sz="1100" i="1" dirty="0" err="1">
                <a:solidFill>
                  <a:schemeClr val="tx1"/>
                </a:solidFill>
                <a:latin typeface="Calibri"/>
                <a:ea typeface="Calibri"/>
                <a:cs typeface="Calibri"/>
              </a:rPr>
              <a:t>from</a:t>
            </a:r>
            <a:r>
              <a:rPr lang="es-ES" sz="1100" i="1" dirty="0">
                <a:solidFill>
                  <a:schemeClr val="tx1"/>
                </a:solidFill>
                <a:latin typeface="Calibri"/>
                <a:ea typeface="Calibri"/>
                <a:cs typeface="Calibri"/>
              </a:rPr>
              <a:t> World </a:t>
            </a:r>
            <a:r>
              <a:rPr lang="es-ES" sz="1100" i="1" dirty="0" err="1">
                <a:solidFill>
                  <a:schemeClr val="tx1"/>
                </a:solidFill>
                <a:latin typeface="Calibri"/>
                <a:ea typeface="Calibri"/>
                <a:cs typeface="Calibri"/>
              </a:rPr>
              <a:t>Urbanization</a:t>
            </a:r>
            <a:r>
              <a:rPr lang="es-ES" sz="1100" i="1" dirty="0">
                <a:solidFill>
                  <a:schemeClr val="tx1"/>
                </a:solidFill>
                <a:latin typeface="Calibri"/>
                <a:ea typeface="Calibri"/>
                <a:cs typeface="Calibri"/>
              </a:rPr>
              <a:t> </a:t>
            </a:r>
            <a:r>
              <a:rPr lang="es-ES" sz="1100" i="1" dirty="0" err="1">
                <a:solidFill>
                  <a:schemeClr val="tx1"/>
                </a:solidFill>
                <a:latin typeface="Calibri"/>
                <a:ea typeface="Calibri"/>
                <a:cs typeface="Calibri"/>
              </a:rPr>
              <a:t>Prospects</a:t>
            </a:r>
            <a:r>
              <a:rPr lang="es-ES" sz="1100" i="1" dirty="0">
                <a:solidFill>
                  <a:schemeClr val="tx1"/>
                </a:solidFill>
                <a:latin typeface="Calibri"/>
                <a:ea typeface="Calibri"/>
                <a:cs typeface="Calibri"/>
              </a:rPr>
              <a:t> 2025.</a:t>
            </a:r>
            <a:endParaRPr lang="es-ES" sz="1100" i="1" dirty="0">
              <a:solidFill>
                <a:schemeClr val="tx1"/>
              </a:solidFill>
            </a:endParaRPr>
          </a:p>
        </p:txBody>
      </p:sp>
    </p:spTree>
    <p:extLst>
      <p:ext uri="{BB962C8B-B14F-4D97-AF65-F5344CB8AC3E}">
        <p14:creationId xmlns:p14="http://schemas.microsoft.com/office/powerpoint/2010/main" val="3558330102"/>
      </p:ext>
    </p:extLst>
  </p:cSld>
  <p:clrMapOvr>
    <a:masterClrMapping/>
  </p:clrMapOvr>
  <p:transition spd="slow">
    <p:cut/>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4">
          <a:extLst>
            <a:ext uri="{FF2B5EF4-FFF2-40B4-BE49-F238E27FC236}">
              <a16:creationId xmlns:a16="http://schemas.microsoft.com/office/drawing/2014/main" id="{E06A63E7-8C81-E6BA-036E-AAC5425312F2}"/>
            </a:ext>
          </a:extLst>
        </p:cNvPr>
        <p:cNvGrpSpPr/>
        <p:nvPr/>
      </p:nvGrpSpPr>
      <p:grpSpPr>
        <a:xfrm>
          <a:off x="0" y="0"/>
          <a:ext cx="0" cy="0"/>
          <a:chOff x="0" y="0"/>
          <a:chExt cx="0" cy="0"/>
        </a:xfrm>
      </p:grpSpPr>
      <p:sp>
        <p:nvSpPr>
          <p:cNvPr id="59" name="Shape 59">
            <a:extLst>
              <a:ext uri="{FF2B5EF4-FFF2-40B4-BE49-F238E27FC236}">
                <a16:creationId xmlns:a16="http://schemas.microsoft.com/office/drawing/2014/main" id="{E4D01DF6-87FE-C773-1212-D3182F23CF24}"/>
              </a:ext>
            </a:extLst>
          </p:cNvPr>
          <p:cNvSpPr txBox="1"/>
          <p:nvPr/>
        </p:nvSpPr>
        <p:spPr>
          <a:xfrm>
            <a:off x="228600" y="114300"/>
            <a:ext cx="184200" cy="297600"/>
          </a:xfrm>
          <a:prstGeom prst="rect">
            <a:avLst/>
          </a:prstGeom>
          <a:noFill/>
          <a:ln>
            <a:noFill/>
          </a:ln>
        </p:spPr>
        <p:txBody>
          <a:bodyPr lIns="91425" tIns="45700" rIns="91425" bIns="45700" anchor="t" anchorCtr="0">
            <a:noAutofit/>
          </a:bodyPr>
          <a:lstStyle/>
          <a:p>
            <a:pPr marL="0" marR="0" lvl="0" indent="0" algn="l" rtl="0">
              <a:spcBef>
                <a:spcPts val="0"/>
              </a:spcBef>
              <a:buNone/>
            </a:pPr>
            <a:endParaRPr sz="1800" b="0" i="0" u="none" strike="noStrike" cap="none" baseline="0">
              <a:solidFill>
                <a:schemeClr val="dk1"/>
              </a:solidFill>
              <a:latin typeface="Calibri"/>
              <a:ea typeface="Calibri"/>
              <a:cs typeface="Calibri"/>
              <a:sym typeface="Calibri"/>
            </a:endParaRPr>
          </a:p>
        </p:txBody>
      </p:sp>
      <p:sp>
        <p:nvSpPr>
          <p:cNvPr id="60" name="Shape 60">
            <a:extLst>
              <a:ext uri="{FF2B5EF4-FFF2-40B4-BE49-F238E27FC236}">
                <a16:creationId xmlns:a16="http://schemas.microsoft.com/office/drawing/2014/main" id="{EC7720C7-D0DC-0717-8617-F7EC2AB5F2CA}"/>
              </a:ext>
            </a:extLst>
          </p:cNvPr>
          <p:cNvSpPr txBox="1"/>
          <p:nvPr/>
        </p:nvSpPr>
        <p:spPr>
          <a:xfrm>
            <a:off x="76200" y="57150"/>
            <a:ext cx="9017100" cy="430887"/>
          </a:xfrm>
          <a:prstGeom prst="rect">
            <a:avLst/>
          </a:prstGeom>
          <a:noFill/>
          <a:ln>
            <a:noFill/>
          </a:ln>
        </p:spPr>
        <p:txBody>
          <a:bodyPr lIns="0" tIns="0" rIns="0" bIns="0" anchor="t" anchorCtr="0">
            <a:spAutoFit/>
          </a:bodyPr>
          <a:lstStyle>
            <a:defPPr marR="0" algn="l" rtl="0">
              <a:lnSpc>
                <a:spcPct val="100000"/>
              </a:lnSpc>
              <a:spcBef>
                <a:spcPts val="0"/>
              </a:spcBef>
              <a:spcAft>
                <a:spcPts val="0"/>
              </a:spcAft>
            </a:defPPr>
            <a:lvl1pPr marL="0" lvl="0" indent="0">
              <a:buSzPct val="25000"/>
              <a:defRPr sz="3200" b="1">
                <a:latin typeface="Calibri"/>
                <a:ea typeface="Calibri"/>
                <a:cs typeface="Calibri"/>
              </a:defRPr>
            </a:lvl1pPr>
          </a:lstStyle>
          <a:p>
            <a:r>
              <a:rPr lang="en-US" sz="2800" dirty="0">
                <a:sym typeface="Calibri"/>
              </a:rPr>
              <a:t>Traffic congestion has negative consequences</a:t>
            </a:r>
            <a:endParaRPr lang="es-ES" dirty="0"/>
          </a:p>
        </p:txBody>
      </p:sp>
      <p:sp>
        <p:nvSpPr>
          <p:cNvPr id="62" name="Shape 62">
            <a:extLst>
              <a:ext uri="{FF2B5EF4-FFF2-40B4-BE49-F238E27FC236}">
                <a16:creationId xmlns:a16="http://schemas.microsoft.com/office/drawing/2014/main" id="{72FA19F7-A9A1-8C8C-A1A6-8E2512DAB64E}"/>
              </a:ext>
            </a:extLst>
          </p:cNvPr>
          <p:cNvSpPr txBox="1"/>
          <p:nvPr/>
        </p:nvSpPr>
        <p:spPr>
          <a:xfrm>
            <a:off x="3071772" y="4630732"/>
            <a:ext cx="2887624" cy="341318"/>
          </a:xfrm>
          <a:prstGeom prst="rect">
            <a:avLst/>
          </a:prstGeom>
          <a:noFill/>
          <a:ln>
            <a:noFill/>
          </a:ln>
        </p:spPr>
        <p:txBody>
          <a:bodyPr lIns="91425" tIns="45700" rIns="91425" bIns="45700" anchor="t" anchorCtr="0">
            <a:noAutofit/>
          </a:bodyPr>
          <a:lstStyle/>
          <a:p>
            <a:r>
              <a:rPr lang="en-US" sz="1800" b="1" dirty="0">
                <a:solidFill>
                  <a:srgbClr val="111111"/>
                </a:solidFill>
                <a:latin typeface="Calibri"/>
                <a:ea typeface="Calibri"/>
                <a:cs typeface="Calibri"/>
                <a:sym typeface="Calibri"/>
              </a:rPr>
              <a:t>Increased fuel consumption</a:t>
            </a:r>
            <a:endParaRPr lang="es-ES" dirty="0"/>
          </a:p>
        </p:txBody>
      </p:sp>
      <p:sp>
        <p:nvSpPr>
          <p:cNvPr id="65" name="Shape 65">
            <a:extLst>
              <a:ext uri="{FF2B5EF4-FFF2-40B4-BE49-F238E27FC236}">
                <a16:creationId xmlns:a16="http://schemas.microsoft.com/office/drawing/2014/main" id="{F7E2F511-F515-E293-6C10-41D44EBF5FBD}"/>
              </a:ext>
            </a:extLst>
          </p:cNvPr>
          <p:cNvSpPr txBox="1"/>
          <p:nvPr/>
        </p:nvSpPr>
        <p:spPr>
          <a:xfrm>
            <a:off x="5334000" y="2681360"/>
            <a:ext cx="3606800" cy="277083"/>
          </a:xfrm>
          <a:prstGeom prst="rect">
            <a:avLst/>
          </a:prstGeom>
          <a:noFill/>
          <a:ln>
            <a:noFill/>
          </a:ln>
        </p:spPr>
        <p:txBody>
          <a:bodyPr lIns="91425" tIns="45700" rIns="91425" bIns="45700" anchor="t" anchorCtr="0">
            <a:noAutofit/>
          </a:bodyPr>
          <a:lstStyle/>
          <a:p>
            <a:pPr algn="ctr"/>
            <a:r>
              <a:rPr lang="en-US" sz="1800" b="1" dirty="0">
                <a:solidFill>
                  <a:srgbClr val="111111"/>
                </a:solidFill>
                <a:latin typeface="Calibri"/>
                <a:ea typeface="Calibri"/>
                <a:cs typeface="Calibri"/>
                <a:sym typeface="Calibri"/>
              </a:rPr>
              <a:t>Additional travel times</a:t>
            </a:r>
            <a:endParaRPr lang="es-ES" dirty="0"/>
          </a:p>
        </p:txBody>
      </p:sp>
      <p:sp>
        <p:nvSpPr>
          <p:cNvPr id="68" name="Shape 68">
            <a:extLst>
              <a:ext uri="{FF2B5EF4-FFF2-40B4-BE49-F238E27FC236}">
                <a16:creationId xmlns:a16="http://schemas.microsoft.com/office/drawing/2014/main" id="{AF719741-2E36-697D-CB34-9CDAA70F1FA3}"/>
              </a:ext>
            </a:extLst>
          </p:cNvPr>
          <p:cNvSpPr txBox="1"/>
          <p:nvPr/>
        </p:nvSpPr>
        <p:spPr>
          <a:xfrm>
            <a:off x="0" y="2738296"/>
            <a:ext cx="3525838" cy="276962"/>
          </a:xfrm>
          <a:prstGeom prst="rect">
            <a:avLst/>
          </a:prstGeom>
          <a:noFill/>
          <a:ln>
            <a:noFill/>
          </a:ln>
        </p:spPr>
        <p:txBody>
          <a:bodyPr lIns="91425" tIns="45700" rIns="91425" bIns="45700" anchor="t" anchorCtr="0">
            <a:noAutofit/>
          </a:bodyPr>
          <a:lstStyle/>
          <a:p>
            <a:pPr marL="0" marR="0" lvl="0" indent="0" algn="ctr">
              <a:spcBef>
                <a:spcPts val="0"/>
              </a:spcBef>
              <a:buNone/>
            </a:pPr>
            <a:r>
              <a:rPr lang="en-US" sz="1800" b="1" dirty="0">
                <a:solidFill>
                  <a:srgbClr val="111111"/>
                </a:solidFill>
                <a:latin typeface="Calibri"/>
                <a:ea typeface="Calibri"/>
                <a:cs typeface="Calibri"/>
                <a:sym typeface="Calibri"/>
              </a:rPr>
              <a:t>Pollution</a:t>
            </a:r>
            <a:endParaRPr lang="es-ES" dirty="0"/>
          </a:p>
        </p:txBody>
      </p:sp>
      <p:pic>
        <p:nvPicPr>
          <p:cNvPr id="2" name="Imagen 1">
            <a:extLst>
              <a:ext uri="{FF2B5EF4-FFF2-40B4-BE49-F238E27FC236}">
                <a16:creationId xmlns:a16="http://schemas.microsoft.com/office/drawing/2014/main" id="{5A03E1D1-1E42-1CD3-1062-58F5DFB0987D}"/>
              </a:ext>
            </a:extLst>
          </p:cNvPr>
          <p:cNvPicPr>
            <a:picLocks noChangeAspect="1"/>
          </p:cNvPicPr>
          <p:nvPr/>
        </p:nvPicPr>
        <p:blipFill>
          <a:blip r:embed="rId3"/>
          <a:srcRect l="21756" r="377" b="-3097"/>
          <a:stretch>
            <a:fillRect/>
          </a:stretch>
        </p:blipFill>
        <p:spPr>
          <a:xfrm>
            <a:off x="457269" y="1220888"/>
            <a:ext cx="2617939" cy="1516989"/>
          </a:xfrm>
          <a:prstGeom prst="rect">
            <a:avLst/>
          </a:prstGeom>
        </p:spPr>
      </p:pic>
      <p:pic>
        <p:nvPicPr>
          <p:cNvPr id="3" name="Imagen 2">
            <a:extLst>
              <a:ext uri="{FF2B5EF4-FFF2-40B4-BE49-F238E27FC236}">
                <a16:creationId xmlns:a16="http://schemas.microsoft.com/office/drawing/2014/main" id="{E85121B0-70F4-3114-0B4B-D5BEC96F639E}"/>
              </a:ext>
            </a:extLst>
          </p:cNvPr>
          <p:cNvPicPr>
            <a:picLocks noChangeAspect="1"/>
          </p:cNvPicPr>
          <p:nvPr/>
        </p:nvPicPr>
        <p:blipFill>
          <a:blip r:embed="rId4"/>
          <a:stretch>
            <a:fillRect/>
          </a:stretch>
        </p:blipFill>
        <p:spPr>
          <a:xfrm>
            <a:off x="5829299" y="1221581"/>
            <a:ext cx="2614614" cy="1457326"/>
          </a:xfrm>
          <a:prstGeom prst="rect">
            <a:avLst/>
          </a:prstGeom>
        </p:spPr>
      </p:pic>
      <p:pic>
        <p:nvPicPr>
          <p:cNvPr id="4" name="Imagen 3">
            <a:extLst>
              <a:ext uri="{FF2B5EF4-FFF2-40B4-BE49-F238E27FC236}">
                <a16:creationId xmlns:a16="http://schemas.microsoft.com/office/drawing/2014/main" id="{EA46540E-AE36-F616-B174-CDCD0FBAE5BD}"/>
              </a:ext>
            </a:extLst>
          </p:cNvPr>
          <p:cNvPicPr>
            <a:picLocks noChangeAspect="1"/>
          </p:cNvPicPr>
          <p:nvPr/>
        </p:nvPicPr>
        <p:blipFill>
          <a:blip r:embed="rId5"/>
          <a:stretch>
            <a:fillRect/>
          </a:stretch>
        </p:blipFill>
        <p:spPr>
          <a:xfrm>
            <a:off x="3148012" y="3069431"/>
            <a:ext cx="2619375" cy="1462088"/>
          </a:xfrm>
          <a:prstGeom prst="rect">
            <a:avLst/>
          </a:prstGeom>
        </p:spPr>
      </p:pic>
    </p:spTree>
    <p:extLst>
      <p:ext uri="{BB962C8B-B14F-4D97-AF65-F5344CB8AC3E}">
        <p14:creationId xmlns:p14="http://schemas.microsoft.com/office/powerpoint/2010/main" val="848106673"/>
      </p:ext>
    </p:extLst>
  </p:cSld>
  <p:clrMapOvr>
    <a:masterClrMapping/>
  </p:clrMapOvr>
  <p:transition spd="slow">
    <p:cu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2">
          <a:extLst>
            <a:ext uri="{FF2B5EF4-FFF2-40B4-BE49-F238E27FC236}">
              <a16:creationId xmlns:a16="http://schemas.microsoft.com/office/drawing/2014/main" id="{43893ED9-5F6B-7EFE-0E19-599B149FF15E}"/>
            </a:ext>
          </a:extLst>
        </p:cNvPr>
        <p:cNvGrpSpPr/>
        <p:nvPr/>
      </p:nvGrpSpPr>
      <p:grpSpPr>
        <a:xfrm>
          <a:off x="0" y="0"/>
          <a:ext cx="0" cy="0"/>
          <a:chOff x="0" y="0"/>
          <a:chExt cx="0" cy="0"/>
        </a:xfrm>
      </p:grpSpPr>
      <p:sp>
        <p:nvSpPr>
          <p:cNvPr id="84" name="Shape 84">
            <a:extLst>
              <a:ext uri="{FF2B5EF4-FFF2-40B4-BE49-F238E27FC236}">
                <a16:creationId xmlns:a16="http://schemas.microsoft.com/office/drawing/2014/main" id="{79195E4F-5E27-3715-2B22-9ADFE2F2E8E8}"/>
              </a:ext>
            </a:extLst>
          </p:cNvPr>
          <p:cNvSpPr/>
          <p:nvPr/>
        </p:nvSpPr>
        <p:spPr>
          <a:xfrm>
            <a:off x="152400" y="4100512"/>
            <a:ext cx="8001000" cy="592800"/>
          </a:xfrm>
          <a:prstGeom prst="rect">
            <a:avLst/>
          </a:prstGeom>
          <a:noFill/>
          <a:ln>
            <a:noFill/>
          </a:ln>
        </p:spPr>
        <p:txBody>
          <a:bodyPr lIns="63500" tIns="25400" rIns="63500" bIns="25400" anchor="t" anchorCtr="0">
            <a:noAutofit/>
          </a:bodyPr>
          <a:lstStyle/>
          <a:p>
            <a:pPr marL="0" marR="0" lvl="0" indent="0" algn="l" rtl="0">
              <a:spcBef>
                <a:spcPts val="0"/>
              </a:spcBef>
              <a:buSzPct val="25000"/>
              <a:buNone/>
            </a:pPr>
            <a:endParaRPr lang="en-US" sz="2400" b="0" i="0" u="none" strike="noStrike" cap="none" baseline="0" dirty="0">
              <a:solidFill>
                <a:srgbClr val="262626"/>
              </a:solidFill>
              <a:latin typeface="Calibri"/>
              <a:ea typeface="Calibri"/>
              <a:cs typeface="Calibri"/>
            </a:endParaRPr>
          </a:p>
        </p:txBody>
      </p:sp>
      <p:sp>
        <p:nvSpPr>
          <p:cNvPr id="86" name="Shape 86">
            <a:extLst>
              <a:ext uri="{FF2B5EF4-FFF2-40B4-BE49-F238E27FC236}">
                <a16:creationId xmlns:a16="http://schemas.microsoft.com/office/drawing/2014/main" id="{EAC46A90-6FAF-A5DE-D7A6-5BAC20C107C8}"/>
              </a:ext>
            </a:extLst>
          </p:cNvPr>
          <p:cNvSpPr txBox="1"/>
          <p:nvPr/>
        </p:nvSpPr>
        <p:spPr>
          <a:xfrm>
            <a:off x="288925" y="45243"/>
            <a:ext cx="184200" cy="297600"/>
          </a:xfrm>
          <a:prstGeom prst="rect">
            <a:avLst/>
          </a:prstGeom>
          <a:noFill/>
          <a:ln>
            <a:noFill/>
          </a:ln>
        </p:spPr>
        <p:txBody>
          <a:bodyPr lIns="91425" tIns="45700" rIns="91425" bIns="45700" anchor="t" anchorCtr="0">
            <a:noAutofit/>
          </a:bodyPr>
          <a:lstStyle/>
          <a:p>
            <a:pPr marL="0" marR="0" lvl="0" indent="0" algn="l" rtl="0">
              <a:spcBef>
                <a:spcPts val="0"/>
              </a:spcBef>
              <a:buNone/>
            </a:pPr>
            <a:endParaRPr sz="1800" b="0" i="0" u="none" strike="noStrike" cap="none" baseline="0">
              <a:solidFill>
                <a:schemeClr val="dk1"/>
              </a:solidFill>
              <a:latin typeface="Calibri"/>
              <a:ea typeface="Calibri"/>
              <a:cs typeface="Calibri"/>
              <a:sym typeface="Calibri"/>
            </a:endParaRPr>
          </a:p>
        </p:txBody>
      </p:sp>
      <p:sp>
        <p:nvSpPr>
          <p:cNvPr id="87" name="Shape 87">
            <a:extLst>
              <a:ext uri="{FF2B5EF4-FFF2-40B4-BE49-F238E27FC236}">
                <a16:creationId xmlns:a16="http://schemas.microsoft.com/office/drawing/2014/main" id="{417ED105-A67D-7A6D-9AF9-D120F3600F48}"/>
              </a:ext>
            </a:extLst>
          </p:cNvPr>
          <p:cNvSpPr txBox="1"/>
          <p:nvPr/>
        </p:nvSpPr>
        <p:spPr>
          <a:xfrm>
            <a:off x="76200" y="57150"/>
            <a:ext cx="8997900" cy="861774"/>
          </a:xfrm>
          <a:prstGeom prst="rect">
            <a:avLst/>
          </a:prstGeom>
          <a:noFill/>
          <a:ln>
            <a:noFill/>
          </a:ln>
        </p:spPr>
        <p:txBody>
          <a:bodyPr lIns="0" tIns="0" rIns="0" bIns="0" anchor="t" anchorCtr="0">
            <a:spAutoFit/>
          </a:bodyPr>
          <a:lstStyle/>
          <a:p>
            <a:r>
              <a:rPr lang="en-US" sz="2800" b="1" dirty="0">
                <a:latin typeface="Calibri"/>
                <a:ea typeface="Calibri"/>
                <a:cs typeface="Calibri"/>
                <a:sym typeface="Calibri"/>
              </a:rPr>
              <a:t>Transportation planning becomes essential for addressing traffic congestion</a:t>
            </a:r>
            <a:endParaRPr lang="es-ES" dirty="0"/>
          </a:p>
        </p:txBody>
      </p:sp>
      <p:sp>
        <p:nvSpPr>
          <p:cNvPr id="5" name="CuadroTexto 4">
            <a:extLst>
              <a:ext uri="{FF2B5EF4-FFF2-40B4-BE49-F238E27FC236}">
                <a16:creationId xmlns:a16="http://schemas.microsoft.com/office/drawing/2014/main" id="{B842A07F-9B49-8767-0BEB-80213551049D}"/>
              </a:ext>
            </a:extLst>
          </p:cNvPr>
          <p:cNvSpPr txBox="1"/>
          <p:nvPr/>
        </p:nvSpPr>
        <p:spPr>
          <a:xfrm>
            <a:off x="1183544" y="4692864"/>
            <a:ext cx="5437268"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1100" i="1" dirty="0" err="1">
                <a:solidFill>
                  <a:schemeClr val="tx1"/>
                </a:solidFill>
                <a:latin typeface="Calibri"/>
                <a:ea typeface="Calibri"/>
                <a:cs typeface="Calibri"/>
              </a:rPr>
              <a:t>Source</a:t>
            </a:r>
            <a:r>
              <a:rPr lang="es-ES" sz="1100" i="1" dirty="0">
                <a:solidFill>
                  <a:schemeClr val="tx1"/>
                </a:solidFill>
                <a:latin typeface="Calibri"/>
                <a:ea typeface="Calibri"/>
                <a:cs typeface="Calibri"/>
              </a:rPr>
              <a:t>: </a:t>
            </a:r>
            <a:r>
              <a:rPr lang="es-ES" sz="1100" i="1" dirty="0" err="1">
                <a:solidFill>
                  <a:schemeClr val="tx1"/>
                </a:solidFill>
                <a:latin typeface="Calibri"/>
                <a:ea typeface="Calibri"/>
                <a:cs typeface="Calibri"/>
              </a:rPr>
              <a:t>Adapted</a:t>
            </a:r>
            <a:r>
              <a:rPr lang="es-ES" sz="1100" i="1" dirty="0">
                <a:solidFill>
                  <a:schemeClr val="tx1"/>
                </a:solidFill>
                <a:latin typeface="Calibri"/>
                <a:ea typeface="Calibri"/>
                <a:cs typeface="Calibri"/>
              </a:rPr>
              <a:t> </a:t>
            </a:r>
            <a:r>
              <a:rPr lang="es-ES" sz="1100" i="1" dirty="0" err="1">
                <a:solidFill>
                  <a:schemeClr val="tx1"/>
                </a:solidFill>
                <a:latin typeface="Calibri"/>
                <a:ea typeface="Calibri"/>
                <a:cs typeface="Calibri"/>
              </a:rPr>
              <a:t>from</a:t>
            </a:r>
            <a:r>
              <a:rPr lang="es-ES" sz="1100" i="1" dirty="0">
                <a:solidFill>
                  <a:schemeClr val="tx1"/>
                </a:solidFill>
                <a:latin typeface="Calibri"/>
                <a:ea typeface="Calibri"/>
                <a:cs typeface="Calibri"/>
              </a:rPr>
              <a:t> Boyles et al. (2025),</a:t>
            </a:r>
            <a:r>
              <a:rPr lang="es-ES" sz="1100" dirty="0">
                <a:solidFill>
                  <a:schemeClr val="tx1"/>
                </a:solidFill>
                <a:latin typeface="Calibri"/>
                <a:ea typeface="Calibri"/>
                <a:cs typeface="Calibri"/>
              </a:rPr>
              <a:t> </a:t>
            </a:r>
            <a:r>
              <a:rPr lang="es-ES" sz="1100" i="1" dirty="0" err="1">
                <a:solidFill>
                  <a:schemeClr val="tx1"/>
                </a:solidFill>
                <a:latin typeface="Calibri"/>
                <a:ea typeface="Calibri"/>
                <a:cs typeface="Calibri"/>
              </a:rPr>
              <a:t>Static</a:t>
            </a:r>
            <a:r>
              <a:rPr lang="es-ES" sz="1100" i="1" dirty="0">
                <a:solidFill>
                  <a:schemeClr val="tx1"/>
                </a:solidFill>
                <a:latin typeface="Calibri"/>
                <a:ea typeface="Calibri"/>
                <a:cs typeface="Calibri"/>
              </a:rPr>
              <a:t> and Dynamic </a:t>
            </a:r>
            <a:r>
              <a:rPr lang="es-ES" sz="1100" i="1" dirty="0" err="1">
                <a:solidFill>
                  <a:schemeClr val="tx1"/>
                </a:solidFill>
                <a:latin typeface="Calibri"/>
                <a:ea typeface="Calibri"/>
                <a:cs typeface="Calibri"/>
              </a:rPr>
              <a:t>Traffic</a:t>
            </a:r>
            <a:r>
              <a:rPr lang="es-ES" sz="1100" i="1" dirty="0">
                <a:solidFill>
                  <a:schemeClr val="tx1"/>
                </a:solidFill>
                <a:latin typeface="Calibri"/>
                <a:ea typeface="Calibri"/>
                <a:cs typeface="Calibri"/>
              </a:rPr>
              <a:t> </a:t>
            </a:r>
            <a:r>
              <a:rPr lang="es-ES" sz="1100" i="1" dirty="0" err="1">
                <a:solidFill>
                  <a:schemeClr val="tx1"/>
                </a:solidFill>
                <a:latin typeface="Calibri"/>
                <a:ea typeface="Calibri"/>
                <a:cs typeface="Calibri"/>
              </a:rPr>
              <a:t>Assignment</a:t>
            </a:r>
            <a:r>
              <a:rPr lang="es-ES" sz="1100" i="1" dirty="0">
                <a:solidFill>
                  <a:schemeClr val="tx1"/>
                </a:solidFill>
                <a:latin typeface="Calibri"/>
                <a:ea typeface="Calibri"/>
                <a:cs typeface="Calibri"/>
              </a:rPr>
              <a:t>.</a:t>
            </a:r>
            <a:endParaRPr lang="es-ES" dirty="0">
              <a:solidFill>
                <a:schemeClr val="tx1"/>
              </a:solidFill>
              <a:latin typeface="Calibri"/>
              <a:ea typeface="Calibri"/>
              <a:cs typeface="Calibri"/>
            </a:endParaRPr>
          </a:p>
        </p:txBody>
      </p:sp>
      <p:pic>
        <p:nvPicPr>
          <p:cNvPr id="2" name="Imagen 1">
            <a:extLst>
              <a:ext uri="{FF2B5EF4-FFF2-40B4-BE49-F238E27FC236}">
                <a16:creationId xmlns:a16="http://schemas.microsoft.com/office/drawing/2014/main" id="{DA2CC079-3711-4F0D-21AF-3715B9FDB90B}"/>
              </a:ext>
            </a:extLst>
          </p:cNvPr>
          <p:cNvPicPr>
            <a:picLocks noChangeAspect="1"/>
          </p:cNvPicPr>
          <p:nvPr/>
        </p:nvPicPr>
        <p:blipFill>
          <a:blip r:embed="rId3"/>
          <a:stretch>
            <a:fillRect/>
          </a:stretch>
        </p:blipFill>
        <p:spPr>
          <a:xfrm>
            <a:off x="714376" y="1126561"/>
            <a:ext cx="7715250" cy="3426159"/>
          </a:xfrm>
          <a:prstGeom prst="rect">
            <a:avLst/>
          </a:prstGeom>
        </p:spPr>
      </p:pic>
    </p:spTree>
    <p:extLst>
      <p:ext uri="{BB962C8B-B14F-4D97-AF65-F5344CB8AC3E}">
        <p14:creationId xmlns:p14="http://schemas.microsoft.com/office/powerpoint/2010/main" val="1289120151"/>
      </p:ext>
    </p:extLst>
  </p:cSld>
  <p:clrMapOvr>
    <a:masterClrMapping/>
  </p:clrMapOvr>
  <p:transition spd="slow">
    <p:cut/>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4">
          <a:extLst>
            <a:ext uri="{FF2B5EF4-FFF2-40B4-BE49-F238E27FC236}">
              <a16:creationId xmlns:a16="http://schemas.microsoft.com/office/drawing/2014/main" id="{45D45A30-8986-0E63-46CA-2DECA1BCFA4A}"/>
            </a:ext>
          </a:extLst>
        </p:cNvPr>
        <p:cNvGrpSpPr/>
        <p:nvPr/>
      </p:nvGrpSpPr>
      <p:grpSpPr>
        <a:xfrm>
          <a:off x="0" y="0"/>
          <a:ext cx="0" cy="0"/>
          <a:chOff x="0" y="0"/>
          <a:chExt cx="0" cy="0"/>
        </a:xfrm>
      </p:grpSpPr>
      <p:sp>
        <p:nvSpPr>
          <p:cNvPr id="59" name="Shape 59">
            <a:extLst>
              <a:ext uri="{FF2B5EF4-FFF2-40B4-BE49-F238E27FC236}">
                <a16:creationId xmlns:a16="http://schemas.microsoft.com/office/drawing/2014/main" id="{D4D585E9-6B4C-AB37-092C-F1B176542113}"/>
              </a:ext>
            </a:extLst>
          </p:cNvPr>
          <p:cNvSpPr txBox="1"/>
          <p:nvPr/>
        </p:nvSpPr>
        <p:spPr>
          <a:xfrm>
            <a:off x="228600" y="114300"/>
            <a:ext cx="184200" cy="297600"/>
          </a:xfrm>
          <a:prstGeom prst="rect">
            <a:avLst/>
          </a:prstGeom>
          <a:noFill/>
          <a:ln>
            <a:noFill/>
          </a:ln>
        </p:spPr>
        <p:txBody>
          <a:bodyPr lIns="91425" tIns="45700" rIns="91425" bIns="45700" anchor="t" anchorCtr="0">
            <a:noAutofit/>
          </a:bodyPr>
          <a:lstStyle/>
          <a:p>
            <a:pPr marL="0" marR="0" lvl="0" indent="0" algn="l" rtl="0">
              <a:spcBef>
                <a:spcPts val="0"/>
              </a:spcBef>
              <a:buNone/>
            </a:pPr>
            <a:endParaRPr sz="1800" b="0" i="0" u="none" strike="noStrike" cap="none" baseline="0">
              <a:solidFill>
                <a:schemeClr val="dk1"/>
              </a:solidFill>
              <a:latin typeface="Calibri"/>
              <a:ea typeface="Calibri"/>
              <a:cs typeface="Calibri"/>
              <a:sym typeface="Calibri"/>
            </a:endParaRPr>
          </a:p>
        </p:txBody>
      </p:sp>
      <p:sp>
        <p:nvSpPr>
          <p:cNvPr id="60" name="Shape 60">
            <a:extLst>
              <a:ext uri="{FF2B5EF4-FFF2-40B4-BE49-F238E27FC236}">
                <a16:creationId xmlns:a16="http://schemas.microsoft.com/office/drawing/2014/main" id="{7583B905-4F09-F7C9-9D18-45AD0284B5F9}"/>
              </a:ext>
            </a:extLst>
          </p:cNvPr>
          <p:cNvSpPr txBox="1"/>
          <p:nvPr/>
        </p:nvSpPr>
        <p:spPr>
          <a:xfrm>
            <a:off x="76200" y="57150"/>
            <a:ext cx="9017100" cy="430887"/>
          </a:xfrm>
          <a:prstGeom prst="rect">
            <a:avLst/>
          </a:prstGeom>
          <a:noFill/>
          <a:ln>
            <a:noFill/>
          </a:ln>
        </p:spPr>
        <p:txBody>
          <a:bodyPr lIns="0" tIns="0" rIns="0" bIns="0" anchor="t" anchorCtr="0">
            <a:spAutoFit/>
          </a:bodyPr>
          <a:lstStyle>
            <a:defPPr marR="0" algn="l" rtl="0">
              <a:lnSpc>
                <a:spcPct val="100000"/>
              </a:lnSpc>
              <a:spcBef>
                <a:spcPts val="0"/>
              </a:spcBef>
              <a:spcAft>
                <a:spcPts val="0"/>
              </a:spcAft>
            </a:defPPr>
            <a:lvl1pPr marL="0" lvl="0" indent="0">
              <a:buSzPct val="25000"/>
              <a:defRPr sz="3200" b="1">
                <a:latin typeface="Calibri"/>
                <a:ea typeface="Calibri"/>
                <a:cs typeface="Calibri"/>
              </a:defRPr>
            </a:lvl1pPr>
          </a:lstStyle>
          <a:p>
            <a:r>
              <a:rPr lang="en-US" sz="2800" dirty="0">
                <a:sym typeface="Calibri"/>
              </a:rPr>
              <a:t>Traffic assignment model</a:t>
            </a:r>
            <a:endParaRPr lang="es-ES" dirty="0"/>
          </a:p>
        </p:txBody>
      </p:sp>
      <p:sp>
        <p:nvSpPr>
          <p:cNvPr id="65" name="Shape 65">
            <a:extLst>
              <a:ext uri="{FF2B5EF4-FFF2-40B4-BE49-F238E27FC236}">
                <a16:creationId xmlns:a16="http://schemas.microsoft.com/office/drawing/2014/main" id="{B3B558EE-68E5-42BD-CA3E-1BCF77769492}"/>
              </a:ext>
            </a:extLst>
          </p:cNvPr>
          <p:cNvSpPr txBox="1"/>
          <p:nvPr/>
        </p:nvSpPr>
        <p:spPr>
          <a:xfrm>
            <a:off x="5447915" y="1048419"/>
            <a:ext cx="3084341" cy="310984"/>
          </a:xfrm>
          <a:prstGeom prst="rect">
            <a:avLst/>
          </a:prstGeom>
          <a:noFill/>
          <a:ln>
            <a:noFill/>
          </a:ln>
        </p:spPr>
        <p:txBody>
          <a:bodyPr lIns="91425" tIns="45700" rIns="91425" bIns="45700" anchor="t" anchorCtr="0">
            <a:noAutofit/>
          </a:bodyPr>
          <a:lstStyle/>
          <a:p>
            <a:pPr algn="ctr"/>
            <a:r>
              <a:rPr lang="en-US" b="1" dirty="0">
                <a:solidFill>
                  <a:srgbClr val="111111"/>
                </a:solidFill>
                <a:latin typeface="Calibri"/>
                <a:ea typeface="Calibri"/>
                <a:cs typeface="Calibri"/>
              </a:rPr>
              <a:t>Implemented version</a:t>
            </a:r>
          </a:p>
        </p:txBody>
      </p:sp>
      <p:sp>
        <p:nvSpPr>
          <p:cNvPr id="68" name="Shape 68">
            <a:extLst>
              <a:ext uri="{FF2B5EF4-FFF2-40B4-BE49-F238E27FC236}">
                <a16:creationId xmlns:a16="http://schemas.microsoft.com/office/drawing/2014/main" id="{897CD498-FD84-DAF1-456C-8000CB57D8BA}"/>
              </a:ext>
            </a:extLst>
          </p:cNvPr>
          <p:cNvSpPr txBox="1"/>
          <p:nvPr/>
        </p:nvSpPr>
        <p:spPr>
          <a:xfrm>
            <a:off x="771525" y="1044922"/>
            <a:ext cx="3082152" cy="307386"/>
          </a:xfrm>
          <a:prstGeom prst="rect">
            <a:avLst/>
          </a:prstGeom>
          <a:noFill/>
          <a:ln>
            <a:noFill/>
          </a:ln>
        </p:spPr>
        <p:txBody>
          <a:bodyPr lIns="91425" tIns="45700" rIns="91425" bIns="45700" anchor="t" anchorCtr="0">
            <a:noAutofit/>
          </a:bodyPr>
          <a:lstStyle/>
          <a:p>
            <a:pPr algn="ctr"/>
            <a:r>
              <a:rPr lang="en-US" b="1" dirty="0">
                <a:solidFill>
                  <a:srgbClr val="111111"/>
                </a:solidFill>
                <a:latin typeface="Calibri"/>
                <a:ea typeface="Calibri"/>
                <a:cs typeface="Calibri"/>
                <a:sym typeface="Calibri"/>
              </a:rPr>
              <a:t>Generic version</a:t>
            </a:r>
            <a:endParaRPr lang="es-ES" dirty="0"/>
          </a:p>
        </p:txBody>
      </p:sp>
      <p:pic>
        <p:nvPicPr>
          <p:cNvPr id="4" name="Imagen 3">
            <a:extLst>
              <a:ext uri="{FF2B5EF4-FFF2-40B4-BE49-F238E27FC236}">
                <a16:creationId xmlns:a16="http://schemas.microsoft.com/office/drawing/2014/main" id="{0D46EF1F-B9CD-6FFA-9FBC-BB0923ED6E84}"/>
              </a:ext>
            </a:extLst>
          </p:cNvPr>
          <p:cNvPicPr>
            <a:picLocks noChangeAspect="1"/>
          </p:cNvPicPr>
          <p:nvPr/>
        </p:nvPicPr>
        <p:blipFill>
          <a:blip r:embed="rId3"/>
          <a:stretch>
            <a:fillRect/>
          </a:stretch>
        </p:blipFill>
        <p:spPr>
          <a:xfrm>
            <a:off x="21431" y="1538333"/>
            <a:ext cx="4686301" cy="1659644"/>
          </a:xfrm>
          <a:prstGeom prst="rect">
            <a:avLst/>
          </a:prstGeom>
        </p:spPr>
      </p:pic>
      <p:pic>
        <p:nvPicPr>
          <p:cNvPr id="5" name="Imagen 4" descr="Diagrama&#10;&#10;El contenido generado por IA puede ser incorrecto.">
            <a:extLst>
              <a:ext uri="{FF2B5EF4-FFF2-40B4-BE49-F238E27FC236}">
                <a16:creationId xmlns:a16="http://schemas.microsoft.com/office/drawing/2014/main" id="{E5F25DC5-61DF-1375-6400-5B363CBC37A1}"/>
              </a:ext>
            </a:extLst>
          </p:cNvPr>
          <p:cNvPicPr>
            <a:picLocks noChangeAspect="1"/>
          </p:cNvPicPr>
          <p:nvPr/>
        </p:nvPicPr>
        <p:blipFill>
          <a:blip r:embed="rId4"/>
          <a:stretch>
            <a:fillRect/>
          </a:stretch>
        </p:blipFill>
        <p:spPr>
          <a:xfrm>
            <a:off x="5024439" y="1352550"/>
            <a:ext cx="3924301" cy="2038351"/>
          </a:xfrm>
          <a:prstGeom prst="rect">
            <a:avLst/>
          </a:prstGeom>
        </p:spPr>
      </p:pic>
      <p:sp>
        <p:nvSpPr>
          <p:cNvPr id="3" name="CuadroTexto 2">
            <a:extLst>
              <a:ext uri="{FF2B5EF4-FFF2-40B4-BE49-F238E27FC236}">
                <a16:creationId xmlns:a16="http://schemas.microsoft.com/office/drawing/2014/main" id="{303195E5-5368-6461-F076-0BDB6CBDCFC7}"/>
              </a:ext>
            </a:extLst>
          </p:cNvPr>
          <p:cNvSpPr txBox="1"/>
          <p:nvPr/>
        </p:nvSpPr>
        <p:spPr>
          <a:xfrm>
            <a:off x="190562" y="3235539"/>
            <a:ext cx="4830050"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1000" i="1" dirty="0" err="1">
                <a:solidFill>
                  <a:schemeClr val="tx1"/>
                </a:solidFill>
                <a:latin typeface="Calibri"/>
                <a:ea typeface="Calibri"/>
                <a:cs typeface="Calibri"/>
              </a:rPr>
              <a:t>Source</a:t>
            </a:r>
            <a:r>
              <a:rPr lang="es-ES" sz="1000" i="1" dirty="0">
                <a:solidFill>
                  <a:schemeClr val="tx1"/>
                </a:solidFill>
                <a:latin typeface="Calibri"/>
                <a:ea typeface="Calibri"/>
                <a:cs typeface="Calibri"/>
              </a:rPr>
              <a:t>: </a:t>
            </a:r>
            <a:r>
              <a:rPr lang="es-ES" sz="1000" i="1" dirty="0" err="1">
                <a:solidFill>
                  <a:schemeClr val="tx1"/>
                </a:solidFill>
                <a:latin typeface="Calibri"/>
                <a:ea typeface="Calibri"/>
                <a:cs typeface="Calibri"/>
              </a:rPr>
              <a:t>Adapted</a:t>
            </a:r>
            <a:r>
              <a:rPr lang="es-ES" sz="1000" i="1" dirty="0">
                <a:solidFill>
                  <a:schemeClr val="tx1"/>
                </a:solidFill>
                <a:latin typeface="Calibri"/>
                <a:ea typeface="Calibri"/>
                <a:cs typeface="Calibri"/>
              </a:rPr>
              <a:t> </a:t>
            </a:r>
            <a:r>
              <a:rPr lang="es-ES" sz="1000" i="1" dirty="0" err="1">
                <a:solidFill>
                  <a:schemeClr val="tx1"/>
                </a:solidFill>
                <a:latin typeface="Calibri"/>
                <a:ea typeface="Calibri"/>
                <a:cs typeface="Calibri"/>
              </a:rPr>
              <a:t>from</a:t>
            </a:r>
            <a:r>
              <a:rPr lang="es-ES" sz="1000" i="1" dirty="0">
                <a:solidFill>
                  <a:schemeClr val="tx1"/>
                </a:solidFill>
                <a:latin typeface="Calibri"/>
                <a:ea typeface="Calibri"/>
                <a:cs typeface="Calibri"/>
              </a:rPr>
              <a:t> Boyles et al. (2025),</a:t>
            </a:r>
            <a:r>
              <a:rPr lang="es-ES" sz="1000" dirty="0">
                <a:solidFill>
                  <a:schemeClr val="tx1"/>
                </a:solidFill>
                <a:latin typeface="Calibri"/>
                <a:ea typeface="Calibri"/>
                <a:cs typeface="Calibri"/>
              </a:rPr>
              <a:t> </a:t>
            </a:r>
            <a:r>
              <a:rPr lang="es-ES" sz="1000" i="1" dirty="0" err="1">
                <a:solidFill>
                  <a:schemeClr val="tx1"/>
                </a:solidFill>
                <a:latin typeface="Calibri"/>
                <a:ea typeface="Calibri"/>
                <a:cs typeface="Calibri"/>
              </a:rPr>
              <a:t>Static</a:t>
            </a:r>
            <a:r>
              <a:rPr lang="es-ES" sz="1000" i="1" dirty="0">
                <a:solidFill>
                  <a:schemeClr val="tx1"/>
                </a:solidFill>
                <a:latin typeface="Calibri"/>
                <a:ea typeface="Calibri"/>
                <a:cs typeface="Calibri"/>
              </a:rPr>
              <a:t> and Dynamic </a:t>
            </a:r>
            <a:r>
              <a:rPr lang="es-ES" sz="1000" i="1" dirty="0" err="1">
                <a:solidFill>
                  <a:schemeClr val="tx1"/>
                </a:solidFill>
                <a:latin typeface="Calibri"/>
                <a:ea typeface="Calibri"/>
                <a:cs typeface="Calibri"/>
              </a:rPr>
              <a:t>Traffic</a:t>
            </a:r>
            <a:r>
              <a:rPr lang="es-ES" sz="1000" i="1" dirty="0">
                <a:solidFill>
                  <a:schemeClr val="tx1"/>
                </a:solidFill>
                <a:latin typeface="Calibri"/>
                <a:ea typeface="Calibri"/>
                <a:cs typeface="Calibri"/>
              </a:rPr>
              <a:t> </a:t>
            </a:r>
            <a:r>
              <a:rPr lang="es-ES" sz="1000" i="1" dirty="0" err="1">
                <a:solidFill>
                  <a:schemeClr val="tx1"/>
                </a:solidFill>
                <a:latin typeface="Calibri"/>
                <a:ea typeface="Calibri"/>
                <a:cs typeface="Calibri"/>
              </a:rPr>
              <a:t>Assignment</a:t>
            </a:r>
            <a:r>
              <a:rPr lang="es-ES" sz="1000" i="1" dirty="0">
                <a:solidFill>
                  <a:schemeClr val="tx1"/>
                </a:solidFill>
                <a:latin typeface="Calibri"/>
                <a:ea typeface="Calibri"/>
                <a:cs typeface="Calibri"/>
              </a:rPr>
              <a:t>.</a:t>
            </a:r>
            <a:endParaRPr lang="es-ES" sz="1000" dirty="0">
              <a:solidFill>
                <a:schemeClr val="tx1"/>
              </a:solidFill>
              <a:latin typeface="Calibri"/>
              <a:ea typeface="Calibri"/>
              <a:cs typeface="Calibri"/>
            </a:endParaRPr>
          </a:p>
        </p:txBody>
      </p:sp>
      <p:sp>
        <p:nvSpPr>
          <p:cNvPr id="10" name="Shape 84">
            <a:extLst>
              <a:ext uri="{FF2B5EF4-FFF2-40B4-BE49-F238E27FC236}">
                <a16:creationId xmlns:a16="http://schemas.microsoft.com/office/drawing/2014/main" id="{FFEE821C-E2AA-F897-24A1-F2C819A56293}"/>
              </a:ext>
            </a:extLst>
          </p:cNvPr>
          <p:cNvSpPr/>
          <p:nvPr/>
        </p:nvSpPr>
        <p:spPr>
          <a:xfrm>
            <a:off x="152400" y="4100512"/>
            <a:ext cx="8001000" cy="592800"/>
          </a:xfrm>
          <a:prstGeom prst="rect">
            <a:avLst/>
          </a:prstGeom>
          <a:noFill/>
          <a:ln>
            <a:noFill/>
          </a:ln>
        </p:spPr>
        <p:txBody>
          <a:bodyPr lIns="63500" tIns="25400" rIns="63500" bIns="25400" anchor="t" anchorCtr="0">
            <a:noAutofit/>
          </a:bodyPr>
          <a:lstStyle/>
          <a:p>
            <a:r>
              <a:rPr lang="en-US" sz="1800" dirty="0">
                <a:solidFill>
                  <a:srgbClr val="262626"/>
                </a:solidFill>
                <a:latin typeface="Calibri"/>
                <a:ea typeface="Calibri"/>
                <a:cs typeface="Calibri"/>
                <a:sym typeface="Calibri"/>
              </a:rPr>
              <a:t>User Equilibrium: Drivers have perfect information and choose routes that minimize their travel time.</a:t>
            </a:r>
            <a:endParaRPr lang="es-ES" sz="1800" u="sng" dirty="0"/>
          </a:p>
        </p:txBody>
      </p:sp>
    </p:spTree>
    <p:extLst>
      <p:ext uri="{BB962C8B-B14F-4D97-AF65-F5344CB8AC3E}">
        <p14:creationId xmlns:p14="http://schemas.microsoft.com/office/powerpoint/2010/main" val="340119989"/>
      </p:ext>
    </p:extLst>
  </p:cSld>
  <p:clrMapOvr>
    <a:masterClrMapping/>
  </p:clrMapOvr>
  <p:transition spd="slow">
    <p:cut/>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D567EA5E-D896-101E-CEED-F6E55BA94674}"/>
              </a:ext>
            </a:extLst>
          </p:cNvPr>
          <p:cNvSpPr>
            <a:spLocks noGrp="1"/>
          </p:cNvSpPr>
          <p:nvPr>
            <p:ph type="title"/>
          </p:nvPr>
        </p:nvSpPr>
        <p:spPr>
          <a:xfrm>
            <a:off x="73152" y="73152"/>
            <a:ext cx="8863030" cy="861774"/>
          </a:xfrm>
        </p:spPr>
        <p:txBody>
          <a:bodyPr wrap="square" lIns="0" tIns="0" rIns="0" bIns="0" anchor="t">
            <a:spAutoFit/>
          </a:bodyPr>
          <a:lstStyle/>
          <a:p>
            <a:r>
              <a:rPr lang="es-ES" dirty="0" err="1">
                <a:latin typeface="Calibri"/>
                <a:ea typeface="Calibri"/>
                <a:cs typeface="Calibri"/>
              </a:rPr>
              <a:t>Bounded</a:t>
            </a:r>
            <a:r>
              <a:rPr lang="es-ES" dirty="0">
                <a:latin typeface="Calibri"/>
                <a:ea typeface="Calibri"/>
                <a:cs typeface="Calibri"/>
              </a:rPr>
              <a:t> </a:t>
            </a:r>
            <a:r>
              <a:rPr lang="es-ES" dirty="0" err="1">
                <a:latin typeface="Calibri"/>
                <a:ea typeface="Calibri"/>
                <a:cs typeface="Calibri"/>
              </a:rPr>
              <a:t>rationality</a:t>
            </a:r>
            <a:r>
              <a:rPr lang="es-ES" dirty="0">
                <a:latin typeface="Calibri"/>
                <a:ea typeface="Calibri"/>
                <a:cs typeface="Calibri"/>
              </a:rPr>
              <a:t> captures </a:t>
            </a:r>
            <a:r>
              <a:rPr lang="es-ES" dirty="0" err="1">
                <a:latin typeface="Calibri"/>
                <a:ea typeface="Calibri"/>
                <a:cs typeface="Calibri"/>
              </a:rPr>
              <a:t>the</a:t>
            </a:r>
            <a:r>
              <a:rPr lang="es-ES" dirty="0">
                <a:latin typeface="Calibri"/>
                <a:ea typeface="Calibri"/>
                <a:cs typeface="Calibri"/>
              </a:rPr>
              <a:t> </a:t>
            </a:r>
            <a:r>
              <a:rPr lang="es-ES" dirty="0" err="1">
                <a:latin typeface="Calibri"/>
                <a:ea typeface="Calibri"/>
                <a:cs typeface="Calibri"/>
              </a:rPr>
              <a:t>limitations</a:t>
            </a:r>
            <a:r>
              <a:rPr lang="es-ES" dirty="0">
                <a:latin typeface="Calibri"/>
                <a:ea typeface="Calibri"/>
                <a:cs typeface="Calibri"/>
              </a:rPr>
              <a:t> </a:t>
            </a:r>
            <a:r>
              <a:rPr lang="es-ES" dirty="0" err="1">
                <a:latin typeface="Calibri"/>
                <a:ea typeface="Calibri"/>
                <a:cs typeface="Calibri"/>
              </a:rPr>
              <a:t>of</a:t>
            </a:r>
            <a:r>
              <a:rPr lang="es-ES" dirty="0">
                <a:latin typeface="Calibri"/>
                <a:ea typeface="Calibri"/>
                <a:cs typeface="Calibri"/>
              </a:rPr>
              <a:t> human </a:t>
            </a:r>
            <a:r>
              <a:rPr lang="es-ES" dirty="0" err="1">
                <a:latin typeface="Calibri"/>
                <a:ea typeface="Calibri"/>
                <a:cs typeface="Calibri"/>
              </a:rPr>
              <a:t>decision-making</a:t>
            </a:r>
            <a:endParaRPr lang="es-ES" dirty="0" err="1">
              <a:ea typeface="Calibri"/>
              <a:cs typeface="Calibri"/>
            </a:endParaRPr>
          </a:p>
        </p:txBody>
      </p:sp>
      <p:pic>
        <p:nvPicPr>
          <p:cNvPr id="2" name="Imagen 1" descr="Mapa&#10;&#10;El contenido generado por IA puede ser incorrecto.">
            <a:extLst>
              <a:ext uri="{FF2B5EF4-FFF2-40B4-BE49-F238E27FC236}">
                <a16:creationId xmlns:a16="http://schemas.microsoft.com/office/drawing/2014/main" id="{7B922F7B-E5CD-84B0-1563-9653EC08D853}"/>
              </a:ext>
            </a:extLst>
          </p:cNvPr>
          <p:cNvPicPr>
            <a:picLocks noChangeAspect="1"/>
          </p:cNvPicPr>
          <p:nvPr/>
        </p:nvPicPr>
        <p:blipFill>
          <a:blip r:embed="rId2"/>
          <a:stretch>
            <a:fillRect/>
          </a:stretch>
        </p:blipFill>
        <p:spPr>
          <a:xfrm>
            <a:off x="525162" y="1016678"/>
            <a:ext cx="7529899" cy="3897887"/>
          </a:xfrm>
          <a:prstGeom prst="rect">
            <a:avLst/>
          </a:prstGeom>
        </p:spPr>
      </p:pic>
    </p:spTree>
    <p:extLst>
      <p:ext uri="{BB962C8B-B14F-4D97-AF65-F5344CB8AC3E}">
        <p14:creationId xmlns:p14="http://schemas.microsoft.com/office/powerpoint/2010/main" val="1111506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E3701F16-0AC5-D3E5-391B-58E46A189DE1}"/>
              </a:ext>
            </a:extLst>
          </p:cNvPr>
          <p:cNvSpPr>
            <a:spLocks noGrp="1"/>
          </p:cNvSpPr>
          <p:nvPr>
            <p:ph type="title"/>
          </p:nvPr>
        </p:nvSpPr>
        <p:spPr/>
        <p:txBody>
          <a:bodyPr wrap="square" lIns="0" tIns="0" rIns="0" bIns="0" anchor="t">
            <a:spAutoFit/>
          </a:bodyPr>
          <a:lstStyle/>
          <a:p>
            <a:r>
              <a:rPr lang="es-ES" dirty="0">
                <a:latin typeface="Calibri"/>
              </a:rPr>
              <a:t>Dynamic </a:t>
            </a:r>
            <a:r>
              <a:rPr lang="es-ES" dirty="0" err="1">
                <a:latin typeface="Calibri"/>
              </a:rPr>
              <a:t>traffic</a:t>
            </a:r>
            <a:r>
              <a:rPr lang="es-ES" dirty="0">
                <a:latin typeface="Calibri"/>
              </a:rPr>
              <a:t> </a:t>
            </a:r>
            <a:r>
              <a:rPr lang="es-ES" dirty="0" err="1">
                <a:latin typeface="Calibri"/>
              </a:rPr>
              <a:t>assignment</a:t>
            </a:r>
            <a:r>
              <a:rPr lang="es-ES" dirty="0">
                <a:latin typeface="Calibri"/>
              </a:rPr>
              <a:t> </a:t>
            </a:r>
            <a:r>
              <a:rPr lang="es-ES" dirty="0" err="1">
                <a:latin typeface="Calibri"/>
              </a:rPr>
              <a:t>models</a:t>
            </a:r>
            <a:r>
              <a:rPr lang="es-ES" dirty="0">
                <a:latin typeface="Calibri"/>
              </a:rPr>
              <a:t> are more </a:t>
            </a:r>
            <a:r>
              <a:rPr lang="es-ES" dirty="0" err="1">
                <a:latin typeface="Calibri"/>
              </a:rPr>
              <a:t>realistic</a:t>
            </a:r>
            <a:endParaRPr lang="es-ES" dirty="0" err="1"/>
          </a:p>
        </p:txBody>
      </p:sp>
      <p:pic>
        <p:nvPicPr>
          <p:cNvPr id="4" name="Imagen 3">
            <a:extLst>
              <a:ext uri="{FF2B5EF4-FFF2-40B4-BE49-F238E27FC236}">
                <a16:creationId xmlns:a16="http://schemas.microsoft.com/office/drawing/2014/main" id="{9D0B7428-BDF6-806C-667E-B5AB4C2A75D7}"/>
              </a:ext>
            </a:extLst>
          </p:cNvPr>
          <p:cNvPicPr>
            <a:picLocks noChangeAspect="1"/>
          </p:cNvPicPr>
          <p:nvPr/>
        </p:nvPicPr>
        <p:blipFill>
          <a:blip r:embed="rId2"/>
          <a:stretch>
            <a:fillRect/>
          </a:stretch>
        </p:blipFill>
        <p:spPr>
          <a:xfrm>
            <a:off x="2382" y="771525"/>
            <a:ext cx="7424737" cy="4100512"/>
          </a:xfrm>
          <a:prstGeom prst="rect">
            <a:avLst/>
          </a:prstGeom>
        </p:spPr>
      </p:pic>
    </p:spTree>
    <p:extLst>
      <p:ext uri="{BB962C8B-B14F-4D97-AF65-F5344CB8AC3E}">
        <p14:creationId xmlns:p14="http://schemas.microsoft.com/office/powerpoint/2010/main" val="6664490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505BDA58-F4BA-BFCE-8234-CA0D187A4E4A}"/>
              </a:ext>
            </a:extLst>
          </p:cNvPr>
          <p:cNvSpPr>
            <a:spLocks noGrp="1"/>
          </p:cNvSpPr>
          <p:nvPr>
            <p:ph type="body" sz="quarter" idx="14"/>
          </p:nvPr>
        </p:nvSpPr>
        <p:spPr>
          <a:xfrm>
            <a:off x="594937" y="2052536"/>
            <a:ext cx="8123372" cy="2123658"/>
          </a:xfrm>
        </p:spPr>
        <p:txBody>
          <a:bodyPr wrap="square" lIns="0" tIns="0" rIns="0" bIns="0" anchor="t">
            <a:spAutoFit/>
          </a:bodyPr>
          <a:lstStyle/>
          <a:p>
            <a:r>
              <a:rPr lang="es-ES" sz="1800" b="0" dirty="0" err="1">
                <a:latin typeface="Calibri"/>
              </a:rPr>
              <a:t>Usually</a:t>
            </a:r>
            <a:r>
              <a:rPr lang="es-ES" sz="1800" b="0" dirty="0">
                <a:latin typeface="Calibri"/>
              </a:rPr>
              <a:t>: Perfect </a:t>
            </a:r>
            <a:r>
              <a:rPr lang="es-ES" sz="1800" b="0" dirty="0" err="1">
                <a:latin typeface="Calibri"/>
              </a:rPr>
              <a:t>rationality</a:t>
            </a:r>
            <a:r>
              <a:rPr lang="es-ES" sz="1800" b="0" dirty="0">
                <a:latin typeface="Calibri"/>
              </a:rPr>
              <a:t> -&gt; </a:t>
            </a:r>
            <a:r>
              <a:rPr lang="es-ES" sz="1800" b="0" dirty="0" err="1">
                <a:latin typeface="Calibri"/>
              </a:rPr>
              <a:t>Conventional</a:t>
            </a:r>
            <a:r>
              <a:rPr lang="es-ES" sz="1800" b="0" dirty="0">
                <a:latin typeface="Calibri"/>
              </a:rPr>
              <a:t> </a:t>
            </a:r>
            <a:r>
              <a:rPr lang="es-ES" sz="1800" b="0" dirty="0" err="1">
                <a:latin typeface="Calibri"/>
              </a:rPr>
              <a:t>approaches</a:t>
            </a:r>
            <a:r>
              <a:rPr lang="es-ES" sz="1800" b="0" dirty="0">
                <a:latin typeface="Calibri"/>
              </a:rPr>
              <a:t> -&gt; DUE</a:t>
            </a:r>
            <a:endParaRPr lang="es-ES" dirty="0"/>
          </a:p>
          <a:p>
            <a:endParaRPr lang="es-ES" sz="1800" b="0" dirty="0">
              <a:latin typeface="Arial"/>
              <a:ea typeface="Calibri"/>
            </a:endParaRPr>
          </a:p>
          <a:p>
            <a:r>
              <a:rPr lang="es-ES" sz="1800" b="0" dirty="0">
                <a:latin typeface="Arial"/>
                <a:ea typeface="Calibri"/>
              </a:rPr>
              <a:t>Goals:</a:t>
            </a:r>
          </a:p>
          <a:p>
            <a:endParaRPr lang="es-ES" b="0" dirty="0">
              <a:latin typeface="Calibri"/>
              <a:ea typeface="Calibri"/>
            </a:endParaRPr>
          </a:p>
          <a:p>
            <a:pPr marL="342900" indent="-342900">
              <a:buAutoNum type="arabicParenR"/>
            </a:pPr>
            <a:r>
              <a:rPr lang="es-ES" sz="1800" b="0" dirty="0">
                <a:latin typeface="Calibri"/>
                <a:ea typeface="Calibri"/>
                <a:cs typeface="Calibri"/>
              </a:rPr>
              <a:t>(</a:t>
            </a:r>
            <a:r>
              <a:rPr lang="es-ES" sz="1800" dirty="0">
                <a:solidFill>
                  <a:srgbClr val="FF0000"/>
                </a:solidFill>
                <a:latin typeface="Calibri"/>
                <a:ea typeface="Calibri"/>
                <a:cs typeface="Calibri"/>
              </a:rPr>
              <a:t>Small </a:t>
            </a:r>
            <a:r>
              <a:rPr lang="es-ES" sz="1800" b="0" err="1">
                <a:latin typeface="Calibri"/>
                <a:ea typeface="Calibri"/>
                <a:cs typeface="Calibri"/>
              </a:rPr>
              <a:t>degree</a:t>
            </a:r>
            <a:r>
              <a:rPr lang="es-ES" sz="1800" b="0" dirty="0">
                <a:latin typeface="Calibri"/>
                <a:ea typeface="Calibri"/>
                <a:cs typeface="Calibri"/>
              </a:rPr>
              <a:t>) </a:t>
            </a:r>
            <a:r>
              <a:rPr lang="es-ES" sz="1800" b="0" err="1">
                <a:latin typeface="Calibri"/>
                <a:ea typeface="Calibri"/>
                <a:cs typeface="Calibri"/>
              </a:rPr>
              <a:t>Bounded</a:t>
            </a:r>
            <a:r>
              <a:rPr lang="es-ES" sz="1800" b="0" dirty="0">
                <a:latin typeface="Calibri"/>
                <a:ea typeface="Calibri"/>
                <a:cs typeface="Calibri"/>
              </a:rPr>
              <a:t> </a:t>
            </a:r>
            <a:r>
              <a:rPr lang="es-ES" sz="1800" b="0" err="1">
                <a:latin typeface="Calibri"/>
                <a:ea typeface="Calibri"/>
                <a:cs typeface="Calibri"/>
              </a:rPr>
              <a:t>rationality</a:t>
            </a:r>
            <a:r>
              <a:rPr lang="es-ES" sz="1800" b="0" dirty="0">
                <a:latin typeface="Calibri"/>
                <a:ea typeface="Calibri"/>
                <a:cs typeface="Calibri"/>
              </a:rPr>
              <a:t> -&gt; MARL </a:t>
            </a:r>
            <a:r>
              <a:rPr lang="es-ES" sz="1800" b="0" err="1">
                <a:latin typeface="Calibri"/>
                <a:ea typeface="Calibri"/>
                <a:cs typeface="Calibri"/>
              </a:rPr>
              <a:t>approach</a:t>
            </a:r>
            <a:r>
              <a:rPr lang="es-ES" sz="1800" b="0" dirty="0">
                <a:latin typeface="Calibri"/>
                <a:ea typeface="Calibri"/>
                <a:cs typeface="Calibri"/>
              </a:rPr>
              <a:t> -&gt; </a:t>
            </a:r>
            <a:r>
              <a:rPr lang="es-ES" sz="1800" dirty="0">
                <a:solidFill>
                  <a:srgbClr val="FF0000"/>
                </a:solidFill>
                <a:latin typeface="Calibri"/>
                <a:ea typeface="Calibri"/>
                <a:cs typeface="Calibri"/>
              </a:rPr>
              <a:t>DUE??</a:t>
            </a:r>
            <a:endParaRPr lang="en-US" sz="1800" dirty="0">
              <a:solidFill>
                <a:srgbClr val="FF0000"/>
              </a:solidFill>
              <a:latin typeface="Calibri"/>
              <a:ea typeface="Calibri"/>
              <a:cs typeface="Calibri"/>
            </a:endParaRPr>
          </a:p>
          <a:p>
            <a:endParaRPr lang="es-ES" b="0" dirty="0">
              <a:latin typeface="Calibri"/>
            </a:endParaRPr>
          </a:p>
          <a:p>
            <a:r>
              <a:rPr lang="es-ES" sz="1800" b="0" dirty="0">
                <a:latin typeface="Calibri"/>
              </a:rPr>
              <a:t>2)   (</a:t>
            </a:r>
            <a:r>
              <a:rPr lang="es-ES" sz="1800" dirty="0">
                <a:solidFill>
                  <a:srgbClr val="FF0000"/>
                </a:solidFill>
                <a:latin typeface="Calibri"/>
              </a:rPr>
              <a:t>High </a:t>
            </a:r>
            <a:r>
              <a:rPr lang="es-ES" sz="1800" b="0" dirty="0" err="1">
                <a:latin typeface="Calibri"/>
              </a:rPr>
              <a:t>degree</a:t>
            </a:r>
            <a:r>
              <a:rPr lang="es-ES" sz="1800" b="0" dirty="0">
                <a:latin typeface="Calibri"/>
              </a:rPr>
              <a:t>) </a:t>
            </a:r>
            <a:r>
              <a:rPr lang="es-ES" sz="1800" b="0" dirty="0" err="1">
                <a:latin typeface="Calibri"/>
              </a:rPr>
              <a:t>Bounded</a:t>
            </a:r>
            <a:r>
              <a:rPr lang="es-ES" sz="1800" b="0" dirty="0">
                <a:latin typeface="Calibri"/>
              </a:rPr>
              <a:t> </a:t>
            </a:r>
            <a:r>
              <a:rPr lang="es-ES" sz="1800" b="0" dirty="0" err="1">
                <a:latin typeface="Calibri"/>
              </a:rPr>
              <a:t>rationality</a:t>
            </a:r>
            <a:r>
              <a:rPr lang="es-ES" sz="1800" b="0" dirty="0">
                <a:latin typeface="Calibri"/>
              </a:rPr>
              <a:t> -&gt; MARL </a:t>
            </a:r>
            <a:r>
              <a:rPr lang="es-ES" sz="1800" b="0" dirty="0" err="1">
                <a:latin typeface="Calibri"/>
              </a:rPr>
              <a:t>approach</a:t>
            </a:r>
            <a:r>
              <a:rPr lang="es-ES" sz="1800" b="0" dirty="0">
                <a:latin typeface="Calibri"/>
              </a:rPr>
              <a:t> -&gt; </a:t>
            </a:r>
            <a:r>
              <a:rPr lang="es-ES" sz="1800" dirty="0">
                <a:solidFill>
                  <a:srgbClr val="FF0000"/>
                </a:solidFill>
                <a:latin typeface="Calibri"/>
              </a:rPr>
              <a:t>DUE??</a:t>
            </a:r>
          </a:p>
        </p:txBody>
      </p:sp>
      <p:sp>
        <p:nvSpPr>
          <p:cNvPr id="3" name="Título 2">
            <a:extLst>
              <a:ext uri="{FF2B5EF4-FFF2-40B4-BE49-F238E27FC236}">
                <a16:creationId xmlns:a16="http://schemas.microsoft.com/office/drawing/2014/main" id="{7244635C-2883-545C-D0FB-E6A5E797667E}"/>
              </a:ext>
            </a:extLst>
          </p:cNvPr>
          <p:cNvSpPr>
            <a:spLocks noGrp="1"/>
          </p:cNvSpPr>
          <p:nvPr>
            <p:ph type="title"/>
          </p:nvPr>
        </p:nvSpPr>
        <p:spPr>
          <a:xfrm>
            <a:off x="73152" y="73152"/>
            <a:ext cx="8863030" cy="861774"/>
          </a:xfrm>
        </p:spPr>
        <p:txBody>
          <a:bodyPr wrap="square" lIns="0" tIns="0" rIns="0" bIns="0" anchor="t">
            <a:spAutoFit/>
          </a:bodyPr>
          <a:lstStyle/>
          <a:p>
            <a:r>
              <a:rPr lang="es-ES" dirty="0" err="1">
                <a:latin typeface="Calibri"/>
              </a:rPr>
              <a:t>This</a:t>
            </a:r>
            <a:r>
              <a:rPr lang="es-ES" dirty="0">
                <a:latin typeface="Calibri"/>
              </a:rPr>
              <a:t> </a:t>
            </a:r>
            <a:r>
              <a:rPr lang="es-ES" dirty="0" err="1">
                <a:latin typeface="Calibri"/>
              </a:rPr>
              <a:t>thesis</a:t>
            </a:r>
            <a:r>
              <a:rPr lang="es-ES" dirty="0">
                <a:latin typeface="Calibri"/>
              </a:rPr>
              <a:t> examines </a:t>
            </a:r>
            <a:r>
              <a:rPr lang="es-ES" dirty="0" err="1">
                <a:latin typeface="Calibri"/>
              </a:rPr>
              <a:t>the</a:t>
            </a:r>
            <a:r>
              <a:rPr lang="es-ES" dirty="0">
                <a:latin typeface="Calibri"/>
              </a:rPr>
              <a:t> </a:t>
            </a:r>
            <a:r>
              <a:rPr lang="es-ES" dirty="0" err="1">
                <a:latin typeface="Calibri"/>
              </a:rPr>
              <a:t>impact</a:t>
            </a:r>
            <a:r>
              <a:rPr lang="es-ES" dirty="0">
                <a:latin typeface="Calibri"/>
              </a:rPr>
              <a:t> </a:t>
            </a:r>
            <a:r>
              <a:rPr lang="es-ES" dirty="0" err="1">
                <a:latin typeface="Calibri"/>
              </a:rPr>
              <a:t>of</a:t>
            </a:r>
            <a:r>
              <a:rPr lang="es-ES" dirty="0">
                <a:latin typeface="Calibri"/>
              </a:rPr>
              <a:t> </a:t>
            </a:r>
            <a:r>
              <a:rPr lang="es-ES" dirty="0" err="1">
                <a:latin typeface="Calibri"/>
              </a:rPr>
              <a:t>bounded</a:t>
            </a:r>
            <a:r>
              <a:rPr lang="es-ES" dirty="0">
                <a:latin typeface="Calibri"/>
              </a:rPr>
              <a:t> </a:t>
            </a:r>
            <a:r>
              <a:rPr lang="es-ES" dirty="0" err="1">
                <a:latin typeface="Calibri"/>
              </a:rPr>
              <a:t>rational</a:t>
            </a:r>
            <a:r>
              <a:rPr lang="es-ES" dirty="0">
                <a:latin typeface="Calibri"/>
              </a:rPr>
              <a:t> </a:t>
            </a:r>
            <a:r>
              <a:rPr lang="es-ES" dirty="0" err="1">
                <a:latin typeface="Calibri"/>
              </a:rPr>
              <a:t>agents</a:t>
            </a:r>
            <a:r>
              <a:rPr lang="es-ES" dirty="0">
                <a:latin typeface="Calibri"/>
              </a:rPr>
              <a:t> </a:t>
            </a:r>
            <a:r>
              <a:rPr lang="es-ES" dirty="0" err="1">
                <a:latin typeface="Calibri"/>
              </a:rPr>
              <a:t>on</a:t>
            </a:r>
            <a:r>
              <a:rPr lang="es-ES" dirty="0">
                <a:latin typeface="Calibri"/>
              </a:rPr>
              <a:t> </a:t>
            </a:r>
            <a:r>
              <a:rPr lang="es-ES" dirty="0" err="1">
                <a:latin typeface="Calibri"/>
              </a:rPr>
              <a:t>traffic</a:t>
            </a:r>
            <a:endParaRPr lang="es-ES" dirty="0">
              <a:latin typeface="Calibri"/>
            </a:endParaRPr>
          </a:p>
        </p:txBody>
      </p:sp>
    </p:spTree>
    <p:extLst>
      <p:ext uri="{BB962C8B-B14F-4D97-AF65-F5344CB8AC3E}">
        <p14:creationId xmlns:p14="http://schemas.microsoft.com/office/powerpoint/2010/main" val="10921154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3">
          <a:extLst>
            <a:ext uri="{FF2B5EF4-FFF2-40B4-BE49-F238E27FC236}">
              <a16:creationId xmlns:a16="http://schemas.microsoft.com/office/drawing/2014/main" id="{08E7D9BA-A22E-C2E6-141C-F5CE104CA9A9}"/>
            </a:ext>
          </a:extLst>
        </p:cNvPr>
        <p:cNvGrpSpPr/>
        <p:nvPr/>
      </p:nvGrpSpPr>
      <p:grpSpPr>
        <a:xfrm>
          <a:off x="0" y="0"/>
          <a:ext cx="0" cy="0"/>
          <a:chOff x="0" y="0"/>
          <a:chExt cx="0" cy="0"/>
        </a:xfrm>
      </p:grpSpPr>
      <p:sp>
        <p:nvSpPr>
          <p:cNvPr id="125" name="Shape 125">
            <a:extLst>
              <a:ext uri="{FF2B5EF4-FFF2-40B4-BE49-F238E27FC236}">
                <a16:creationId xmlns:a16="http://schemas.microsoft.com/office/drawing/2014/main" id="{CAB7D917-724D-DCB2-D57F-553514CAFDB5}"/>
              </a:ext>
            </a:extLst>
          </p:cNvPr>
          <p:cNvSpPr txBox="1"/>
          <p:nvPr/>
        </p:nvSpPr>
        <p:spPr>
          <a:xfrm>
            <a:off x="1447800" y="1828800"/>
            <a:ext cx="1219199" cy="275100"/>
          </a:xfrm>
          <a:prstGeom prst="rect">
            <a:avLst/>
          </a:prstGeom>
          <a:noFill/>
          <a:ln>
            <a:noFill/>
          </a:ln>
        </p:spPr>
        <p:txBody>
          <a:bodyPr lIns="91425" tIns="45700" rIns="91425" bIns="45700" anchor="t" anchorCtr="0">
            <a:noAutofit/>
          </a:bodyPr>
          <a:lstStyle/>
          <a:p>
            <a:pPr marL="0" marR="0" lvl="0" indent="0" algn="l" rtl="0">
              <a:spcBef>
                <a:spcPts val="0"/>
              </a:spcBef>
              <a:buNone/>
            </a:pPr>
            <a:endParaRPr sz="1800" b="1" i="0" u="none" strike="noStrike" cap="none" baseline="0">
              <a:solidFill>
                <a:srgbClr val="262626"/>
              </a:solidFill>
              <a:latin typeface="Calibri"/>
              <a:ea typeface="Calibri"/>
              <a:cs typeface="Calibri"/>
              <a:sym typeface="Calibri"/>
            </a:endParaRPr>
          </a:p>
        </p:txBody>
      </p:sp>
      <p:sp>
        <p:nvSpPr>
          <p:cNvPr id="159" name="Shape 159">
            <a:extLst>
              <a:ext uri="{FF2B5EF4-FFF2-40B4-BE49-F238E27FC236}">
                <a16:creationId xmlns:a16="http://schemas.microsoft.com/office/drawing/2014/main" id="{425280FA-3648-A8AE-090A-1BD33D6D5E4E}"/>
              </a:ext>
            </a:extLst>
          </p:cNvPr>
          <p:cNvSpPr txBox="1"/>
          <p:nvPr/>
        </p:nvSpPr>
        <p:spPr>
          <a:xfrm>
            <a:off x="500012" y="1092992"/>
            <a:ext cx="2213282" cy="648203"/>
          </a:xfrm>
          <a:prstGeom prst="rect">
            <a:avLst/>
          </a:prstGeom>
          <a:noFill/>
          <a:ln>
            <a:noFill/>
          </a:ln>
        </p:spPr>
        <p:txBody>
          <a:bodyPr lIns="91425" tIns="45700" rIns="91425" bIns="45700" anchor="t" anchorCtr="0">
            <a:noAutofit/>
          </a:bodyPr>
          <a:lstStyle/>
          <a:p>
            <a:r>
              <a:rPr lang="en-US" sz="1800" b="1" dirty="0">
                <a:solidFill>
                  <a:srgbClr val="262626"/>
                </a:solidFill>
                <a:latin typeface="Calibri"/>
                <a:ea typeface="Calibri"/>
                <a:cs typeface="Calibri"/>
                <a:sym typeface="Calibri"/>
              </a:rPr>
              <a:t>Expected travel time </a:t>
            </a:r>
            <a:r>
              <a:rPr lang="en-US" sz="1800" b="1" dirty="0">
                <a:solidFill>
                  <a:srgbClr val="FF0000"/>
                </a:solidFill>
                <a:latin typeface="Calibri"/>
                <a:ea typeface="Calibri"/>
                <a:cs typeface="Calibri"/>
                <a:sym typeface="Calibri"/>
              </a:rPr>
              <a:t>(ET) (route-agnostic)</a:t>
            </a:r>
            <a:endParaRPr lang="es-ES" sz="1800">
              <a:solidFill>
                <a:srgbClr val="FF0000"/>
              </a:solidFill>
            </a:endParaRPr>
          </a:p>
        </p:txBody>
      </p:sp>
      <p:sp>
        <p:nvSpPr>
          <p:cNvPr id="161" name="Shape 161">
            <a:extLst>
              <a:ext uri="{FF2B5EF4-FFF2-40B4-BE49-F238E27FC236}">
                <a16:creationId xmlns:a16="http://schemas.microsoft.com/office/drawing/2014/main" id="{B0802485-AE19-C8C7-3857-B9ADCE9F450F}"/>
              </a:ext>
            </a:extLst>
          </p:cNvPr>
          <p:cNvSpPr txBox="1"/>
          <p:nvPr/>
        </p:nvSpPr>
        <p:spPr>
          <a:xfrm>
            <a:off x="2955818" y="1095323"/>
            <a:ext cx="2310319" cy="640478"/>
          </a:xfrm>
          <a:prstGeom prst="rect">
            <a:avLst/>
          </a:prstGeom>
          <a:noFill/>
          <a:ln>
            <a:noFill/>
          </a:ln>
        </p:spPr>
        <p:txBody>
          <a:bodyPr lIns="91425" tIns="45700" rIns="91425" bIns="45700" anchor="t" anchorCtr="0">
            <a:noAutofit/>
          </a:bodyPr>
          <a:lstStyle/>
          <a:p>
            <a:pPr>
              <a:buSzPct val="25000"/>
            </a:pPr>
            <a:r>
              <a:rPr lang="en-US" sz="1800" b="1" dirty="0">
                <a:solidFill>
                  <a:srgbClr val="262626"/>
                </a:solidFill>
                <a:latin typeface="Calibri"/>
                <a:ea typeface="Calibri"/>
                <a:cs typeface="Calibri"/>
                <a:sym typeface="Calibri"/>
              </a:rPr>
              <a:t>Perceived travel time </a:t>
            </a:r>
            <a:r>
              <a:rPr lang="en-US" sz="1800" b="1" dirty="0">
                <a:solidFill>
                  <a:srgbClr val="FF0000"/>
                </a:solidFill>
                <a:latin typeface="Calibri"/>
                <a:ea typeface="Calibri"/>
                <a:cs typeface="Calibri"/>
                <a:sym typeface="Calibri"/>
              </a:rPr>
              <a:t>(PT) (route-specific)</a:t>
            </a:r>
            <a:endParaRPr lang="en-US" sz="1800" b="1" i="0" u="none" strike="noStrike" cap="none" baseline="0" dirty="0">
              <a:solidFill>
                <a:srgbClr val="FF0000"/>
              </a:solidFill>
              <a:latin typeface="Calibri"/>
              <a:ea typeface="Calibri"/>
              <a:cs typeface="Calibri"/>
            </a:endParaRPr>
          </a:p>
        </p:txBody>
      </p:sp>
      <p:sp>
        <p:nvSpPr>
          <p:cNvPr id="163" name="Shape 163">
            <a:extLst>
              <a:ext uri="{FF2B5EF4-FFF2-40B4-BE49-F238E27FC236}">
                <a16:creationId xmlns:a16="http://schemas.microsoft.com/office/drawing/2014/main" id="{36C85B1C-407C-C01E-9192-722914950BE7}"/>
              </a:ext>
            </a:extLst>
          </p:cNvPr>
          <p:cNvSpPr txBox="1"/>
          <p:nvPr/>
        </p:nvSpPr>
        <p:spPr>
          <a:xfrm>
            <a:off x="76200" y="57150"/>
            <a:ext cx="9021899" cy="430887"/>
          </a:xfrm>
          <a:prstGeom prst="rect">
            <a:avLst/>
          </a:prstGeom>
          <a:noFill/>
          <a:ln>
            <a:noFill/>
          </a:ln>
        </p:spPr>
        <p:txBody>
          <a:bodyPr lIns="0" tIns="0" rIns="0" bIns="0" anchor="t" anchorCtr="0">
            <a:spAutoFit/>
          </a:bodyPr>
          <a:lstStyle/>
          <a:p>
            <a:r>
              <a:rPr lang="en-US" sz="2800" b="1" dirty="0">
                <a:latin typeface="Calibri"/>
                <a:ea typeface="Calibri"/>
                <a:cs typeface="Calibri"/>
                <a:sym typeface="Calibri"/>
              </a:rPr>
              <a:t>Bush–Mosteller RL models boundedly rational route choice</a:t>
            </a:r>
            <a:endParaRPr lang="es-ES" sz="2800" b="1">
              <a:latin typeface="Calibri"/>
              <a:ea typeface="Calibri"/>
              <a:cs typeface="Calibri"/>
            </a:endParaRPr>
          </a:p>
        </p:txBody>
      </p:sp>
      <p:pic>
        <p:nvPicPr>
          <p:cNvPr id="2" name="Imagen 1" descr="Imagen que contiene objeto, naranja, reloj&#10;&#10;El contenido generado por IA puede ser incorrecto.">
            <a:extLst>
              <a:ext uri="{FF2B5EF4-FFF2-40B4-BE49-F238E27FC236}">
                <a16:creationId xmlns:a16="http://schemas.microsoft.com/office/drawing/2014/main" id="{64304F73-E78B-EB15-8D6D-FD9C3603D28A}"/>
              </a:ext>
            </a:extLst>
          </p:cNvPr>
          <p:cNvPicPr>
            <a:picLocks noChangeAspect="1"/>
          </p:cNvPicPr>
          <p:nvPr/>
        </p:nvPicPr>
        <p:blipFill>
          <a:blip r:embed="rId3"/>
          <a:stretch>
            <a:fillRect/>
          </a:stretch>
        </p:blipFill>
        <p:spPr>
          <a:xfrm>
            <a:off x="425150" y="1755303"/>
            <a:ext cx="2362458" cy="984165"/>
          </a:xfrm>
          <a:prstGeom prst="rect">
            <a:avLst/>
          </a:prstGeom>
        </p:spPr>
      </p:pic>
      <p:pic>
        <p:nvPicPr>
          <p:cNvPr id="7" name="Imagen 6" descr="Texto, Carta">
            <a:extLst>
              <a:ext uri="{FF2B5EF4-FFF2-40B4-BE49-F238E27FC236}">
                <a16:creationId xmlns:a16="http://schemas.microsoft.com/office/drawing/2014/main" id="{B9BAE552-B4FC-FDBB-3790-E80A63EE749D}"/>
              </a:ext>
            </a:extLst>
          </p:cNvPr>
          <p:cNvPicPr>
            <a:picLocks noChangeAspect="1"/>
          </p:cNvPicPr>
          <p:nvPr/>
        </p:nvPicPr>
        <p:blipFill>
          <a:blip r:embed="rId4"/>
          <a:stretch>
            <a:fillRect/>
          </a:stretch>
        </p:blipFill>
        <p:spPr>
          <a:xfrm>
            <a:off x="2871531" y="1752857"/>
            <a:ext cx="2288832" cy="873212"/>
          </a:xfrm>
          <a:prstGeom prst="rect">
            <a:avLst/>
          </a:prstGeom>
        </p:spPr>
      </p:pic>
      <p:pic>
        <p:nvPicPr>
          <p:cNvPr id="8" name="Imagen 7" descr="Texto, Carta&#10;&#10;El contenido generado por IA puede ser incorrecto.">
            <a:extLst>
              <a:ext uri="{FF2B5EF4-FFF2-40B4-BE49-F238E27FC236}">
                <a16:creationId xmlns:a16="http://schemas.microsoft.com/office/drawing/2014/main" id="{D690F487-A560-371E-F062-A60ECFDA5FB8}"/>
              </a:ext>
            </a:extLst>
          </p:cNvPr>
          <p:cNvPicPr>
            <a:picLocks noChangeAspect="1"/>
          </p:cNvPicPr>
          <p:nvPr/>
        </p:nvPicPr>
        <p:blipFill>
          <a:blip r:embed="rId5"/>
          <a:stretch>
            <a:fillRect/>
          </a:stretch>
        </p:blipFill>
        <p:spPr>
          <a:xfrm>
            <a:off x="5056359" y="1537515"/>
            <a:ext cx="3919924" cy="1419740"/>
          </a:xfrm>
          <a:prstGeom prst="rect">
            <a:avLst/>
          </a:prstGeom>
        </p:spPr>
      </p:pic>
      <p:cxnSp>
        <p:nvCxnSpPr>
          <p:cNvPr id="9" name="Shape 152">
            <a:extLst>
              <a:ext uri="{FF2B5EF4-FFF2-40B4-BE49-F238E27FC236}">
                <a16:creationId xmlns:a16="http://schemas.microsoft.com/office/drawing/2014/main" id="{8815D47E-3AB2-062D-A516-60DD4E7F1266}"/>
              </a:ext>
            </a:extLst>
          </p:cNvPr>
          <p:cNvCxnSpPr/>
          <p:nvPr/>
        </p:nvCxnSpPr>
        <p:spPr>
          <a:xfrm>
            <a:off x="915987" y="2343150"/>
            <a:ext cx="0" cy="400296"/>
          </a:xfrm>
          <a:prstGeom prst="straightConnector1">
            <a:avLst/>
          </a:prstGeom>
          <a:noFill/>
          <a:ln w="28575" cap="flat">
            <a:solidFill>
              <a:srgbClr val="111111"/>
            </a:solidFill>
            <a:prstDash val="solid"/>
            <a:round/>
            <a:headEnd type="none" w="med" len="med"/>
            <a:tailEnd type="stealth" w="lg" len="lg"/>
          </a:ln>
        </p:spPr>
      </p:cxnSp>
      <p:cxnSp>
        <p:nvCxnSpPr>
          <p:cNvPr id="10" name="Shape 152">
            <a:extLst>
              <a:ext uri="{FF2B5EF4-FFF2-40B4-BE49-F238E27FC236}">
                <a16:creationId xmlns:a16="http://schemas.microsoft.com/office/drawing/2014/main" id="{A78E6FEA-E85C-52D7-D6C1-FB8F1373707B}"/>
              </a:ext>
            </a:extLst>
          </p:cNvPr>
          <p:cNvCxnSpPr/>
          <p:nvPr/>
        </p:nvCxnSpPr>
        <p:spPr>
          <a:xfrm>
            <a:off x="915987" y="2343150"/>
            <a:ext cx="0" cy="400296"/>
          </a:xfrm>
          <a:prstGeom prst="straightConnector1">
            <a:avLst/>
          </a:prstGeom>
          <a:noFill/>
          <a:ln w="28575" cap="flat">
            <a:solidFill>
              <a:srgbClr val="111111"/>
            </a:solidFill>
            <a:prstDash val="solid"/>
            <a:round/>
            <a:headEnd type="none" w="med" len="med"/>
            <a:tailEnd type="stealth" w="lg" len="lg"/>
          </a:ln>
        </p:spPr>
      </p:cxnSp>
      <p:cxnSp>
        <p:nvCxnSpPr>
          <p:cNvPr id="11" name="Shape 152">
            <a:extLst>
              <a:ext uri="{FF2B5EF4-FFF2-40B4-BE49-F238E27FC236}">
                <a16:creationId xmlns:a16="http://schemas.microsoft.com/office/drawing/2014/main" id="{5663F060-A762-7FB6-70B6-7D5A0124A44A}"/>
              </a:ext>
            </a:extLst>
          </p:cNvPr>
          <p:cNvCxnSpPr/>
          <p:nvPr/>
        </p:nvCxnSpPr>
        <p:spPr>
          <a:xfrm>
            <a:off x="915987" y="2343150"/>
            <a:ext cx="0" cy="400296"/>
          </a:xfrm>
          <a:prstGeom prst="straightConnector1">
            <a:avLst/>
          </a:prstGeom>
          <a:noFill/>
          <a:ln w="28575" cap="flat">
            <a:solidFill>
              <a:srgbClr val="111111"/>
            </a:solidFill>
            <a:prstDash val="solid"/>
            <a:round/>
            <a:headEnd type="none" w="med" len="med"/>
            <a:tailEnd type="stealth" w="lg" len="lg"/>
          </a:ln>
        </p:spPr>
      </p:cxnSp>
      <p:sp>
        <p:nvSpPr>
          <p:cNvPr id="12" name="Shape 161">
            <a:extLst>
              <a:ext uri="{FF2B5EF4-FFF2-40B4-BE49-F238E27FC236}">
                <a16:creationId xmlns:a16="http://schemas.microsoft.com/office/drawing/2014/main" id="{09FA505A-3762-440F-A4DC-61C129B0E695}"/>
              </a:ext>
            </a:extLst>
          </p:cNvPr>
          <p:cNvSpPr txBox="1"/>
          <p:nvPr/>
        </p:nvSpPr>
        <p:spPr>
          <a:xfrm>
            <a:off x="6786412" y="1195722"/>
            <a:ext cx="1051475" cy="431958"/>
          </a:xfrm>
          <a:prstGeom prst="rect">
            <a:avLst/>
          </a:prstGeom>
          <a:noFill/>
          <a:ln>
            <a:noFill/>
          </a:ln>
        </p:spPr>
        <p:txBody>
          <a:bodyPr lIns="91425" tIns="45700" rIns="91425" bIns="45700" anchor="t" anchorCtr="0">
            <a:noAutofit/>
          </a:bodyPr>
          <a:lstStyle/>
          <a:p>
            <a:pPr>
              <a:buSzPct val="25000"/>
            </a:pPr>
            <a:r>
              <a:rPr lang="en-US" sz="1800" b="1" dirty="0">
                <a:solidFill>
                  <a:srgbClr val="262626"/>
                </a:solidFill>
                <a:latin typeface="Calibri"/>
                <a:ea typeface="Calibri"/>
                <a:cs typeface="Calibri"/>
                <a:sym typeface="Calibri"/>
              </a:rPr>
              <a:t>Stimulus</a:t>
            </a:r>
            <a:endParaRPr lang="en-US" sz="1800" b="1" i="0" u="none" strike="noStrike" cap="none" baseline="0" dirty="0">
              <a:solidFill>
                <a:srgbClr val="FF0000"/>
              </a:solidFill>
              <a:latin typeface="Calibri"/>
              <a:ea typeface="Calibri"/>
              <a:cs typeface="Calibri"/>
            </a:endParaRPr>
          </a:p>
        </p:txBody>
      </p:sp>
      <p:pic>
        <p:nvPicPr>
          <p:cNvPr id="13" name="Imagen 12" descr="Texto&#10;&#10;El contenido generado por IA puede ser incorrecto.">
            <a:extLst>
              <a:ext uri="{FF2B5EF4-FFF2-40B4-BE49-F238E27FC236}">
                <a16:creationId xmlns:a16="http://schemas.microsoft.com/office/drawing/2014/main" id="{4F45C144-B8B0-722E-3FEA-AB37A1F710E5}"/>
              </a:ext>
            </a:extLst>
          </p:cNvPr>
          <p:cNvPicPr>
            <a:picLocks noChangeAspect="1"/>
          </p:cNvPicPr>
          <p:nvPr/>
        </p:nvPicPr>
        <p:blipFill>
          <a:blip r:embed="rId6"/>
          <a:stretch>
            <a:fillRect/>
          </a:stretch>
        </p:blipFill>
        <p:spPr>
          <a:xfrm>
            <a:off x="423863" y="3632629"/>
            <a:ext cx="3724275" cy="704850"/>
          </a:xfrm>
          <a:prstGeom prst="rect">
            <a:avLst/>
          </a:prstGeom>
        </p:spPr>
      </p:pic>
      <p:sp>
        <p:nvSpPr>
          <p:cNvPr id="14" name="Shape 159">
            <a:extLst>
              <a:ext uri="{FF2B5EF4-FFF2-40B4-BE49-F238E27FC236}">
                <a16:creationId xmlns:a16="http://schemas.microsoft.com/office/drawing/2014/main" id="{4C59CA3B-70F3-9BCB-8E4B-2E34DCDFF811}"/>
              </a:ext>
            </a:extLst>
          </p:cNvPr>
          <p:cNvSpPr txBox="1"/>
          <p:nvPr/>
        </p:nvSpPr>
        <p:spPr>
          <a:xfrm>
            <a:off x="554072" y="3255423"/>
            <a:ext cx="3464403" cy="385623"/>
          </a:xfrm>
          <a:prstGeom prst="rect">
            <a:avLst/>
          </a:prstGeom>
          <a:noFill/>
          <a:ln>
            <a:noFill/>
          </a:ln>
        </p:spPr>
        <p:txBody>
          <a:bodyPr lIns="91425" tIns="45700" rIns="91425" bIns="45700" anchor="t" anchorCtr="0">
            <a:noAutofit/>
          </a:bodyPr>
          <a:lstStyle/>
          <a:p>
            <a:r>
              <a:rPr lang="en-US" sz="1800" b="1">
                <a:solidFill>
                  <a:srgbClr val="262626"/>
                </a:solidFill>
                <a:latin typeface="Calibri"/>
                <a:ea typeface="Calibri"/>
                <a:cs typeface="Calibri"/>
                <a:sym typeface="Calibri"/>
              </a:rPr>
              <a:t>Probability update (chosen route)</a:t>
            </a:r>
            <a:endParaRPr lang="es-ES"/>
          </a:p>
        </p:txBody>
      </p:sp>
    </p:spTree>
    <p:extLst>
      <p:ext uri="{BB962C8B-B14F-4D97-AF65-F5344CB8AC3E}">
        <p14:creationId xmlns:p14="http://schemas.microsoft.com/office/powerpoint/2010/main" val="2375659520"/>
      </p:ext>
    </p:extLst>
  </p:cSld>
  <p:clrMapOvr>
    <a:masterClrMapping/>
  </p:clrMapOvr>
  <p:transition spd="slow">
    <p:cut/>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3A4EB3A4-18F6-6AA9-062F-DF2D4467A215}"/>
              </a:ext>
            </a:extLst>
          </p:cNvPr>
          <p:cNvSpPr>
            <a:spLocks noGrp="1"/>
          </p:cNvSpPr>
          <p:nvPr>
            <p:ph type="title"/>
          </p:nvPr>
        </p:nvSpPr>
        <p:spPr>
          <a:xfrm>
            <a:off x="73152" y="73152"/>
            <a:ext cx="8863030" cy="861774"/>
          </a:xfrm>
        </p:spPr>
        <p:txBody>
          <a:bodyPr wrap="square" lIns="0" tIns="0" rIns="0" bIns="0" anchor="t">
            <a:spAutoFit/>
          </a:bodyPr>
          <a:lstStyle/>
          <a:p>
            <a:r>
              <a:rPr lang="es-ES" dirty="0" err="1">
                <a:latin typeface="Calibri"/>
              </a:rPr>
              <a:t>Example</a:t>
            </a:r>
            <a:r>
              <a:rPr lang="es-ES" dirty="0">
                <a:latin typeface="Calibri"/>
              </a:rPr>
              <a:t> </a:t>
            </a:r>
            <a:r>
              <a:rPr lang="es-ES" dirty="0" err="1">
                <a:latin typeface="Calibri"/>
              </a:rPr>
              <a:t>of</a:t>
            </a:r>
            <a:r>
              <a:rPr lang="es-ES" dirty="0">
                <a:latin typeface="Calibri"/>
              </a:rPr>
              <a:t> a Bush-Mosteller driver: </a:t>
            </a:r>
            <a:r>
              <a:rPr lang="es-ES" dirty="0" err="1">
                <a:latin typeface="Calibri"/>
              </a:rPr>
              <a:t>reinforces</a:t>
            </a:r>
            <a:r>
              <a:rPr lang="es-ES" dirty="0">
                <a:latin typeface="Calibri"/>
              </a:rPr>
              <a:t> positive </a:t>
            </a:r>
            <a:r>
              <a:rPr lang="es-ES" dirty="0" err="1">
                <a:latin typeface="Calibri"/>
              </a:rPr>
              <a:t>actions</a:t>
            </a:r>
            <a:r>
              <a:rPr lang="es-ES" dirty="0">
                <a:latin typeface="Calibri"/>
              </a:rPr>
              <a:t> and </a:t>
            </a:r>
            <a:r>
              <a:rPr lang="es-ES" dirty="0" err="1">
                <a:latin typeface="Calibri"/>
              </a:rPr>
              <a:t>penalizes</a:t>
            </a:r>
            <a:r>
              <a:rPr lang="es-ES" dirty="0">
                <a:latin typeface="Calibri"/>
              </a:rPr>
              <a:t> negative </a:t>
            </a:r>
            <a:r>
              <a:rPr lang="es-ES" dirty="0" err="1">
                <a:latin typeface="Calibri"/>
              </a:rPr>
              <a:t>actions</a:t>
            </a:r>
            <a:endParaRPr lang="es-ES" dirty="0" err="1"/>
          </a:p>
        </p:txBody>
      </p:sp>
      <p:pic>
        <p:nvPicPr>
          <p:cNvPr id="4" name="Imagen 3" descr="Diagrama&#10;&#10;El contenido generado por IA puede ser incorrecto.">
            <a:extLst>
              <a:ext uri="{FF2B5EF4-FFF2-40B4-BE49-F238E27FC236}">
                <a16:creationId xmlns:a16="http://schemas.microsoft.com/office/drawing/2014/main" id="{EB3C2221-4EA6-8E12-90FF-0D4088907B84}"/>
              </a:ext>
            </a:extLst>
          </p:cNvPr>
          <p:cNvPicPr>
            <a:picLocks noChangeAspect="1"/>
          </p:cNvPicPr>
          <p:nvPr/>
        </p:nvPicPr>
        <p:blipFill>
          <a:blip r:embed="rId2"/>
          <a:stretch>
            <a:fillRect/>
          </a:stretch>
        </p:blipFill>
        <p:spPr>
          <a:xfrm>
            <a:off x="1754386" y="1112108"/>
            <a:ext cx="4832041" cy="3853764"/>
          </a:xfrm>
          <a:prstGeom prst="rect">
            <a:avLst/>
          </a:prstGeom>
        </p:spPr>
      </p:pic>
    </p:spTree>
    <p:extLst>
      <p:ext uri="{BB962C8B-B14F-4D97-AF65-F5344CB8AC3E}">
        <p14:creationId xmlns:p14="http://schemas.microsoft.com/office/powerpoint/2010/main" val="18638430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1"/>
        <p:cNvGrpSpPr/>
        <p:nvPr/>
      </p:nvGrpSpPr>
      <p:grpSpPr>
        <a:xfrm>
          <a:off x="0" y="0"/>
          <a:ext cx="0" cy="0"/>
          <a:chOff x="0" y="0"/>
          <a:chExt cx="0" cy="0"/>
        </a:xfrm>
      </p:grpSpPr>
      <p:sp>
        <p:nvSpPr>
          <p:cNvPr id="49" name="Shape 49"/>
          <p:cNvSpPr txBox="1"/>
          <p:nvPr/>
        </p:nvSpPr>
        <p:spPr>
          <a:xfrm>
            <a:off x="91645" y="57150"/>
            <a:ext cx="9052869" cy="861774"/>
          </a:xfrm>
          <a:prstGeom prst="rect">
            <a:avLst/>
          </a:prstGeom>
          <a:noFill/>
          <a:ln>
            <a:noFill/>
          </a:ln>
        </p:spPr>
        <p:txBody>
          <a:bodyPr wrap="square" lIns="0" tIns="0" rIns="0" bIns="0" anchor="t" anchorCtr="0">
            <a:spAutoFit/>
          </a:bodyPr>
          <a:lstStyle/>
          <a:p>
            <a:r>
              <a:rPr lang="en-US" sz="2800" b="1" dirty="0">
                <a:latin typeface="Calibri"/>
                <a:ea typeface="Calibri"/>
                <a:cs typeface="Calibri"/>
                <a:sym typeface="Calibri"/>
              </a:rPr>
              <a:t>Traffic dynamics are simulated using SUMO, an open-source microscopic simulator</a:t>
            </a:r>
            <a:endParaRPr lang="es-ES" dirty="0"/>
          </a:p>
        </p:txBody>
      </p:sp>
      <p:pic>
        <p:nvPicPr>
          <p:cNvPr id="2" name="Imagen 1" descr="Diagrama&#10;&#10;El contenido generado por IA puede ser incorrecto.">
            <a:extLst>
              <a:ext uri="{FF2B5EF4-FFF2-40B4-BE49-F238E27FC236}">
                <a16:creationId xmlns:a16="http://schemas.microsoft.com/office/drawing/2014/main" id="{707C4330-027E-C6A7-A7A3-C45120596D3A}"/>
              </a:ext>
            </a:extLst>
          </p:cNvPr>
          <p:cNvPicPr>
            <a:picLocks noChangeAspect="1"/>
          </p:cNvPicPr>
          <p:nvPr/>
        </p:nvPicPr>
        <p:blipFill>
          <a:blip r:embed="rId3"/>
          <a:stretch>
            <a:fillRect/>
          </a:stretch>
        </p:blipFill>
        <p:spPr>
          <a:xfrm>
            <a:off x="6249540" y="671897"/>
            <a:ext cx="2329026" cy="3884656"/>
          </a:xfrm>
          <a:prstGeom prst="rect">
            <a:avLst/>
          </a:prstGeom>
        </p:spPr>
      </p:pic>
      <p:pic>
        <p:nvPicPr>
          <p:cNvPr id="3" name="Imagen 2" descr="Imagen que contiene Diagrama&#10;&#10;El contenido generado por IA puede ser incorrecto.">
            <a:extLst>
              <a:ext uri="{FF2B5EF4-FFF2-40B4-BE49-F238E27FC236}">
                <a16:creationId xmlns:a16="http://schemas.microsoft.com/office/drawing/2014/main" id="{537D08CB-0797-98CF-4DE3-224A6B90642C}"/>
              </a:ext>
            </a:extLst>
          </p:cNvPr>
          <p:cNvPicPr>
            <a:picLocks noChangeAspect="1"/>
          </p:cNvPicPr>
          <p:nvPr/>
        </p:nvPicPr>
        <p:blipFill>
          <a:blip r:embed="rId4"/>
          <a:stretch>
            <a:fillRect/>
          </a:stretch>
        </p:blipFill>
        <p:spPr>
          <a:xfrm>
            <a:off x="92312" y="1204784"/>
            <a:ext cx="5159673" cy="3243650"/>
          </a:xfrm>
          <a:prstGeom prst="rect">
            <a:avLst/>
          </a:prstGeom>
        </p:spPr>
      </p:pic>
      <p:sp>
        <p:nvSpPr>
          <p:cNvPr id="4" name="CuadroTexto 3">
            <a:extLst>
              <a:ext uri="{FF2B5EF4-FFF2-40B4-BE49-F238E27FC236}">
                <a16:creationId xmlns:a16="http://schemas.microsoft.com/office/drawing/2014/main" id="{4061F2B1-8707-012A-8B9C-13C8FCC59E96}"/>
              </a:ext>
            </a:extLst>
          </p:cNvPr>
          <p:cNvSpPr txBox="1"/>
          <p:nvPr/>
        </p:nvSpPr>
        <p:spPr>
          <a:xfrm>
            <a:off x="2054310" y="4556554"/>
            <a:ext cx="1231427" cy="369332"/>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algn="l"/>
            <a:r>
              <a:rPr lang="es-ES" sz="1800" dirty="0">
                <a:latin typeface="Calibri"/>
              </a:rPr>
              <a:t>SUMO-GUI</a:t>
            </a:r>
            <a:endParaRPr lang="es-ES" sz="1800">
              <a:latin typeface="Calibri" panose="020F0502020204030204" pitchFamily="34" charset="0"/>
            </a:endParaRPr>
          </a:p>
        </p:txBody>
      </p:sp>
      <p:sp>
        <p:nvSpPr>
          <p:cNvPr id="5" name="CuadroTexto 4">
            <a:extLst>
              <a:ext uri="{FF2B5EF4-FFF2-40B4-BE49-F238E27FC236}">
                <a16:creationId xmlns:a16="http://schemas.microsoft.com/office/drawing/2014/main" id="{073EB96C-590F-7A72-5CF6-916E07E73620}"/>
              </a:ext>
            </a:extLst>
          </p:cNvPr>
          <p:cNvSpPr txBox="1"/>
          <p:nvPr/>
        </p:nvSpPr>
        <p:spPr>
          <a:xfrm>
            <a:off x="6417789" y="4556554"/>
            <a:ext cx="1989647" cy="369332"/>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s-ES" sz="1800" dirty="0">
                <a:latin typeface="Calibri"/>
              </a:rPr>
              <a:t>Sioux Falls </a:t>
            </a:r>
            <a:r>
              <a:rPr lang="es-ES" sz="1800" dirty="0" err="1">
                <a:latin typeface="Calibri"/>
              </a:rPr>
              <a:t>network</a:t>
            </a:r>
            <a:endParaRPr lang="es-ES" sz="1800" dirty="0" err="1">
              <a:latin typeface="Calibri" panose="020F0502020204030204" pitchFamily="34" charset="0"/>
            </a:endParaRPr>
          </a:p>
        </p:txBody>
      </p:sp>
    </p:spTree>
  </p:cSld>
  <p:clrMapOvr>
    <a:masterClrMapping/>
  </p:clrMapOvr>
  <p:transition spd="slow">
    <p:cu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D62FF0B3-04D5-4E92-F7E7-E674A651BA2F}"/>
              </a:ext>
            </a:extLst>
          </p:cNvPr>
          <p:cNvSpPr>
            <a:spLocks noGrp="1"/>
          </p:cNvSpPr>
          <p:nvPr>
            <p:ph type="title"/>
          </p:nvPr>
        </p:nvSpPr>
        <p:spPr>
          <a:xfrm>
            <a:off x="73152" y="73152"/>
            <a:ext cx="8863030" cy="861774"/>
          </a:xfrm>
        </p:spPr>
        <p:txBody>
          <a:bodyPr wrap="square" lIns="0" tIns="0" rIns="0" bIns="0" anchor="t">
            <a:spAutoFit/>
          </a:bodyPr>
          <a:lstStyle/>
          <a:p>
            <a:r>
              <a:rPr lang="es-ES" dirty="0">
                <a:latin typeface="Calibri"/>
                <a:ea typeface="Calibri"/>
                <a:cs typeface="Calibri"/>
              </a:rPr>
              <a:t>Two </a:t>
            </a:r>
            <a:r>
              <a:rPr lang="es-ES" dirty="0" err="1">
                <a:latin typeface="Calibri"/>
                <a:ea typeface="Calibri"/>
                <a:cs typeface="Calibri"/>
              </a:rPr>
              <a:t>notions</a:t>
            </a:r>
            <a:r>
              <a:rPr lang="es-ES" dirty="0">
                <a:latin typeface="Calibri"/>
                <a:ea typeface="Calibri"/>
                <a:cs typeface="Calibri"/>
              </a:rPr>
              <a:t> </a:t>
            </a:r>
            <a:r>
              <a:rPr lang="es-ES" dirty="0" err="1">
                <a:latin typeface="Calibri"/>
                <a:ea typeface="Calibri"/>
                <a:cs typeface="Calibri"/>
              </a:rPr>
              <a:t>of</a:t>
            </a:r>
            <a:r>
              <a:rPr lang="es-ES" dirty="0">
                <a:latin typeface="Calibri"/>
                <a:ea typeface="Calibri"/>
                <a:cs typeface="Calibri"/>
              </a:rPr>
              <a:t> </a:t>
            </a:r>
            <a:r>
              <a:rPr lang="es-ES" dirty="0" err="1">
                <a:latin typeface="Calibri"/>
                <a:ea typeface="Calibri"/>
                <a:cs typeface="Calibri"/>
              </a:rPr>
              <a:t>convergence</a:t>
            </a:r>
            <a:r>
              <a:rPr lang="es-ES" dirty="0">
                <a:latin typeface="Calibri"/>
                <a:ea typeface="Calibri"/>
                <a:cs typeface="Calibri"/>
              </a:rPr>
              <a:t> and </a:t>
            </a:r>
            <a:r>
              <a:rPr lang="es-ES" dirty="0" err="1">
                <a:latin typeface="Calibri"/>
                <a:ea typeface="Calibri"/>
                <a:cs typeface="Calibri"/>
              </a:rPr>
              <a:t>key</a:t>
            </a:r>
            <a:r>
              <a:rPr lang="es-ES" dirty="0">
                <a:latin typeface="Calibri"/>
                <a:ea typeface="Calibri"/>
                <a:cs typeface="Calibri"/>
              </a:rPr>
              <a:t> </a:t>
            </a:r>
            <a:r>
              <a:rPr lang="es-ES" dirty="0" err="1">
                <a:latin typeface="Calibri"/>
                <a:ea typeface="Calibri"/>
                <a:cs typeface="Calibri"/>
              </a:rPr>
              <a:t>simulation</a:t>
            </a:r>
            <a:r>
              <a:rPr lang="es-ES" dirty="0">
                <a:latin typeface="Calibri"/>
                <a:ea typeface="Calibri"/>
                <a:cs typeface="Calibri"/>
              </a:rPr>
              <a:t>-time </a:t>
            </a:r>
            <a:r>
              <a:rPr lang="es-ES" dirty="0" err="1">
                <a:latin typeface="Calibri"/>
                <a:ea typeface="Calibri"/>
                <a:cs typeface="Calibri"/>
              </a:rPr>
              <a:t>concepts</a:t>
            </a:r>
            <a:endParaRPr lang="es-ES" dirty="0" err="1"/>
          </a:p>
        </p:txBody>
      </p:sp>
      <p:sp>
        <p:nvSpPr>
          <p:cNvPr id="4" name="CuadroTexto 3">
            <a:extLst>
              <a:ext uri="{FF2B5EF4-FFF2-40B4-BE49-F238E27FC236}">
                <a16:creationId xmlns:a16="http://schemas.microsoft.com/office/drawing/2014/main" id="{11801A2F-E2AF-A33D-361B-01903450AF2B}"/>
              </a:ext>
            </a:extLst>
          </p:cNvPr>
          <p:cNvSpPr txBox="1"/>
          <p:nvPr/>
        </p:nvSpPr>
        <p:spPr>
          <a:xfrm>
            <a:off x="679621" y="1536873"/>
            <a:ext cx="3143809" cy="369332"/>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s-ES" sz="1800" dirty="0" err="1">
                <a:latin typeface="Calibri"/>
                <a:ea typeface="Calibri"/>
                <a:cs typeface="Calibri"/>
              </a:rPr>
              <a:t>Convergence</a:t>
            </a:r>
            <a:r>
              <a:rPr lang="es-ES" sz="1800" dirty="0">
                <a:latin typeface="Calibri"/>
                <a:ea typeface="Calibri"/>
                <a:cs typeface="Calibri"/>
              </a:rPr>
              <a:t> </a:t>
            </a:r>
            <a:r>
              <a:rPr lang="es-ES" sz="1800" dirty="0" err="1">
                <a:latin typeface="Calibri"/>
                <a:ea typeface="Calibri"/>
                <a:cs typeface="Calibri"/>
              </a:rPr>
              <a:t>of</a:t>
            </a:r>
            <a:r>
              <a:rPr lang="es-ES" sz="1800" dirty="0">
                <a:latin typeface="Calibri"/>
                <a:ea typeface="Calibri"/>
                <a:cs typeface="Calibri"/>
              </a:rPr>
              <a:t> </a:t>
            </a:r>
            <a:r>
              <a:rPr lang="es-ES" sz="1800" dirty="0" err="1">
                <a:latin typeface="Calibri"/>
                <a:ea typeface="Calibri"/>
                <a:cs typeface="Calibri"/>
              </a:rPr>
              <a:t>agents</a:t>
            </a:r>
            <a:r>
              <a:rPr lang="es-ES" sz="1800" dirty="0">
                <a:latin typeface="Calibri"/>
                <a:ea typeface="Calibri"/>
                <a:cs typeface="Calibri"/>
              </a:rPr>
              <a:t> </a:t>
            </a:r>
            <a:r>
              <a:rPr lang="es-ES" sz="1800" dirty="0" err="1">
                <a:latin typeface="Calibri"/>
                <a:ea typeface="Calibri"/>
                <a:cs typeface="Calibri"/>
              </a:rPr>
              <a:t>policies</a:t>
            </a:r>
          </a:p>
        </p:txBody>
      </p:sp>
      <p:sp>
        <p:nvSpPr>
          <p:cNvPr id="5" name="CuadroTexto 4">
            <a:extLst>
              <a:ext uri="{FF2B5EF4-FFF2-40B4-BE49-F238E27FC236}">
                <a16:creationId xmlns:a16="http://schemas.microsoft.com/office/drawing/2014/main" id="{556BBA7B-2427-EE55-5C97-4E63CC21E09C}"/>
              </a:ext>
            </a:extLst>
          </p:cNvPr>
          <p:cNvSpPr txBox="1"/>
          <p:nvPr/>
        </p:nvSpPr>
        <p:spPr>
          <a:xfrm>
            <a:off x="679620" y="1907575"/>
            <a:ext cx="7128875" cy="369332"/>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s-ES" sz="1800" dirty="0" err="1">
                <a:latin typeface="Calibri"/>
                <a:ea typeface="Calibri"/>
                <a:cs typeface="Calibri"/>
              </a:rPr>
              <a:t>Convergence</a:t>
            </a:r>
            <a:r>
              <a:rPr lang="es-ES" sz="1800" dirty="0">
                <a:latin typeface="Calibri"/>
                <a:ea typeface="Calibri"/>
                <a:cs typeface="Calibri"/>
              </a:rPr>
              <a:t> </a:t>
            </a:r>
            <a:r>
              <a:rPr lang="es-ES" sz="1800" dirty="0" err="1">
                <a:latin typeface="Calibri"/>
                <a:ea typeface="Calibri"/>
                <a:cs typeface="Calibri"/>
              </a:rPr>
              <a:t>of</a:t>
            </a:r>
            <a:r>
              <a:rPr lang="es-ES" sz="1800" dirty="0">
                <a:latin typeface="Calibri"/>
                <a:ea typeface="Calibri"/>
                <a:cs typeface="Calibri"/>
              </a:rPr>
              <a:t> </a:t>
            </a:r>
            <a:r>
              <a:rPr lang="es-ES" sz="1800" dirty="0" err="1">
                <a:latin typeface="Calibri"/>
                <a:ea typeface="Calibri"/>
                <a:cs typeface="Calibri"/>
              </a:rPr>
              <a:t>the</a:t>
            </a:r>
            <a:r>
              <a:rPr lang="es-ES" sz="1800" dirty="0">
                <a:latin typeface="Calibri"/>
                <a:ea typeface="Calibri"/>
                <a:cs typeface="Calibri"/>
              </a:rPr>
              <a:t> </a:t>
            </a:r>
            <a:r>
              <a:rPr lang="es-ES" sz="1800" dirty="0" err="1">
                <a:latin typeface="Calibri"/>
                <a:ea typeface="Calibri"/>
                <a:cs typeface="Calibri"/>
              </a:rPr>
              <a:t>network</a:t>
            </a:r>
            <a:r>
              <a:rPr lang="es-ES" sz="1800" dirty="0">
                <a:latin typeface="Calibri"/>
                <a:ea typeface="Calibri"/>
                <a:cs typeface="Calibri"/>
              </a:rPr>
              <a:t> </a:t>
            </a:r>
            <a:r>
              <a:rPr lang="es-ES" sz="1800" dirty="0" err="1">
                <a:latin typeface="Calibri"/>
                <a:ea typeface="Calibri"/>
                <a:cs typeface="Calibri"/>
              </a:rPr>
              <a:t>state</a:t>
            </a:r>
            <a:r>
              <a:rPr lang="es-ES" sz="1800" dirty="0">
                <a:latin typeface="Calibri"/>
                <a:ea typeface="Calibri"/>
                <a:cs typeface="Calibri"/>
              </a:rPr>
              <a:t> </a:t>
            </a:r>
            <a:r>
              <a:rPr lang="es-ES" sz="1800" dirty="0" err="1">
                <a:latin typeface="Calibri"/>
                <a:ea typeface="Calibri"/>
                <a:cs typeface="Calibri"/>
              </a:rPr>
              <a:t>towards</a:t>
            </a:r>
            <a:r>
              <a:rPr lang="es-ES" sz="1800" dirty="0">
                <a:latin typeface="Calibri"/>
                <a:ea typeface="Calibri"/>
                <a:cs typeface="Calibri"/>
              </a:rPr>
              <a:t> a </a:t>
            </a:r>
            <a:r>
              <a:rPr lang="es-ES" sz="1800" b="1" dirty="0">
                <a:solidFill>
                  <a:srgbClr val="FF0000"/>
                </a:solidFill>
                <a:latin typeface="Calibri"/>
                <a:ea typeface="Calibri"/>
                <a:cs typeface="Calibri"/>
              </a:rPr>
              <a:t>DUE </a:t>
            </a:r>
            <a:r>
              <a:rPr lang="es-ES" sz="1800" dirty="0">
                <a:latin typeface="Calibri"/>
                <a:ea typeface="Calibri"/>
                <a:cs typeface="Calibri"/>
              </a:rPr>
              <a:t>(</a:t>
            </a:r>
            <a:r>
              <a:rPr lang="es-ES" sz="1800" dirty="0" err="1">
                <a:latin typeface="Calibri"/>
                <a:ea typeface="Calibri"/>
                <a:cs typeface="Calibri"/>
              </a:rPr>
              <a:t>using</a:t>
            </a:r>
            <a:r>
              <a:rPr lang="es-ES" sz="1800" dirty="0">
                <a:latin typeface="Calibri"/>
                <a:ea typeface="Calibri"/>
                <a:cs typeface="Calibri"/>
              </a:rPr>
              <a:t> </a:t>
            </a:r>
            <a:r>
              <a:rPr lang="es-ES" sz="1800" dirty="0" err="1">
                <a:latin typeface="Calibri"/>
                <a:ea typeface="Calibri"/>
                <a:cs typeface="Calibri"/>
              </a:rPr>
              <a:t>the</a:t>
            </a:r>
            <a:r>
              <a:rPr lang="es-ES" sz="1800" dirty="0">
                <a:latin typeface="Calibri"/>
                <a:ea typeface="Calibri"/>
                <a:cs typeface="Calibri"/>
              </a:rPr>
              <a:t> </a:t>
            </a:r>
            <a:r>
              <a:rPr lang="es-ES" sz="1800" b="1" dirty="0">
                <a:solidFill>
                  <a:srgbClr val="FF0000"/>
                </a:solidFill>
                <a:latin typeface="Calibri"/>
                <a:ea typeface="Calibri"/>
                <a:cs typeface="Calibri"/>
              </a:rPr>
              <a:t>R-gap</a:t>
            </a:r>
            <a:r>
              <a:rPr lang="es-ES" sz="1800" dirty="0">
                <a:latin typeface="Calibri"/>
                <a:ea typeface="Calibri"/>
                <a:cs typeface="Calibri"/>
              </a:rPr>
              <a:t> </a:t>
            </a:r>
            <a:r>
              <a:rPr lang="es-ES" sz="1800" dirty="0" err="1">
                <a:latin typeface="Calibri"/>
                <a:ea typeface="Calibri"/>
                <a:cs typeface="Calibri"/>
              </a:rPr>
              <a:t>metric</a:t>
            </a:r>
            <a:r>
              <a:rPr lang="es-ES" sz="1800" dirty="0">
                <a:latin typeface="Calibri"/>
                <a:ea typeface="Calibri"/>
                <a:cs typeface="Calibri"/>
              </a:rPr>
              <a:t>)</a:t>
            </a:r>
            <a:endParaRPr lang="es-ES">
              <a:latin typeface="Calibri"/>
              <a:ea typeface="Calibri"/>
              <a:cs typeface="Calibri"/>
            </a:endParaRPr>
          </a:p>
        </p:txBody>
      </p:sp>
      <p:pic>
        <p:nvPicPr>
          <p:cNvPr id="6" name="Imagen 5">
            <a:extLst>
              <a:ext uri="{FF2B5EF4-FFF2-40B4-BE49-F238E27FC236}">
                <a16:creationId xmlns:a16="http://schemas.microsoft.com/office/drawing/2014/main" id="{7FE69E8A-5E54-8921-C464-BF7C110EBF9D}"/>
              </a:ext>
            </a:extLst>
          </p:cNvPr>
          <p:cNvPicPr>
            <a:picLocks noChangeAspect="1"/>
          </p:cNvPicPr>
          <p:nvPr/>
        </p:nvPicPr>
        <p:blipFill>
          <a:blip r:embed="rId2"/>
          <a:stretch>
            <a:fillRect/>
          </a:stretch>
        </p:blipFill>
        <p:spPr>
          <a:xfrm>
            <a:off x="648730" y="2707218"/>
            <a:ext cx="7715250" cy="2339429"/>
          </a:xfrm>
          <a:prstGeom prst="rect">
            <a:avLst/>
          </a:prstGeom>
        </p:spPr>
      </p:pic>
      <p:sp>
        <p:nvSpPr>
          <p:cNvPr id="7" name="CuadroTexto 6">
            <a:extLst>
              <a:ext uri="{FF2B5EF4-FFF2-40B4-BE49-F238E27FC236}">
                <a16:creationId xmlns:a16="http://schemas.microsoft.com/office/drawing/2014/main" id="{D4DF0EC1-219D-0C83-9590-18F3E8D41323}"/>
              </a:ext>
            </a:extLst>
          </p:cNvPr>
          <p:cNvSpPr txBox="1"/>
          <p:nvPr/>
        </p:nvSpPr>
        <p:spPr>
          <a:xfrm>
            <a:off x="679620" y="2525412"/>
            <a:ext cx="2690160" cy="369332"/>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s-ES" sz="1800" b="1" dirty="0" err="1">
                <a:solidFill>
                  <a:schemeClr val="tx1"/>
                </a:solidFill>
                <a:latin typeface="Calibri"/>
                <a:ea typeface="Calibri"/>
                <a:cs typeface="Calibri"/>
              </a:rPr>
              <a:t>Simulation</a:t>
            </a:r>
            <a:r>
              <a:rPr lang="es-ES" sz="1800" b="1" dirty="0">
                <a:solidFill>
                  <a:schemeClr val="tx1"/>
                </a:solidFill>
                <a:latin typeface="Calibri"/>
                <a:ea typeface="Calibri"/>
                <a:cs typeface="Calibri"/>
              </a:rPr>
              <a:t>-time </a:t>
            </a:r>
            <a:r>
              <a:rPr lang="es-ES" sz="1800" b="1" dirty="0" err="1">
                <a:solidFill>
                  <a:schemeClr val="tx1"/>
                </a:solidFill>
                <a:latin typeface="Calibri"/>
                <a:ea typeface="Calibri"/>
                <a:cs typeface="Calibri"/>
              </a:rPr>
              <a:t>concepts</a:t>
            </a:r>
            <a:r>
              <a:rPr lang="es-ES" sz="1800" b="1" dirty="0">
                <a:solidFill>
                  <a:schemeClr val="tx1"/>
                </a:solidFill>
                <a:latin typeface="Calibri"/>
                <a:ea typeface="Calibri"/>
                <a:cs typeface="Calibri"/>
              </a:rPr>
              <a:t>:</a:t>
            </a:r>
          </a:p>
        </p:txBody>
      </p:sp>
      <p:sp>
        <p:nvSpPr>
          <p:cNvPr id="8" name="CuadroTexto 7">
            <a:extLst>
              <a:ext uri="{FF2B5EF4-FFF2-40B4-BE49-F238E27FC236}">
                <a16:creationId xmlns:a16="http://schemas.microsoft.com/office/drawing/2014/main" id="{09101F74-5267-7971-77B6-9F98EB522AC1}"/>
              </a:ext>
            </a:extLst>
          </p:cNvPr>
          <p:cNvSpPr txBox="1"/>
          <p:nvPr/>
        </p:nvSpPr>
        <p:spPr>
          <a:xfrm>
            <a:off x="679621" y="1166169"/>
            <a:ext cx="2563522" cy="369332"/>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s-ES" sz="1800" b="1" dirty="0" err="1">
                <a:solidFill>
                  <a:schemeClr val="tx1"/>
                </a:solidFill>
                <a:latin typeface="Calibri"/>
              </a:rPr>
              <a:t>Notions</a:t>
            </a:r>
            <a:r>
              <a:rPr lang="es-ES" sz="1800" b="1" dirty="0">
                <a:solidFill>
                  <a:schemeClr val="tx1"/>
                </a:solidFill>
                <a:latin typeface="Calibri"/>
              </a:rPr>
              <a:t> </a:t>
            </a:r>
            <a:r>
              <a:rPr lang="es-ES" sz="1800" b="1" dirty="0" err="1">
                <a:solidFill>
                  <a:schemeClr val="tx1"/>
                </a:solidFill>
                <a:latin typeface="Calibri"/>
              </a:rPr>
              <a:t>of</a:t>
            </a:r>
            <a:r>
              <a:rPr lang="es-ES" sz="1800" b="1" dirty="0">
                <a:solidFill>
                  <a:schemeClr val="tx1"/>
                </a:solidFill>
                <a:latin typeface="Calibri"/>
              </a:rPr>
              <a:t> </a:t>
            </a:r>
            <a:r>
              <a:rPr lang="es-ES" sz="1800" b="1" dirty="0" err="1">
                <a:solidFill>
                  <a:schemeClr val="tx1"/>
                </a:solidFill>
                <a:latin typeface="Calibri"/>
              </a:rPr>
              <a:t>convergence</a:t>
            </a:r>
            <a:r>
              <a:rPr lang="es-ES" sz="1800" b="1" dirty="0">
                <a:solidFill>
                  <a:schemeClr val="tx1"/>
                </a:solidFill>
                <a:latin typeface="Calibri"/>
              </a:rPr>
              <a:t>: </a:t>
            </a:r>
            <a:endParaRPr lang="es-ES" sz="1800" b="1">
              <a:solidFill>
                <a:schemeClr val="tx1"/>
              </a:solidFill>
              <a:latin typeface="Calibri" panose="020F0502020204030204" pitchFamily="34" charset="0"/>
            </a:endParaRPr>
          </a:p>
        </p:txBody>
      </p:sp>
    </p:spTree>
    <p:extLst>
      <p:ext uri="{BB962C8B-B14F-4D97-AF65-F5344CB8AC3E}">
        <p14:creationId xmlns:p14="http://schemas.microsoft.com/office/powerpoint/2010/main" val="3676931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F9A4424B-7E37-1664-0A31-09BA632893E8}"/>
              </a:ext>
            </a:extLst>
          </p:cNvPr>
          <p:cNvSpPr>
            <a:spLocks noGrp="1"/>
          </p:cNvSpPr>
          <p:nvPr>
            <p:ph type="body" sz="quarter" idx="14"/>
          </p:nvPr>
        </p:nvSpPr>
        <p:spPr>
          <a:xfrm>
            <a:off x="409585" y="916680"/>
            <a:ext cx="2230745" cy="307777"/>
          </a:xfrm>
        </p:spPr>
        <p:txBody>
          <a:bodyPr wrap="square" lIns="0" tIns="0" rIns="0" bIns="0" anchor="t">
            <a:spAutoFit/>
          </a:bodyPr>
          <a:lstStyle/>
          <a:p>
            <a:r>
              <a:rPr lang="es-ES" sz="2000" dirty="0" err="1">
                <a:latin typeface="Calibri"/>
              </a:rPr>
              <a:t>Rational</a:t>
            </a:r>
            <a:r>
              <a:rPr lang="es-ES" sz="2000" dirty="0">
                <a:latin typeface="Calibri"/>
              </a:rPr>
              <a:t> </a:t>
            </a:r>
            <a:r>
              <a:rPr lang="es-ES" sz="2000" dirty="0" err="1">
                <a:latin typeface="Calibri"/>
              </a:rPr>
              <a:t>agents</a:t>
            </a:r>
            <a:endParaRPr lang="es-ES" sz="2000" dirty="0"/>
          </a:p>
        </p:txBody>
      </p:sp>
      <p:sp>
        <p:nvSpPr>
          <p:cNvPr id="3" name="Título 2">
            <a:extLst>
              <a:ext uri="{FF2B5EF4-FFF2-40B4-BE49-F238E27FC236}">
                <a16:creationId xmlns:a16="http://schemas.microsoft.com/office/drawing/2014/main" id="{27DE56E4-C57B-F30B-13BD-B6F5EF7FE5CB}"/>
              </a:ext>
            </a:extLst>
          </p:cNvPr>
          <p:cNvSpPr>
            <a:spLocks noGrp="1"/>
          </p:cNvSpPr>
          <p:nvPr>
            <p:ph type="title"/>
          </p:nvPr>
        </p:nvSpPr>
        <p:spPr/>
        <p:txBody>
          <a:bodyPr wrap="square" lIns="0" tIns="0" rIns="0" bIns="0" anchor="t">
            <a:spAutoFit/>
          </a:bodyPr>
          <a:lstStyle/>
          <a:p>
            <a:r>
              <a:rPr lang="es-ES" dirty="0" err="1">
                <a:latin typeface="Calibri"/>
              </a:rPr>
              <a:t>Experiments</a:t>
            </a:r>
            <a:r>
              <a:rPr lang="es-ES" dirty="0">
                <a:latin typeface="Calibri"/>
              </a:rPr>
              <a:t> and </a:t>
            </a:r>
            <a:r>
              <a:rPr lang="es-ES" dirty="0" err="1">
                <a:latin typeface="Calibri"/>
              </a:rPr>
              <a:t>results</a:t>
            </a:r>
            <a:endParaRPr lang="es-ES" dirty="0" err="1"/>
          </a:p>
        </p:txBody>
      </p:sp>
      <p:sp>
        <p:nvSpPr>
          <p:cNvPr id="5" name="Marcador de texto 1">
            <a:extLst>
              <a:ext uri="{FF2B5EF4-FFF2-40B4-BE49-F238E27FC236}">
                <a16:creationId xmlns:a16="http://schemas.microsoft.com/office/drawing/2014/main" id="{85813C7A-1FFD-4432-80E4-745DD762F70C}"/>
              </a:ext>
            </a:extLst>
          </p:cNvPr>
          <p:cNvSpPr txBox="1">
            <a:spLocks/>
          </p:cNvSpPr>
          <p:nvPr/>
        </p:nvSpPr>
        <p:spPr>
          <a:xfrm>
            <a:off x="411966" y="1540567"/>
            <a:ext cx="3388032" cy="307777"/>
          </a:xfrm>
          <a:prstGeom prst="rect">
            <a:avLst/>
          </a:prstGeom>
        </p:spPr>
        <p:txBody>
          <a:bodyPr wrap="square" lIns="0" tIns="0" rIns="0" bIns="0" anchor="t">
            <a:spAutoFit/>
          </a:bodyPr>
          <a:lstStyle>
            <a:defPPr marR="0" algn="l" rtl="0">
              <a:lnSpc>
                <a:spcPct val="100000"/>
              </a:lnSpc>
              <a:spcBef>
                <a:spcPts val="0"/>
              </a:spcBef>
              <a:spcAft>
                <a:spcPts val="0"/>
              </a:spcAft>
            </a:defPPr>
            <a:lvl1pPr marR="0" algn="l" rtl="0">
              <a:lnSpc>
                <a:spcPct val="100000"/>
              </a:lnSpc>
              <a:spcBef>
                <a:spcPts val="0"/>
              </a:spcBef>
              <a:spcAft>
                <a:spcPts val="0"/>
              </a:spcAft>
              <a:buNone/>
              <a:defRPr sz="2400" b="1" i="0" u="none" strike="noStrike" cap="none" baseline="0">
                <a:solidFill>
                  <a:srgbClr val="000000"/>
                </a:solidFill>
                <a:latin typeface="Calibri" panose="020F0502020204030204" pitchFamily="34" charset="0"/>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a:lstStyle>
          <a:p>
            <a:r>
              <a:rPr lang="es-ES" sz="2000" dirty="0" err="1">
                <a:latin typeface="Calibri"/>
              </a:rPr>
              <a:t>Spatial</a:t>
            </a:r>
            <a:r>
              <a:rPr lang="es-ES" sz="2000" dirty="0">
                <a:latin typeface="Calibri"/>
              </a:rPr>
              <a:t> </a:t>
            </a:r>
            <a:r>
              <a:rPr lang="es-ES" sz="2000" dirty="0" err="1">
                <a:latin typeface="Calibri"/>
              </a:rPr>
              <a:t>traffic</a:t>
            </a:r>
            <a:r>
              <a:rPr lang="es-ES" sz="2000" dirty="0">
                <a:latin typeface="Calibri"/>
              </a:rPr>
              <a:t> </a:t>
            </a:r>
            <a:r>
              <a:rPr lang="es-ES" sz="2000" dirty="0" err="1">
                <a:latin typeface="Calibri"/>
              </a:rPr>
              <a:t>comparison</a:t>
            </a:r>
            <a:endParaRPr lang="es-ES" sz="2000"/>
          </a:p>
        </p:txBody>
      </p:sp>
      <p:sp>
        <p:nvSpPr>
          <p:cNvPr id="6" name="Marcador de texto 1">
            <a:extLst>
              <a:ext uri="{FF2B5EF4-FFF2-40B4-BE49-F238E27FC236}">
                <a16:creationId xmlns:a16="http://schemas.microsoft.com/office/drawing/2014/main" id="{A76B52BD-1851-F48A-2BD9-F1BB45993551}"/>
              </a:ext>
            </a:extLst>
          </p:cNvPr>
          <p:cNvSpPr txBox="1">
            <a:spLocks/>
          </p:cNvSpPr>
          <p:nvPr/>
        </p:nvSpPr>
        <p:spPr>
          <a:xfrm>
            <a:off x="411965" y="2204935"/>
            <a:ext cx="3388032" cy="307777"/>
          </a:xfrm>
          <a:prstGeom prst="rect">
            <a:avLst/>
          </a:prstGeom>
        </p:spPr>
        <p:txBody>
          <a:bodyPr wrap="square" lIns="0" tIns="0" rIns="0" bIns="0" anchor="t">
            <a:spAutoFit/>
          </a:bodyPr>
          <a:lstStyle>
            <a:defPPr marR="0" algn="l" rtl="0">
              <a:lnSpc>
                <a:spcPct val="100000"/>
              </a:lnSpc>
              <a:spcBef>
                <a:spcPts val="0"/>
              </a:spcBef>
              <a:spcAft>
                <a:spcPts val="0"/>
              </a:spcAft>
            </a:defPPr>
            <a:lvl1pPr marR="0" algn="l" rtl="0">
              <a:lnSpc>
                <a:spcPct val="100000"/>
              </a:lnSpc>
              <a:spcBef>
                <a:spcPts val="0"/>
              </a:spcBef>
              <a:spcAft>
                <a:spcPts val="0"/>
              </a:spcAft>
              <a:buNone/>
              <a:defRPr sz="2400" b="1" i="0" u="none" strike="noStrike" cap="none" baseline="0">
                <a:solidFill>
                  <a:srgbClr val="000000"/>
                </a:solidFill>
                <a:latin typeface="Calibri" panose="020F0502020204030204" pitchFamily="34" charset="0"/>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a:lstStyle>
          <a:p>
            <a:r>
              <a:rPr lang="es-ES" sz="2000" dirty="0" err="1">
                <a:latin typeface="Calibri"/>
              </a:rPr>
              <a:t>Disruption</a:t>
            </a:r>
            <a:r>
              <a:rPr lang="es-ES" sz="2000" dirty="0">
                <a:latin typeface="Calibri"/>
              </a:rPr>
              <a:t> </a:t>
            </a:r>
            <a:r>
              <a:rPr lang="es-ES" sz="2000" dirty="0" err="1">
                <a:latin typeface="Calibri"/>
              </a:rPr>
              <a:t>recovery</a:t>
            </a:r>
            <a:endParaRPr lang="es-ES" sz="2000"/>
          </a:p>
        </p:txBody>
      </p:sp>
      <p:sp>
        <p:nvSpPr>
          <p:cNvPr id="7" name="Marcador de texto 1">
            <a:extLst>
              <a:ext uri="{FF2B5EF4-FFF2-40B4-BE49-F238E27FC236}">
                <a16:creationId xmlns:a16="http://schemas.microsoft.com/office/drawing/2014/main" id="{FE23DCC9-6A8B-8A88-E602-B133E2D93E02}"/>
              </a:ext>
            </a:extLst>
          </p:cNvPr>
          <p:cNvSpPr txBox="1">
            <a:spLocks/>
          </p:cNvSpPr>
          <p:nvPr/>
        </p:nvSpPr>
        <p:spPr>
          <a:xfrm>
            <a:off x="3040865" y="2733572"/>
            <a:ext cx="3388032" cy="307777"/>
          </a:xfrm>
          <a:prstGeom prst="rect">
            <a:avLst/>
          </a:prstGeom>
        </p:spPr>
        <p:txBody>
          <a:bodyPr wrap="square" lIns="0" tIns="0" rIns="0" bIns="0" anchor="t">
            <a:spAutoFit/>
          </a:bodyPr>
          <a:lstStyle>
            <a:defPPr marR="0" algn="l" rtl="0">
              <a:lnSpc>
                <a:spcPct val="100000"/>
              </a:lnSpc>
              <a:spcBef>
                <a:spcPts val="0"/>
              </a:spcBef>
              <a:spcAft>
                <a:spcPts val="0"/>
              </a:spcAft>
            </a:defPPr>
            <a:lvl1pPr marR="0" algn="l" rtl="0">
              <a:lnSpc>
                <a:spcPct val="100000"/>
              </a:lnSpc>
              <a:spcBef>
                <a:spcPts val="0"/>
              </a:spcBef>
              <a:spcAft>
                <a:spcPts val="0"/>
              </a:spcAft>
              <a:buNone/>
              <a:defRPr sz="2400" b="1" i="0" u="none" strike="noStrike" cap="none" baseline="0">
                <a:solidFill>
                  <a:srgbClr val="000000"/>
                </a:solidFill>
                <a:latin typeface="Calibri" panose="020F0502020204030204" pitchFamily="34" charset="0"/>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a:lstStyle>
          <a:p>
            <a:r>
              <a:rPr lang="es-ES" sz="2000" dirty="0">
                <a:latin typeface="Calibri"/>
              </a:rPr>
              <a:t>Risk-</a:t>
            </a:r>
            <a:r>
              <a:rPr lang="es-ES" sz="2000" dirty="0" err="1">
                <a:latin typeface="Calibri"/>
              </a:rPr>
              <a:t>aversion</a:t>
            </a:r>
            <a:endParaRPr lang="es-ES" sz="2000"/>
          </a:p>
        </p:txBody>
      </p:sp>
      <p:sp>
        <p:nvSpPr>
          <p:cNvPr id="8" name="Marcador de texto 1">
            <a:extLst>
              <a:ext uri="{FF2B5EF4-FFF2-40B4-BE49-F238E27FC236}">
                <a16:creationId xmlns:a16="http://schemas.microsoft.com/office/drawing/2014/main" id="{6A39DAF8-5133-6C9A-4957-B78E47BE0CE9}"/>
              </a:ext>
            </a:extLst>
          </p:cNvPr>
          <p:cNvSpPr txBox="1">
            <a:spLocks/>
          </p:cNvSpPr>
          <p:nvPr/>
        </p:nvSpPr>
        <p:spPr>
          <a:xfrm>
            <a:off x="3040865" y="3347933"/>
            <a:ext cx="3388032" cy="307777"/>
          </a:xfrm>
          <a:prstGeom prst="rect">
            <a:avLst/>
          </a:prstGeom>
        </p:spPr>
        <p:txBody>
          <a:bodyPr wrap="square" lIns="0" tIns="0" rIns="0" bIns="0" anchor="t">
            <a:spAutoFit/>
          </a:bodyPr>
          <a:lstStyle>
            <a:defPPr marR="0" algn="l" rtl="0">
              <a:lnSpc>
                <a:spcPct val="100000"/>
              </a:lnSpc>
              <a:spcBef>
                <a:spcPts val="0"/>
              </a:spcBef>
              <a:spcAft>
                <a:spcPts val="0"/>
              </a:spcAft>
            </a:defPPr>
            <a:lvl1pPr marR="0" algn="l" rtl="0">
              <a:lnSpc>
                <a:spcPct val="100000"/>
              </a:lnSpc>
              <a:spcBef>
                <a:spcPts val="0"/>
              </a:spcBef>
              <a:spcAft>
                <a:spcPts val="0"/>
              </a:spcAft>
              <a:buNone/>
              <a:defRPr sz="2400" b="1" i="0" u="none" strike="noStrike" cap="none" baseline="0">
                <a:solidFill>
                  <a:srgbClr val="000000"/>
                </a:solidFill>
                <a:latin typeface="Calibri" panose="020F0502020204030204" pitchFamily="34" charset="0"/>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a:lstStyle>
          <a:p>
            <a:r>
              <a:rPr lang="es-ES" sz="2000" dirty="0" err="1">
                <a:latin typeface="Calibri"/>
              </a:rPr>
              <a:t>Waiting</a:t>
            </a:r>
            <a:r>
              <a:rPr lang="es-ES" sz="2000" dirty="0">
                <a:latin typeface="Calibri"/>
              </a:rPr>
              <a:t>-time </a:t>
            </a:r>
            <a:r>
              <a:rPr lang="es-ES" sz="2000" dirty="0" err="1">
                <a:latin typeface="Calibri"/>
              </a:rPr>
              <a:t>aversion</a:t>
            </a:r>
            <a:endParaRPr lang="es-ES" sz="2000"/>
          </a:p>
        </p:txBody>
      </p:sp>
      <p:sp>
        <p:nvSpPr>
          <p:cNvPr id="9" name="Marcador de texto 1">
            <a:extLst>
              <a:ext uri="{FF2B5EF4-FFF2-40B4-BE49-F238E27FC236}">
                <a16:creationId xmlns:a16="http://schemas.microsoft.com/office/drawing/2014/main" id="{6620E49A-CE3C-2762-A731-80BCF3DD5D34}"/>
              </a:ext>
            </a:extLst>
          </p:cNvPr>
          <p:cNvSpPr txBox="1">
            <a:spLocks/>
          </p:cNvSpPr>
          <p:nvPr/>
        </p:nvSpPr>
        <p:spPr>
          <a:xfrm>
            <a:off x="3040865" y="3962296"/>
            <a:ext cx="3388032" cy="307777"/>
          </a:xfrm>
          <a:prstGeom prst="rect">
            <a:avLst/>
          </a:prstGeom>
        </p:spPr>
        <p:txBody>
          <a:bodyPr wrap="square" lIns="0" tIns="0" rIns="0" bIns="0" anchor="t">
            <a:spAutoFit/>
          </a:bodyPr>
          <a:lstStyle>
            <a:defPPr marR="0" algn="l" rtl="0">
              <a:lnSpc>
                <a:spcPct val="100000"/>
              </a:lnSpc>
              <a:spcBef>
                <a:spcPts val="0"/>
              </a:spcBef>
              <a:spcAft>
                <a:spcPts val="0"/>
              </a:spcAft>
            </a:defPPr>
            <a:lvl1pPr marR="0" algn="l" rtl="0">
              <a:lnSpc>
                <a:spcPct val="100000"/>
              </a:lnSpc>
              <a:spcBef>
                <a:spcPts val="0"/>
              </a:spcBef>
              <a:spcAft>
                <a:spcPts val="0"/>
              </a:spcAft>
              <a:buNone/>
              <a:defRPr sz="2400" b="1" i="0" u="none" strike="noStrike" cap="none" baseline="0">
                <a:solidFill>
                  <a:srgbClr val="000000"/>
                </a:solidFill>
                <a:latin typeface="Calibri" panose="020F0502020204030204" pitchFamily="34" charset="0"/>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a:lstStyle>
          <a:p>
            <a:r>
              <a:rPr lang="es-ES" sz="2000" dirty="0">
                <a:latin typeface="Calibri"/>
              </a:rPr>
              <a:t>Non-linear response</a:t>
            </a:r>
            <a:endParaRPr lang="es-ES" sz="2000"/>
          </a:p>
        </p:txBody>
      </p:sp>
      <p:cxnSp>
        <p:nvCxnSpPr>
          <p:cNvPr id="10" name="Conector recto de flecha 9">
            <a:extLst>
              <a:ext uri="{FF2B5EF4-FFF2-40B4-BE49-F238E27FC236}">
                <a16:creationId xmlns:a16="http://schemas.microsoft.com/office/drawing/2014/main" id="{B5F2BF8A-C93A-95A5-E3D8-DD5A2815E640}"/>
              </a:ext>
            </a:extLst>
          </p:cNvPr>
          <p:cNvCxnSpPr/>
          <p:nvPr/>
        </p:nvCxnSpPr>
        <p:spPr>
          <a:xfrm>
            <a:off x="2876227" y="2731808"/>
            <a:ext cx="2279" cy="1652716"/>
          </a:xfrm>
          <a:prstGeom prst="straightConnector1">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06BDB8C1-B911-922B-FCD0-ABFA456C1861}"/>
              </a:ext>
            </a:extLst>
          </p:cNvPr>
          <p:cNvSpPr txBox="1"/>
          <p:nvPr/>
        </p:nvSpPr>
        <p:spPr>
          <a:xfrm>
            <a:off x="319344" y="3207736"/>
            <a:ext cx="2422458" cy="707886"/>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algn="ctr"/>
            <a:r>
              <a:rPr lang="es-ES" sz="2000" b="1" dirty="0" err="1">
                <a:latin typeface="Calibri"/>
              </a:rPr>
              <a:t>Bounded</a:t>
            </a:r>
            <a:r>
              <a:rPr lang="es-ES" sz="2000" b="1" dirty="0">
                <a:latin typeface="Calibri"/>
              </a:rPr>
              <a:t> </a:t>
            </a:r>
            <a:r>
              <a:rPr lang="es-ES" sz="2000" b="1" dirty="0" err="1">
                <a:latin typeface="Calibri"/>
              </a:rPr>
              <a:t>rationality</a:t>
            </a:r>
            <a:r>
              <a:rPr lang="es-ES" sz="2000" b="1" dirty="0">
                <a:latin typeface="Calibri"/>
              </a:rPr>
              <a:t> </a:t>
            </a:r>
            <a:endParaRPr lang="es-ES"/>
          </a:p>
          <a:p>
            <a:pPr algn="ctr"/>
            <a:r>
              <a:rPr lang="es-ES" sz="2000" b="1" dirty="0" err="1">
                <a:latin typeface="Calibri"/>
              </a:rPr>
              <a:t>extensions</a:t>
            </a:r>
            <a:endParaRPr lang="es-ES" sz="2000" b="1" dirty="0" err="1">
              <a:latin typeface="Calibri" panose="020F0502020204030204" pitchFamily="34" charset="0"/>
            </a:endParaRPr>
          </a:p>
        </p:txBody>
      </p:sp>
    </p:spTree>
    <p:extLst>
      <p:ext uri="{BB962C8B-B14F-4D97-AF65-F5344CB8AC3E}">
        <p14:creationId xmlns:p14="http://schemas.microsoft.com/office/powerpoint/2010/main" val="16679254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1F79BC56-F771-AF9F-69BC-796A4126165D}"/>
              </a:ext>
            </a:extLst>
          </p:cNvPr>
          <p:cNvSpPr>
            <a:spLocks noGrp="1"/>
          </p:cNvSpPr>
          <p:nvPr>
            <p:ph type="title"/>
          </p:nvPr>
        </p:nvSpPr>
        <p:spPr>
          <a:xfrm>
            <a:off x="73152" y="73152"/>
            <a:ext cx="8863030" cy="430887"/>
          </a:xfrm>
        </p:spPr>
        <p:txBody>
          <a:bodyPr wrap="square" lIns="0" tIns="0" rIns="0" bIns="0" anchor="t">
            <a:spAutoFit/>
          </a:bodyPr>
          <a:lstStyle/>
          <a:p>
            <a:r>
              <a:rPr lang="es-ES" dirty="0" err="1">
                <a:latin typeface="Calibri"/>
              </a:rPr>
              <a:t>Rational</a:t>
            </a:r>
            <a:r>
              <a:rPr lang="es-ES" dirty="0">
                <a:latin typeface="Calibri"/>
              </a:rPr>
              <a:t> </a:t>
            </a:r>
            <a:r>
              <a:rPr lang="es-ES" dirty="0" err="1">
                <a:latin typeface="Calibri"/>
              </a:rPr>
              <a:t>agents</a:t>
            </a:r>
            <a:r>
              <a:rPr lang="es-ES" dirty="0">
                <a:latin typeface="Calibri"/>
              </a:rPr>
              <a:t> converge </a:t>
            </a:r>
            <a:r>
              <a:rPr lang="es-ES" dirty="0" err="1">
                <a:latin typeface="Calibri"/>
              </a:rPr>
              <a:t>towards</a:t>
            </a:r>
            <a:r>
              <a:rPr lang="es-ES" dirty="0">
                <a:latin typeface="Calibri"/>
              </a:rPr>
              <a:t> DUE</a:t>
            </a:r>
            <a:endParaRPr lang="es-ES" dirty="0"/>
          </a:p>
        </p:txBody>
      </p:sp>
      <p:pic>
        <p:nvPicPr>
          <p:cNvPr id="4" name="Imagen 3" descr="Gráfico, Histograma&#10;&#10;El contenido generado por IA puede ser incorrecto.">
            <a:extLst>
              <a:ext uri="{FF2B5EF4-FFF2-40B4-BE49-F238E27FC236}">
                <a16:creationId xmlns:a16="http://schemas.microsoft.com/office/drawing/2014/main" id="{C1A6F155-C4C3-AB2C-A254-4C088AF17A3F}"/>
              </a:ext>
            </a:extLst>
          </p:cNvPr>
          <p:cNvPicPr>
            <a:picLocks noChangeAspect="1"/>
          </p:cNvPicPr>
          <p:nvPr/>
        </p:nvPicPr>
        <p:blipFill>
          <a:blip r:embed="rId2"/>
          <a:stretch>
            <a:fillRect/>
          </a:stretch>
        </p:blipFill>
        <p:spPr>
          <a:xfrm>
            <a:off x="2707159" y="863430"/>
            <a:ext cx="3737403" cy="4065372"/>
          </a:xfrm>
          <a:prstGeom prst="rect">
            <a:avLst/>
          </a:prstGeom>
        </p:spPr>
      </p:pic>
    </p:spTree>
    <p:extLst>
      <p:ext uri="{BB962C8B-B14F-4D97-AF65-F5344CB8AC3E}">
        <p14:creationId xmlns:p14="http://schemas.microsoft.com/office/powerpoint/2010/main" val="23166054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F11FD389-DFE7-0826-5C90-4529F87359B2}"/>
              </a:ext>
            </a:extLst>
          </p:cNvPr>
          <p:cNvSpPr>
            <a:spLocks noGrp="1"/>
          </p:cNvSpPr>
          <p:nvPr>
            <p:ph type="title"/>
          </p:nvPr>
        </p:nvSpPr>
        <p:spPr>
          <a:xfrm>
            <a:off x="73152" y="73152"/>
            <a:ext cx="8863030" cy="861774"/>
          </a:xfrm>
        </p:spPr>
        <p:txBody>
          <a:bodyPr wrap="square" lIns="0" tIns="0" rIns="0" bIns="0" anchor="t">
            <a:spAutoFit/>
          </a:bodyPr>
          <a:lstStyle/>
          <a:p>
            <a:r>
              <a:rPr lang="es-ES" dirty="0">
                <a:latin typeface="Calibri"/>
              </a:rPr>
              <a:t>The </a:t>
            </a:r>
            <a:r>
              <a:rPr lang="es-ES" dirty="0" err="1">
                <a:latin typeface="Calibri"/>
              </a:rPr>
              <a:t>proposed</a:t>
            </a:r>
            <a:r>
              <a:rPr lang="es-ES" dirty="0">
                <a:latin typeface="Calibri"/>
              </a:rPr>
              <a:t> Bush–Mosteller MARL </a:t>
            </a:r>
            <a:r>
              <a:rPr lang="es-ES" dirty="0" err="1">
                <a:latin typeface="Calibri"/>
              </a:rPr>
              <a:t>approach</a:t>
            </a:r>
            <a:r>
              <a:rPr lang="es-ES" dirty="0">
                <a:latin typeface="Calibri"/>
              </a:rPr>
              <a:t> </a:t>
            </a:r>
            <a:r>
              <a:rPr lang="es-ES" dirty="0" err="1">
                <a:latin typeface="Calibri"/>
              </a:rPr>
              <a:t>appears</a:t>
            </a:r>
            <a:r>
              <a:rPr lang="es-ES" dirty="0">
                <a:latin typeface="Calibri"/>
              </a:rPr>
              <a:t> </a:t>
            </a:r>
            <a:r>
              <a:rPr lang="es-ES" dirty="0" err="1">
                <a:latin typeface="Calibri"/>
              </a:rPr>
              <a:t>to</a:t>
            </a:r>
            <a:r>
              <a:rPr lang="es-ES" dirty="0">
                <a:latin typeface="Calibri"/>
              </a:rPr>
              <a:t> </a:t>
            </a:r>
            <a:r>
              <a:rPr lang="es-ES" dirty="0" err="1">
                <a:latin typeface="Calibri"/>
              </a:rPr>
              <a:t>generate</a:t>
            </a:r>
            <a:r>
              <a:rPr lang="es-ES" dirty="0">
                <a:latin typeface="Calibri"/>
              </a:rPr>
              <a:t> more </a:t>
            </a:r>
            <a:r>
              <a:rPr lang="es-ES" dirty="0" err="1">
                <a:latin typeface="Calibri"/>
              </a:rPr>
              <a:t>dispersed</a:t>
            </a:r>
            <a:r>
              <a:rPr lang="es-ES" dirty="0">
                <a:latin typeface="Calibri"/>
              </a:rPr>
              <a:t> </a:t>
            </a:r>
            <a:r>
              <a:rPr lang="es-ES" dirty="0" err="1">
                <a:latin typeface="Calibri"/>
              </a:rPr>
              <a:t>traffic</a:t>
            </a:r>
            <a:r>
              <a:rPr lang="es-ES" dirty="0">
                <a:latin typeface="Calibri"/>
              </a:rPr>
              <a:t> </a:t>
            </a:r>
            <a:r>
              <a:rPr lang="es-ES" dirty="0" err="1">
                <a:latin typeface="Calibri"/>
              </a:rPr>
              <a:t>than</a:t>
            </a:r>
            <a:r>
              <a:rPr lang="es-ES" dirty="0">
                <a:latin typeface="Calibri"/>
              </a:rPr>
              <a:t> </a:t>
            </a:r>
            <a:r>
              <a:rPr lang="es-ES" dirty="0" err="1">
                <a:latin typeface="Calibri"/>
              </a:rPr>
              <a:t>the</a:t>
            </a:r>
            <a:r>
              <a:rPr lang="es-ES" dirty="0">
                <a:latin typeface="Calibri"/>
              </a:rPr>
              <a:t> </a:t>
            </a:r>
            <a:r>
              <a:rPr lang="es-ES" dirty="0" err="1">
                <a:latin typeface="Calibri"/>
              </a:rPr>
              <a:t>benchmark</a:t>
            </a:r>
          </a:p>
        </p:txBody>
      </p:sp>
      <p:pic>
        <p:nvPicPr>
          <p:cNvPr id="4" name="Imagen 3" descr="Diagrama&#10;&#10;El contenido generado por IA puede ser incorrecto.">
            <a:extLst>
              <a:ext uri="{FF2B5EF4-FFF2-40B4-BE49-F238E27FC236}">
                <a16:creationId xmlns:a16="http://schemas.microsoft.com/office/drawing/2014/main" id="{37A9960B-2963-8A33-3347-AF6854E88210}"/>
              </a:ext>
            </a:extLst>
          </p:cNvPr>
          <p:cNvPicPr>
            <a:picLocks noChangeAspect="1"/>
          </p:cNvPicPr>
          <p:nvPr/>
        </p:nvPicPr>
        <p:blipFill>
          <a:blip r:embed="rId2"/>
          <a:srcRect t="1572" r="155" b="-195"/>
          <a:stretch>
            <a:fillRect/>
          </a:stretch>
        </p:blipFill>
        <p:spPr>
          <a:xfrm>
            <a:off x="211931" y="1288733"/>
            <a:ext cx="4583912" cy="3616613"/>
          </a:xfrm>
          <a:prstGeom prst="rect">
            <a:avLst/>
          </a:prstGeom>
        </p:spPr>
      </p:pic>
      <p:pic>
        <p:nvPicPr>
          <p:cNvPr id="5" name="Imagen 4" descr="Tabla&#10;&#10;El contenido generado por IA puede ser incorrecto.">
            <a:extLst>
              <a:ext uri="{FF2B5EF4-FFF2-40B4-BE49-F238E27FC236}">
                <a16:creationId xmlns:a16="http://schemas.microsoft.com/office/drawing/2014/main" id="{9467300D-C7BD-4C0E-0E5E-7D1369AC4E2E}"/>
              </a:ext>
            </a:extLst>
          </p:cNvPr>
          <p:cNvPicPr>
            <a:picLocks noChangeAspect="1"/>
          </p:cNvPicPr>
          <p:nvPr/>
        </p:nvPicPr>
        <p:blipFill>
          <a:blip r:embed="rId3"/>
          <a:stretch>
            <a:fillRect/>
          </a:stretch>
        </p:blipFill>
        <p:spPr>
          <a:xfrm>
            <a:off x="5064919" y="1933575"/>
            <a:ext cx="3571875" cy="2333625"/>
          </a:xfrm>
          <a:prstGeom prst="rect">
            <a:avLst/>
          </a:prstGeom>
        </p:spPr>
      </p:pic>
    </p:spTree>
    <p:extLst>
      <p:ext uri="{BB962C8B-B14F-4D97-AF65-F5344CB8AC3E}">
        <p14:creationId xmlns:p14="http://schemas.microsoft.com/office/powerpoint/2010/main" val="12898044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FC2EB1EA-4B2E-7880-16F0-7C9AC90A7841}"/>
              </a:ext>
            </a:extLst>
          </p:cNvPr>
          <p:cNvSpPr>
            <a:spLocks noGrp="1"/>
          </p:cNvSpPr>
          <p:nvPr>
            <p:ph type="title"/>
          </p:nvPr>
        </p:nvSpPr>
        <p:spPr>
          <a:xfrm>
            <a:off x="73152" y="73152"/>
            <a:ext cx="8863030" cy="861774"/>
          </a:xfrm>
        </p:spPr>
        <p:txBody>
          <a:bodyPr wrap="square" lIns="0" tIns="0" rIns="0" bIns="0" anchor="t">
            <a:spAutoFit/>
          </a:bodyPr>
          <a:lstStyle/>
          <a:p>
            <a:r>
              <a:rPr lang="es-ES" dirty="0">
                <a:latin typeface="Calibri"/>
                <a:ea typeface="Calibri"/>
                <a:cs typeface="Calibri"/>
              </a:rPr>
              <a:t>Perfect </a:t>
            </a:r>
            <a:r>
              <a:rPr lang="es-ES" dirty="0" err="1">
                <a:latin typeface="Calibri"/>
                <a:ea typeface="Calibri"/>
                <a:cs typeface="Calibri"/>
              </a:rPr>
              <a:t>memory</a:t>
            </a:r>
            <a:r>
              <a:rPr lang="es-ES" dirty="0">
                <a:latin typeface="Calibri"/>
                <a:ea typeface="Calibri"/>
                <a:cs typeface="Calibri"/>
              </a:rPr>
              <a:t> </a:t>
            </a:r>
            <a:r>
              <a:rPr lang="es-ES" dirty="0" err="1">
                <a:latin typeface="Calibri"/>
                <a:ea typeface="Calibri"/>
                <a:cs typeface="Calibri"/>
              </a:rPr>
              <a:t>prevents</a:t>
            </a:r>
            <a:r>
              <a:rPr lang="es-ES" dirty="0">
                <a:latin typeface="Calibri"/>
                <a:ea typeface="Calibri"/>
                <a:cs typeface="Calibri"/>
              </a:rPr>
              <a:t> </a:t>
            </a:r>
            <a:r>
              <a:rPr lang="es-ES" dirty="0" err="1">
                <a:latin typeface="Calibri"/>
                <a:ea typeface="Calibri"/>
                <a:cs typeface="Calibri"/>
              </a:rPr>
              <a:t>recovery</a:t>
            </a:r>
            <a:r>
              <a:rPr lang="es-ES" dirty="0">
                <a:latin typeface="Calibri"/>
                <a:ea typeface="Calibri"/>
                <a:cs typeface="Calibri"/>
              </a:rPr>
              <a:t> </a:t>
            </a:r>
            <a:r>
              <a:rPr lang="es-ES" dirty="0" err="1">
                <a:latin typeface="Calibri"/>
                <a:ea typeface="Calibri"/>
                <a:cs typeface="Calibri"/>
              </a:rPr>
              <a:t>from</a:t>
            </a:r>
            <a:r>
              <a:rPr lang="es-ES" dirty="0">
                <a:latin typeface="Calibri"/>
                <a:ea typeface="Calibri"/>
                <a:cs typeface="Calibri"/>
              </a:rPr>
              <a:t> </a:t>
            </a:r>
            <a:r>
              <a:rPr lang="es-ES" dirty="0" err="1">
                <a:latin typeface="Calibri"/>
                <a:ea typeface="Calibri"/>
                <a:cs typeface="Calibri"/>
              </a:rPr>
              <a:t>disrupted</a:t>
            </a:r>
            <a:r>
              <a:rPr lang="es-ES" dirty="0">
                <a:latin typeface="Calibri"/>
                <a:ea typeface="Calibri"/>
                <a:cs typeface="Calibri"/>
              </a:rPr>
              <a:t> </a:t>
            </a:r>
            <a:r>
              <a:rPr lang="es-ES" dirty="0" err="1">
                <a:latin typeface="Calibri"/>
                <a:ea typeface="Calibri"/>
                <a:cs typeface="Calibri"/>
              </a:rPr>
              <a:t>edges</a:t>
            </a:r>
            <a:r>
              <a:rPr lang="es-ES" dirty="0">
                <a:latin typeface="Calibri"/>
                <a:ea typeface="Calibri"/>
                <a:cs typeface="Calibri"/>
              </a:rPr>
              <a:t> , </a:t>
            </a:r>
            <a:r>
              <a:rPr lang="es-ES" dirty="0" err="1">
                <a:latin typeface="Calibri"/>
                <a:ea typeface="Calibri"/>
                <a:cs typeface="Calibri"/>
              </a:rPr>
              <a:t>whereas</a:t>
            </a:r>
            <a:r>
              <a:rPr lang="es-ES" dirty="0">
                <a:latin typeface="Calibri"/>
                <a:ea typeface="Calibri"/>
                <a:cs typeface="Calibri"/>
              </a:rPr>
              <a:t> </a:t>
            </a:r>
            <a:r>
              <a:rPr lang="es-ES" dirty="0" err="1">
                <a:latin typeface="Calibri"/>
                <a:ea typeface="Calibri"/>
                <a:cs typeface="Calibri"/>
              </a:rPr>
              <a:t>lower</a:t>
            </a:r>
            <a:r>
              <a:rPr lang="es-ES" dirty="0">
                <a:latin typeface="Calibri"/>
                <a:ea typeface="Calibri"/>
                <a:cs typeface="Calibri"/>
              </a:rPr>
              <a:t> </a:t>
            </a:r>
            <a:r>
              <a:rPr lang="es-ES" dirty="0" err="1">
                <a:latin typeface="Calibri"/>
                <a:ea typeface="Calibri"/>
                <a:cs typeface="Calibri"/>
              </a:rPr>
              <a:t>memory</a:t>
            </a:r>
            <a:r>
              <a:rPr lang="es-ES" dirty="0">
                <a:latin typeface="Calibri"/>
                <a:ea typeface="Calibri"/>
                <a:cs typeface="Calibri"/>
              </a:rPr>
              <a:t> </a:t>
            </a:r>
            <a:r>
              <a:rPr lang="es-ES" dirty="0" err="1">
                <a:latin typeface="Calibri"/>
                <a:ea typeface="Calibri"/>
                <a:cs typeface="Calibri"/>
              </a:rPr>
              <a:t>enables</a:t>
            </a:r>
            <a:r>
              <a:rPr lang="es-ES" dirty="0">
                <a:latin typeface="Calibri"/>
                <a:ea typeface="Calibri"/>
                <a:cs typeface="Calibri"/>
              </a:rPr>
              <a:t> </a:t>
            </a:r>
            <a:r>
              <a:rPr lang="es-ES" dirty="0" err="1">
                <a:latin typeface="Calibri"/>
                <a:ea typeface="Calibri"/>
                <a:cs typeface="Calibri"/>
              </a:rPr>
              <a:t>partial</a:t>
            </a:r>
            <a:r>
              <a:rPr lang="es-ES" dirty="0">
                <a:latin typeface="Calibri"/>
                <a:ea typeface="Calibri"/>
                <a:cs typeface="Calibri"/>
              </a:rPr>
              <a:t> </a:t>
            </a:r>
            <a:r>
              <a:rPr lang="es-ES" dirty="0" err="1">
                <a:latin typeface="Calibri"/>
                <a:ea typeface="Calibri"/>
                <a:cs typeface="Calibri"/>
              </a:rPr>
              <a:t>recovery</a:t>
            </a:r>
            <a:endParaRPr lang="es-ES" dirty="0" err="1">
              <a:ea typeface="Calibri"/>
              <a:cs typeface="Calibri"/>
            </a:endParaRPr>
          </a:p>
        </p:txBody>
      </p:sp>
      <p:pic>
        <p:nvPicPr>
          <p:cNvPr id="4" name="Imagen 3" descr="Gráfico&#10;&#10;El contenido generado por IA puede ser incorrecto.">
            <a:extLst>
              <a:ext uri="{FF2B5EF4-FFF2-40B4-BE49-F238E27FC236}">
                <a16:creationId xmlns:a16="http://schemas.microsoft.com/office/drawing/2014/main" id="{454897CC-9B0B-FFCC-CD0B-A6BF6AF195B9}"/>
              </a:ext>
            </a:extLst>
          </p:cNvPr>
          <p:cNvPicPr>
            <a:picLocks noChangeAspect="1"/>
          </p:cNvPicPr>
          <p:nvPr/>
        </p:nvPicPr>
        <p:blipFill>
          <a:blip r:embed="rId2"/>
          <a:stretch>
            <a:fillRect/>
          </a:stretch>
        </p:blipFill>
        <p:spPr>
          <a:xfrm>
            <a:off x="264319" y="1285542"/>
            <a:ext cx="8486775" cy="3543961"/>
          </a:xfrm>
          <a:prstGeom prst="rect">
            <a:avLst/>
          </a:prstGeom>
        </p:spPr>
      </p:pic>
    </p:spTree>
    <p:extLst>
      <p:ext uri="{BB962C8B-B14F-4D97-AF65-F5344CB8AC3E}">
        <p14:creationId xmlns:p14="http://schemas.microsoft.com/office/powerpoint/2010/main" val="9043159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0BBB1969-63AF-89E5-DB7A-4C03795BD0CA}"/>
              </a:ext>
            </a:extLst>
          </p:cNvPr>
          <p:cNvSpPr>
            <a:spLocks noGrp="1"/>
          </p:cNvSpPr>
          <p:nvPr>
            <p:ph type="title"/>
          </p:nvPr>
        </p:nvSpPr>
        <p:spPr>
          <a:xfrm>
            <a:off x="73152" y="73152"/>
            <a:ext cx="8863030" cy="861774"/>
          </a:xfrm>
        </p:spPr>
        <p:txBody>
          <a:bodyPr wrap="square" lIns="0" tIns="0" rIns="0" bIns="0" anchor="t">
            <a:spAutoFit/>
          </a:bodyPr>
          <a:lstStyle/>
          <a:p>
            <a:r>
              <a:rPr lang="es-ES" dirty="0">
                <a:latin typeface="Calibri"/>
                <a:ea typeface="Calibri"/>
                <a:cs typeface="Calibri"/>
              </a:rPr>
              <a:t>Perfect </a:t>
            </a:r>
            <a:r>
              <a:rPr lang="es-ES" dirty="0" err="1">
                <a:latin typeface="Calibri"/>
                <a:ea typeface="Calibri"/>
                <a:cs typeface="Calibri"/>
              </a:rPr>
              <a:t>memory</a:t>
            </a:r>
            <a:r>
              <a:rPr lang="es-ES" dirty="0">
                <a:latin typeface="Calibri"/>
                <a:ea typeface="Calibri"/>
                <a:cs typeface="Calibri"/>
              </a:rPr>
              <a:t> </a:t>
            </a:r>
            <a:r>
              <a:rPr lang="es-ES" dirty="0" err="1">
                <a:latin typeface="Calibri"/>
                <a:ea typeface="Calibri"/>
                <a:cs typeface="Calibri"/>
              </a:rPr>
              <a:t>prevents</a:t>
            </a:r>
            <a:r>
              <a:rPr lang="es-ES" dirty="0">
                <a:latin typeface="Calibri"/>
                <a:ea typeface="Calibri"/>
                <a:cs typeface="Calibri"/>
              </a:rPr>
              <a:t> </a:t>
            </a:r>
            <a:r>
              <a:rPr lang="es-ES" dirty="0" err="1">
                <a:latin typeface="Calibri"/>
                <a:ea typeface="Calibri"/>
                <a:cs typeface="Calibri"/>
              </a:rPr>
              <a:t>recovery</a:t>
            </a:r>
            <a:r>
              <a:rPr lang="es-ES" dirty="0">
                <a:latin typeface="Calibri"/>
                <a:ea typeface="Calibri"/>
                <a:cs typeface="Calibri"/>
              </a:rPr>
              <a:t> </a:t>
            </a:r>
            <a:r>
              <a:rPr lang="es-ES" dirty="0" err="1">
                <a:latin typeface="Calibri"/>
                <a:ea typeface="Calibri"/>
                <a:cs typeface="Calibri"/>
              </a:rPr>
              <a:t>from</a:t>
            </a:r>
            <a:r>
              <a:rPr lang="es-ES" dirty="0">
                <a:latin typeface="Calibri"/>
                <a:ea typeface="Calibri"/>
                <a:cs typeface="Calibri"/>
              </a:rPr>
              <a:t> </a:t>
            </a:r>
            <a:r>
              <a:rPr lang="es-ES" dirty="0" err="1">
                <a:latin typeface="Calibri"/>
                <a:ea typeface="Calibri"/>
                <a:cs typeface="Calibri"/>
              </a:rPr>
              <a:t>disrupted</a:t>
            </a:r>
            <a:r>
              <a:rPr lang="es-ES" dirty="0">
                <a:latin typeface="Calibri"/>
                <a:ea typeface="Calibri"/>
                <a:cs typeface="Calibri"/>
              </a:rPr>
              <a:t> </a:t>
            </a:r>
            <a:r>
              <a:rPr lang="es-ES" dirty="0" err="1">
                <a:latin typeface="Calibri"/>
                <a:ea typeface="Calibri"/>
                <a:cs typeface="Calibri"/>
              </a:rPr>
              <a:t>routes</a:t>
            </a:r>
            <a:r>
              <a:rPr lang="es-ES" dirty="0">
                <a:latin typeface="Calibri"/>
                <a:ea typeface="Calibri"/>
                <a:cs typeface="Calibri"/>
              </a:rPr>
              <a:t>, </a:t>
            </a:r>
            <a:r>
              <a:rPr lang="es-ES" dirty="0" err="1">
                <a:latin typeface="Calibri"/>
                <a:ea typeface="Calibri"/>
                <a:cs typeface="Calibri"/>
              </a:rPr>
              <a:t>whereas</a:t>
            </a:r>
            <a:r>
              <a:rPr lang="es-ES" dirty="0">
                <a:latin typeface="Calibri"/>
                <a:ea typeface="Calibri"/>
                <a:cs typeface="Calibri"/>
              </a:rPr>
              <a:t> </a:t>
            </a:r>
            <a:r>
              <a:rPr lang="es-ES" dirty="0" err="1">
                <a:latin typeface="Calibri"/>
                <a:ea typeface="Calibri"/>
                <a:cs typeface="Calibri"/>
              </a:rPr>
              <a:t>lower</a:t>
            </a:r>
            <a:r>
              <a:rPr lang="es-ES" dirty="0">
                <a:latin typeface="Calibri"/>
                <a:ea typeface="Calibri"/>
                <a:cs typeface="Calibri"/>
              </a:rPr>
              <a:t> </a:t>
            </a:r>
            <a:r>
              <a:rPr lang="es-ES" dirty="0" err="1">
                <a:latin typeface="Calibri"/>
                <a:ea typeface="Calibri"/>
                <a:cs typeface="Calibri"/>
              </a:rPr>
              <a:t>memory</a:t>
            </a:r>
            <a:r>
              <a:rPr lang="es-ES" dirty="0">
                <a:latin typeface="Calibri"/>
                <a:ea typeface="Calibri"/>
                <a:cs typeface="Calibri"/>
              </a:rPr>
              <a:t> </a:t>
            </a:r>
            <a:r>
              <a:rPr lang="es-ES" dirty="0" err="1">
                <a:latin typeface="Calibri"/>
                <a:ea typeface="Calibri"/>
                <a:cs typeface="Calibri"/>
              </a:rPr>
              <a:t>enables</a:t>
            </a:r>
            <a:r>
              <a:rPr lang="es-ES" dirty="0">
                <a:latin typeface="Calibri"/>
                <a:ea typeface="Calibri"/>
                <a:cs typeface="Calibri"/>
              </a:rPr>
              <a:t> </a:t>
            </a:r>
            <a:r>
              <a:rPr lang="es-ES" dirty="0" err="1">
                <a:latin typeface="Calibri"/>
                <a:ea typeface="Calibri"/>
                <a:cs typeface="Calibri"/>
              </a:rPr>
              <a:t>partial</a:t>
            </a:r>
            <a:r>
              <a:rPr lang="es-ES" dirty="0">
                <a:latin typeface="Calibri"/>
                <a:ea typeface="Calibri"/>
                <a:cs typeface="Calibri"/>
              </a:rPr>
              <a:t> </a:t>
            </a:r>
            <a:r>
              <a:rPr lang="es-ES" dirty="0" err="1">
                <a:latin typeface="Calibri"/>
                <a:ea typeface="Calibri"/>
                <a:cs typeface="Calibri"/>
              </a:rPr>
              <a:t>recovery</a:t>
            </a:r>
            <a:endParaRPr lang="es-ES" dirty="0" err="1">
              <a:latin typeface="Calibri"/>
            </a:endParaRPr>
          </a:p>
        </p:txBody>
      </p:sp>
      <p:pic>
        <p:nvPicPr>
          <p:cNvPr id="4" name="Imagen 3" descr="Gráfico&#10;&#10;El contenido generado por IA puede ser incorrecto.">
            <a:extLst>
              <a:ext uri="{FF2B5EF4-FFF2-40B4-BE49-F238E27FC236}">
                <a16:creationId xmlns:a16="http://schemas.microsoft.com/office/drawing/2014/main" id="{F35F993E-6B48-CCC1-1FAB-5CCD7CE0E41A}"/>
              </a:ext>
            </a:extLst>
          </p:cNvPr>
          <p:cNvPicPr>
            <a:picLocks noChangeAspect="1"/>
          </p:cNvPicPr>
          <p:nvPr/>
        </p:nvPicPr>
        <p:blipFill>
          <a:blip r:embed="rId2"/>
          <a:stretch>
            <a:fillRect/>
          </a:stretch>
        </p:blipFill>
        <p:spPr>
          <a:xfrm>
            <a:off x="345283" y="1202531"/>
            <a:ext cx="8317705" cy="3731418"/>
          </a:xfrm>
          <a:prstGeom prst="rect">
            <a:avLst/>
          </a:prstGeom>
        </p:spPr>
      </p:pic>
    </p:spTree>
    <p:extLst>
      <p:ext uri="{BB962C8B-B14F-4D97-AF65-F5344CB8AC3E}">
        <p14:creationId xmlns:p14="http://schemas.microsoft.com/office/powerpoint/2010/main" val="16181388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AC6AF7C3-A519-1B36-FC50-92ACA1281FC8}"/>
              </a:ext>
            </a:extLst>
          </p:cNvPr>
          <p:cNvSpPr>
            <a:spLocks noGrp="1"/>
          </p:cNvSpPr>
          <p:nvPr>
            <p:ph type="title"/>
          </p:nvPr>
        </p:nvSpPr>
        <p:spPr/>
        <p:txBody>
          <a:bodyPr wrap="square" lIns="0" tIns="0" rIns="0" bIns="0" anchor="t">
            <a:spAutoFit/>
          </a:bodyPr>
          <a:lstStyle/>
          <a:p>
            <a:r>
              <a:rPr lang="es-ES" dirty="0">
                <a:latin typeface="Calibri"/>
              </a:rPr>
              <a:t>Risk-averse drivers </a:t>
            </a:r>
            <a:r>
              <a:rPr lang="es-ES" dirty="0" err="1">
                <a:latin typeface="Calibri"/>
              </a:rPr>
              <a:t>may</a:t>
            </a:r>
            <a:r>
              <a:rPr lang="es-ES" dirty="0">
                <a:latin typeface="Calibri"/>
              </a:rPr>
              <a:t> </a:t>
            </a:r>
            <a:r>
              <a:rPr lang="es-ES" dirty="0" err="1">
                <a:latin typeface="Calibri"/>
              </a:rPr>
              <a:t>prevent</a:t>
            </a:r>
            <a:r>
              <a:rPr lang="es-ES" dirty="0">
                <a:latin typeface="Calibri"/>
              </a:rPr>
              <a:t> </a:t>
            </a:r>
            <a:r>
              <a:rPr lang="es-ES" dirty="0" err="1">
                <a:latin typeface="Calibri"/>
              </a:rPr>
              <a:t>convergence</a:t>
            </a:r>
            <a:r>
              <a:rPr lang="es-ES" dirty="0">
                <a:latin typeface="Calibri"/>
              </a:rPr>
              <a:t> </a:t>
            </a:r>
            <a:r>
              <a:rPr lang="es-ES" dirty="0" err="1">
                <a:latin typeface="Calibri"/>
              </a:rPr>
              <a:t>towards</a:t>
            </a:r>
            <a:r>
              <a:rPr lang="es-ES" dirty="0">
                <a:latin typeface="Calibri"/>
              </a:rPr>
              <a:t> DUE</a:t>
            </a:r>
            <a:endParaRPr lang="es-ES" b="0" dirty="0">
              <a:latin typeface="Calibri"/>
              <a:ea typeface="Calibri"/>
              <a:cs typeface="Calibri"/>
            </a:endParaRPr>
          </a:p>
        </p:txBody>
      </p:sp>
      <p:pic>
        <p:nvPicPr>
          <p:cNvPr id="4" name="Imagen 3" descr="Imagen que contiene Interfaz de usuario gráfica&#10;&#10;El contenido generado por IA puede ser incorrecto.">
            <a:extLst>
              <a:ext uri="{FF2B5EF4-FFF2-40B4-BE49-F238E27FC236}">
                <a16:creationId xmlns:a16="http://schemas.microsoft.com/office/drawing/2014/main" id="{3D6FAE3B-EB71-16A8-ED6C-08C9D2DCCB64}"/>
              </a:ext>
            </a:extLst>
          </p:cNvPr>
          <p:cNvPicPr>
            <a:picLocks noChangeAspect="1"/>
          </p:cNvPicPr>
          <p:nvPr/>
        </p:nvPicPr>
        <p:blipFill>
          <a:blip r:embed="rId2"/>
          <a:stretch>
            <a:fillRect/>
          </a:stretch>
        </p:blipFill>
        <p:spPr>
          <a:xfrm>
            <a:off x="216244" y="1048730"/>
            <a:ext cx="8572500" cy="3733382"/>
          </a:xfrm>
          <a:prstGeom prst="rect">
            <a:avLst/>
          </a:prstGeom>
        </p:spPr>
      </p:pic>
    </p:spTree>
    <p:extLst>
      <p:ext uri="{BB962C8B-B14F-4D97-AF65-F5344CB8AC3E}">
        <p14:creationId xmlns:p14="http://schemas.microsoft.com/office/powerpoint/2010/main" val="2650359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D2C33D55-CBAC-6F94-B0B2-B4223FA20A9E}"/>
              </a:ext>
            </a:extLst>
          </p:cNvPr>
          <p:cNvSpPr>
            <a:spLocks noGrp="1"/>
          </p:cNvSpPr>
          <p:nvPr>
            <p:ph type="title"/>
          </p:nvPr>
        </p:nvSpPr>
        <p:spPr>
          <a:xfrm>
            <a:off x="73152" y="73152"/>
            <a:ext cx="8863030" cy="861774"/>
          </a:xfrm>
        </p:spPr>
        <p:txBody>
          <a:bodyPr wrap="square" lIns="0" tIns="0" rIns="0" bIns="0" anchor="t">
            <a:spAutoFit/>
          </a:bodyPr>
          <a:lstStyle/>
          <a:p>
            <a:r>
              <a:rPr lang="es-ES" dirty="0">
                <a:latin typeface="Calibri"/>
                <a:ea typeface="Calibri"/>
                <a:cs typeface="Calibri"/>
              </a:rPr>
              <a:t>Risk-averse drivers </a:t>
            </a:r>
            <a:r>
              <a:rPr lang="es-ES" dirty="0" err="1">
                <a:latin typeface="Calibri"/>
                <a:ea typeface="Calibri"/>
                <a:cs typeface="Calibri"/>
              </a:rPr>
              <a:t>may</a:t>
            </a:r>
            <a:r>
              <a:rPr lang="es-ES" dirty="0">
                <a:latin typeface="Calibri"/>
                <a:ea typeface="Calibri"/>
                <a:cs typeface="Calibri"/>
              </a:rPr>
              <a:t> </a:t>
            </a:r>
            <a:r>
              <a:rPr lang="es-ES" dirty="0" err="1">
                <a:latin typeface="Calibri"/>
                <a:ea typeface="Calibri"/>
                <a:cs typeface="Calibri"/>
              </a:rPr>
              <a:t>prefer</a:t>
            </a:r>
            <a:r>
              <a:rPr lang="es-ES" dirty="0">
                <a:latin typeface="Calibri"/>
                <a:ea typeface="Calibri"/>
                <a:cs typeface="Calibri"/>
              </a:rPr>
              <a:t> </a:t>
            </a:r>
            <a:r>
              <a:rPr lang="es-ES" dirty="0" err="1">
                <a:latin typeface="Calibri"/>
                <a:ea typeface="Calibri"/>
                <a:cs typeface="Calibri"/>
              </a:rPr>
              <a:t>longer</a:t>
            </a:r>
            <a:r>
              <a:rPr lang="es-ES" dirty="0">
                <a:latin typeface="Calibri"/>
                <a:ea typeface="Calibri"/>
                <a:cs typeface="Calibri"/>
              </a:rPr>
              <a:t> </a:t>
            </a:r>
            <a:r>
              <a:rPr lang="es-ES" dirty="0" err="1">
                <a:latin typeface="Calibri"/>
                <a:ea typeface="Calibri"/>
                <a:cs typeface="Calibri"/>
              </a:rPr>
              <a:t>but</a:t>
            </a:r>
            <a:r>
              <a:rPr lang="es-ES" dirty="0">
                <a:latin typeface="Calibri"/>
                <a:ea typeface="Calibri"/>
                <a:cs typeface="Calibri"/>
              </a:rPr>
              <a:t> more </a:t>
            </a:r>
            <a:r>
              <a:rPr lang="es-ES" dirty="0" err="1">
                <a:latin typeface="Calibri"/>
                <a:ea typeface="Calibri"/>
                <a:cs typeface="Calibri"/>
              </a:rPr>
              <a:t>reliable</a:t>
            </a:r>
            <a:r>
              <a:rPr lang="es-ES" dirty="0">
                <a:latin typeface="Calibri"/>
                <a:ea typeface="Calibri"/>
                <a:cs typeface="Calibri"/>
              </a:rPr>
              <a:t> </a:t>
            </a:r>
            <a:r>
              <a:rPr lang="es-ES" dirty="0" err="1">
                <a:latin typeface="Calibri"/>
                <a:ea typeface="Calibri"/>
                <a:cs typeface="Calibri"/>
              </a:rPr>
              <a:t>routes</a:t>
            </a:r>
            <a:endParaRPr lang="es-ES">
              <a:ea typeface="Calibri"/>
              <a:cs typeface="Calibri"/>
            </a:endParaRPr>
          </a:p>
        </p:txBody>
      </p:sp>
      <p:pic>
        <p:nvPicPr>
          <p:cNvPr id="7" name="Imagen 6" descr="Una captura de pantalla de un celular con texto e imágenes&#10;&#10;El contenido generado por IA puede ser incorrecto.">
            <a:extLst>
              <a:ext uri="{FF2B5EF4-FFF2-40B4-BE49-F238E27FC236}">
                <a16:creationId xmlns:a16="http://schemas.microsoft.com/office/drawing/2014/main" id="{02AA42B1-F4B7-567E-2BF8-B54C3B42F17F}"/>
              </a:ext>
            </a:extLst>
          </p:cNvPr>
          <p:cNvPicPr>
            <a:picLocks noChangeAspect="1"/>
          </p:cNvPicPr>
          <p:nvPr/>
        </p:nvPicPr>
        <p:blipFill>
          <a:blip r:embed="rId2"/>
          <a:stretch>
            <a:fillRect/>
          </a:stretch>
        </p:blipFill>
        <p:spPr>
          <a:xfrm>
            <a:off x="2" y="1294631"/>
            <a:ext cx="5900738" cy="2547093"/>
          </a:xfrm>
          <a:prstGeom prst="rect">
            <a:avLst/>
          </a:prstGeom>
        </p:spPr>
      </p:pic>
      <p:pic>
        <p:nvPicPr>
          <p:cNvPr id="8" name="Imagen 7" descr="Diagrama, Dibujo de ingeniería&#10;&#10;El contenido generado por IA puede ser incorrecto.">
            <a:extLst>
              <a:ext uri="{FF2B5EF4-FFF2-40B4-BE49-F238E27FC236}">
                <a16:creationId xmlns:a16="http://schemas.microsoft.com/office/drawing/2014/main" id="{9A3FF89E-0B39-B24A-F869-DFB4AC45A2DB}"/>
              </a:ext>
            </a:extLst>
          </p:cNvPr>
          <p:cNvPicPr>
            <a:picLocks noChangeAspect="1"/>
          </p:cNvPicPr>
          <p:nvPr/>
        </p:nvPicPr>
        <p:blipFill>
          <a:blip r:embed="rId3"/>
          <a:srcRect l="7497" t="5684" r="5142" b="-211"/>
          <a:stretch>
            <a:fillRect/>
          </a:stretch>
        </p:blipFill>
        <p:spPr>
          <a:xfrm>
            <a:off x="5900525" y="1707357"/>
            <a:ext cx="3103362" cy="2833735"/>
          </a:xfrm>
          <a:prstGeom prst="rect">
            <a:avLst/>
          </a:prstGeom>
        </p:spPr>
      </p:pic>
      <p:pic>
        <p:nvPicPr>
          <p:cNvPr id="10" name="Imagen 9" descr="Tabla&#10;&#10;El contenido generado por IA puede ser incorrecto.">
            <a:extLst>
              <a:ext uri="{FF2B5EF4-FFF2-40B4-BE49-F238E27FC236}">
                <a16:creationId xmlns:a16="http://schemas.microsoft.com/office/drawing/2014/main" id="{8E64354B-CE01-7F12-B1F9-DDB3EA64F665}"/>
              </a:ext>
            </a:extLst>
          </p:cNvPr>
          <p:cNvPicPr>
            <a:picLocks noChangeAspect="1"/>
          </p:cNvPicPr>
          <p:nvPr/>
        </p:nvPicPr>
        <p:blipFill>
          <a:blip r:embed="rId4"/>
          <a:srcRect b="58513"/>
          <a:stretch>
            <a:fillRect/>
          </a:stretch>
        </p:blipFill>
        <p:spPr>
          <a:xfrm>
            <a:off x="357188" y="4010023"/>
            <a:ext cx="5543551" cy="735246"/>
          </a:xfrm>
          <a:prstGeom prst="rect">
            <a:avLst/>
          </a:prstGeom>
        </p:spPr>
      </p:pic>
    </p:spTree>
    <p:extLst>
      <p:ext uri="{BB962C8B-B14F-4D97-AF65-F5344CB8AC3E}">
        <p14:creationId xmlns:p14="http://schemas.microsoft.com/office/powerpoint/2010/main" val="38089673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B506A65E-7FAA-34DE-EFEA-BE2F12AB20FB}"/>
              </a:ext>
            </a:extLst>
          </p:cNvPr>
          <p:cNvSpPr>
            <a:spLocks noGrp="1"/>
          </p:cNvSpPr>
          <p:nvPr>
            <p:ph type="title"/>
          </p:nvPr>
        </p:nvSpPr>
        <p:spPr>
          <a:xfrm>
            <a:off x="73152" y="73152"/>
            <a:ext cx="8863030" cy="861774"/>
          </a:xfrm>
        </p:spPr>
        <p:txBody>
          <a:bodyPr wrap="square" lIns="0" tIns="0" rIns="0" bIns="0" anchor="t">
            <a:spAutoFit/>
          </a:bodyPr>
          <a:lstStyle/>
          <a:p>
            <a:r>
              <a:rPr lang="es-ES" dirty="0" err="1">
                <a:latin typeface="Calibri"/>
                <a:ea typeface="Calibri"/>
                <a:cs typeface="Calibri"/>
              </a:rPr>
              <a:t>Waiting</a:t>
            </a:r>
            <a:r>
              <a:rPr lang="es-ES" dirty="0">
                <a:latin typeface="Calibri"/>
                <a:ea typeface="Calibri"/>
                <a:cs typeface="Calibri"/>
              </a:rPr>
              <a:t>-time-averse drivers </a:t>
            </a:r>
            <a:r>
              <a:rPr lang="es-ES" dirty="0" err="1">
                <a:latin typeface="Calibri"/>
                <a:ea typeface="Calibri"/>
                <a:cs typeface="Calibri"/>
              </a:rPr>
              <a:t>may</a:t>
            </a:r>
            <a:r>
              <a:rPr lang="es-ES" dirty="0">
                <a:latin typeface="Calibri"/>
                <a:ea typeface="Calibri"/>
                <a:cs typeface="Calibri"/>
              </a:rPr>
              <a:t> </a:t>
            </a:r>
            <a:r>
              <a:rPr lang="es-ES" dirty="0" err="1">
                <a:latin typeface="Calibri"/>
                <a:ea typeface="Calibri"/>
                <a:cs typeface="Calibri"/>
              </a:rPr>
              <a:t>prevent</a:t>
            </a:r>
            <a:r>
              <a:rPr lang="es-ES" dirty="0">
                <a:latin typeface="Calibri"/>
                <a:ea typeface="Calibri"/>
                <a:cs typeface="Calibri"/>
              </a:rPr>
              <a:t> </a:t>
            </a:r>
            <a:r>
              <a:rPr lang="es-ES" dirty="0" err="1">
                <a:latin typeface="Calibri"/>
                <a:ea typeface="Calibri"/>
                <a:cs typeface="Calibri"/>
              </a:rPr>
              <a:t>convergence</a:t>
            </a:r>
            <a:r>
              <a:rPr lang="es-ES" dirty="0">
                <a:latin typeface="Calibri"/>
                <a:ea typeface="Calibri"/>
                <a:cs typeface="Calibri"/>
              </a:rPr>
              <a:t> </a:t>
            </a:r>
            <a:r>
              <a:rPr lang="es-ES" dirty="0" err="1">
                <a:latin typeface="Calibri"/>
                <a:ea typeface="Calibri"/>
                <a:cs typeface="Calibri"/>
              </a:rPr>
              <a:t>towards</a:t>
            </a:r>
            <a:r>
              <a:rPr lang="es-ES" dirty="0">
                <a:latin typeface="Calibri"/>
                <a:ea typeface="Calibri"/>
                <a:cs typeface="Calibri"/>
              </a:rPr>
              <a:t> DUE</a:t>
            </a:r>
            <a:endParaRPr lang="es-ES" dirty="0">
              <a:latin typeface="Calibri"/>
            </a:endParaRPr>
          </a:p>
        </p:txBody>
      </p:sp>
      <p:pic>
        <p:nvPicPr>
          <p:cNvPr id="4" name="Imagen 3" descr="Imagen que contiene Gráfico&#10;&#10;El contenido generado por IA puede ser incorrecto.">
            <a:extLst>
              <a:ext uri="{FF2B5EF4-FFF2-40B4-BE49-F238E27FC236}">
                <a16:creationId xmlns:a16="http://schemas.microsoft.com/office/drawing/2014/main" id="{85360F5B-5F5B-8A5B-A995-975B7F6299B3}"/>
              </a:ext>
            </a:extLst>
          </p:cNvPr>
          <p:cNvPicPr>
            <a:picLocks noChangeAspect="1"/>
          </p:cNvPicPr>
          <p:nvPr/>
        </p:nvPicPr>
        <p:blipFill>
          <a:blip r:embed="rId2"/>
          <a:stretch>
            <a:fillRect/>
          </a:stretch>
        </p:blipFill>
        <p:spPr>
          <a:xfrm>
            <a:off x="269081" y="1285875"/>
            <a:ext cx="8677275" cy="3664743"/>
          </a:xfrm>
          <a:prstGeom prst="rect">
            <a:avLst/>
          </a:prstGeom>
        </p:spPr>
      </p:pic>
    </p:spTree>
    <p:extLst>
      <p:ext uri="{BB962C8B-B14F-4D97-AF65-F5344CB8AC3E}">
        <p14:creationId xmlns:p14="http://schemas.microsoft.com/office/powerpoint/2010/main" val="28047353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A485AF16-DED7-DD71-FD55-C2210D95580A}"/>
              </a:ext>
            </a:extLst>
          </p:cNvPr>
          <p:cNvSpPr>
            <a:spLocks noGrp="1"/>
          </p:cNvSpPr>
          <p:nvPr>
            <p:ph type="title"/>
          </p:nvPr>
        </p:nvSpPr>
        <p:spPr>
          <a:xfrm>
            <a:off x="73152" y="73152"/>
            <a:ext cx="8863030" cy="1292662"/>
          </a:xfrm>
        </p:spPr>
        <p:txBody>
          <a:bodyPr wrap="square" lIns="0" tIns="0" rIns="0" bIns="0" anchor="t">
            <a:spAutoFit/>
          </a:bodyPr>
          <a:lstStyle/>
          <a:p>
            <a:r>
              <a:rPr lang="es-ES" dirty="0" err="1">
                <a:latin typeface="Calibri"/>
                <a:ea typeface="Calibri"/>
                <a:cs typeface="Calibri"/>
              </a:rPr>
              <a:t>Waiting</a:t>
            </a:r>
            <a:r>
              <a:rPr lang="es-ES" dirty="0">
                <a:latin typeface="Calibri"/>
                <a:ea typeface="Calibri"/>
                <a:cs typeface="Calibri"/>
              </a:rPr>
              <a:t>-time-averse drivers </a:t>
            </a:r>
            <a:r>
              <a:rPr lang="es-ES" dirty="0" err="1">
                <a:latin typeface="Calibri"/>
                <a:ea typeface="Calibri"/>
                <a:cs typeface="Calibri"/>
              </a:rPr>
              <a:t>may</a:t>
            </a:r>
            <a:r>
              <a:rPr lang="es-ES" dirty="0">
                <a:latin typeface="Calibri"/>
                <a:ea typeface="Calibri"/>
                <a:cs typeface="Calibri"/>
              </a:rPr>
              <a:t> favor </a:t>
            </a:r>
            <a:r>
              <a:rPr lang="es-ES" dirty="0" err="1">
                <a:latin typeface="Calibri"/>
                <a:ea typeface="Calibri"/>
                <a:cs typeface="Calibri"/>
              </a:rPr>
              <a:t>longer</a:t>
            </a:r>
            <a:r>
              <a:rPr lang="es-ES" dirty="0">
                <a:latin typeface="Calibri"/>
                <a:ea typeface="Calibri"/>
                <a:cs typeface="Calibri"/>
              </a:rPr>
              <a:t> </a:t>
            </a:r>
            <a:r>
              <a:rPr lang="es-ES" dirty="0" err="1">
                <a:latin typeface="Calibri"/>
                <a:ea typeface="Calibri"/>
                <a:cs typeface="Calibri"/>
              </a:rPr>
              <a:t>routes</a:t>
            </a:r>
            <a:r>
              <a:rPr lang="es-ES" dirty="0">
                <a:latin typeface="Calibri"/>
                <a:ea typeface="Calibri"/>
                <a:cs typeface="Calibri"/>
              </a:rPr>
              <a:t> </a:t>
            </a:r>
            <a:r>
              <a:rPr lang="es-ES" dirty="0" err="1">
                <a:latin typeface="Calibri"/>
                <a:ea typeface="Calibri"/>
                <a:cs typeface="Calibri"/>
              </a:rPr>
              <a:t>to</a:t>
            </a:r>
            <a:r>
              <a:rPr lang="es-ES" dirty="0">
                <a:latin typeface="Calibri"/>
                <a:ea typeface="Calibri"/>
                <a:cs typeface="Calibri"/>
              </a:rPr>
              <a:t> reduce time </a:t>
            </a:r>
            <a:r>
              <a:rPr lang="es-ES" dirty="0" err="1">
                <a:latin typeface="Calibri"/>
                <a:ea typeface="Calibri"/>
                <a:cs typeface="Calibri"/>
              </a:rPr>
              <a:t>spent</a:t>
            </a:r>
            <a:r>
              <a:rPr lang="es-ES" dirty="0">
                <a:latin typeface="Calibri"/>
                <a:ea typeface="Calibri"/>
                <a:cs typeface="Calibri"/>
              </a:rPr>
              <a:t> </a:t>
            </a:r>
            <a:r>
              <a:rPr lang="es-ES" dirty="0" err="1">
                <a:latin typeface="Calibri"/>
                <a:ea typeface="Calibri"/>
                <a:cs typeface="Calibri"/>
              </a:rPr>
              <a:t>stopped</a:t>
            </a:r>
            <a:endParaRPr lang="es-ES" dirty="0" err="1">
              <a:ea typeface="Calibri"/>
              <a:cs typeface="Calibri"/>
            </a:endParaRPr>
          </a:p>
          <a:p>
            <a:endParaRPr lang="es-ES" dirty="0"/>
          </a:p>
        </p:txBody>
      </p:sp>
      <p:pic>
        <p:nvPicPr>
          <p:cNvPr id="4" name="Imagen 3" descr="Una captura de pantalla de un celular con texto e imagen&#10;&#10;El contenido generado por IA puede ser incorrecto.">
            <a:extLst>
              <a:ext uri="{FF2B5EF4-FFF2-40B4-BE49-F238E27FC236}">
                <a16:creationId xmlns:a16="http://schemas.microsoft.com/office/drawing/2014/main" id="{221A06DC-8125-5344-84C2-CB791E945D1F}"/>
              </a:ext>
            </a:extLst>
          </p:cNvPr>
          <p:cNvPicPr>
            <a:picLocks noChangeAspect="1"/>
          </p:cNvPicPr>
          <p:nvPr/>
        </p:nvPicPr>
        <p:blipFill>
          <a:blip r:embed="rId2"/>
          <a:stretch>
            <a:fillRect/>
          </a:stretch>
        </p:blipFill>
        <p:spPr>
          <a:xfrm>
            <a:off x="75170" y="1368382"/>
            <a:ext cx="5742289" cy="2538027"/>
          </a:xfrm>
          <a:prstGeom prst="rect">
            <a:avLst/>
          </a:prstGeom>
        </p:spPr>
      </p:pic>
      <p:pic>
        <p:nvPicPr>
          <p:cNvPr id="5" name="Imagen 4">
            <a:extLst>
              <a:ext uri="{FF2B5EF4-FFF2-40B4-BE49-F238E27FC236}">
                <a16:creationId xmlns:a16="http://schemas.microsoft.com/office/drawing/2014/main" id="{44E732F8-0DC0-12F4-8512-E30DD1A2F45D}"/>
              </a:ext>
            </a:extLst>
          </p:cNvPr>
          <p:cNvPicPr>
            <a:picLocks noChangeAspect="1"/>
          </p:cNvPicPr>
          <p:nvPr/>
        </p:nvPicPr>
        <p:blipFill>
          <a:blip r:embed="rId3"/>
          <a:stretch>
            <a:fillRect/>
          </a:stretch>
        </p:blipFill>
        <p:spPr>
          <a:xfrm>
            <a:off x="431714" y="3909627"/>
            <a:ext cx="5307229" cy="652849"/>
          </a:xfrm>
          <a:prstGeom prst="rect">
            <a:avLst/>
          </a:prstGeom>
        </p:spPr>
      </p:pic>
      <p:pic>
        <p:nvPicPr>
          <p:cNvPr id="7" name="Imagen 6" descr="Diagrama, Dibujo de ingeniería&#10;&#10;El contenido generado por IA puede ser incorrecto.">
            <a:extLst>
              <a:ext uri="{FF2B5EF4-FFF2-40B4-BE49-F238E27FC236}">
                <a16:creationId xmlns:a16="http://schemas.microsoft.com/office/drawing/2014/main" id="{8D495456-942F-9CA0-4D40-A8F3509110D0}"/>
              </a:ext>
            </a:extLst>
          </p:cNvPr>
          <p:cNvPicPr>
            <a:picLocks noChangeAspect="1"/>
          </p:cNvPicPr>
          <p:nvPr/>
        </p:nvPicPr>
        <p:blipFill>
          <a:blip r:embed="rId4"/>
          <a:srcRect l="7497" t="5684" r="5142" b="-211"/>
          <a:stretch>
            <a:fillRect/>
          </a:stretch>
        </p:blipFill>
        <p:spPr>
          <a:xfrm>
            <a:off x="5900525" y="1730526"/>
            <a:ext cx="3103362" cy="2833735"/>
          </a:xfrm>
          <a:prstGeom prst="rect">
            <a:avLst/>
          </a:prstGeom>
        </p:spPr>
      </p:pic>
    </p:spTree>
    <p:extLst>
      <p:ext uri="{BB962C8B-B14F-4D97-AF65-F5344CB8AC3E}">
        <p14:creationId xmlns:p14="http://schemas.microsoft.com/office/powerpoint/2010/main" val="1361109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EFC529D2-7BDC-C1DC-0B5C-6B29031FD85D}"/>
              </a:ext>
            </a:extLst>
          </p:cNvPr>
          <p:cNvSpPr>
            <a:spLocks noGrp="1"/>
          </p:cNvSpPr>
          <p:nvPr>
            <p:ph type="title"/>
          </p:nvPr>
        </p:nvSpPr>
        <p:spPr>
          <a:xfrm>
            <a:off x="73152" y="73152"/>
            <a:ext cx="8863030" cy="861774"/>
          </a:xfrm>
        </p:spPr>
        <p:txBody>
          <a:bodyPr wrap="square" lIns="0" tIns="0" rIns="0" bIns="0" anchor="t">
            <a:spAutoFit/>
          </a:bodyPr>
          <a:lstStyle/>
          <a:p>
            <a:r>
              <a:rPr lang="es-ES" dirty="0">
                <a:latin typeface="Calibri"/>
              </a:rPr>
              <a:t>A </a:t>
            </a:r>
            <a:r>
              <a:rPr lang="es-ES" dirty="0" err="1">
                <a:latin typeface="Calibri"/>
              </a:rPr>
              <a:t>nonlinear</a:t>
            </a:r>
            <a:r>
              <a:rPr lang="es-ES" dirty="0">
                <a:latin typeface="Calibri"/>
              </a:rPr>
              <a:t> response </a:t>
            </a:r>
            <a:r>
              <a:rPr lang="es-ES" dirty="0" err="1">
                <a:latin typeface="Calibri"/>
              </a:rPr>
              <a:t>may</a:t>
            </a:r>
            <a:r>
              <a:rPr lang="es-ES" dirty="0">
                <a:latin typeface="Calibri"/>
              </a:rPr>
              <a:t> </a:t>
            </a:r>
            <a:r>
              <a:rPr lang="es-ES" dirty="0" err="1">
                <a:latin typeface="Calibri"/>
              </a:rPr>
              <a:t>prevent</a:t>
            </a:r>
            <a:r>
              <a:rPr lang="es-ES" dirty="0">
                <a:latin typeface="Calibri"/>
              </a:rPr>
              <a:t> </a:t>
            </a:r>
            <a:r>
              <a:rPr lang="es-ES" dirty="0" err="1">
                <a:latin typeface="Calibri"/>
              </a:rPr>
              <a:t>convergence</a:t>
            </a:r>
            <a:r>
              <a:rPr lang="es-ES" dirty="0">
                <a:latin typeface="Calibri"/>
              </a:rPr>
              <a:t> </a:t>
            </a:r>
            <a:r>
              <a:rPr lang="es-ES" dirty="0" err="1">
                <a:latin typeface="Calibri"/>
              </a:rPr>
              <a:t>towards</a:t>
            </a:r>
            <a:r>
              <a:rPr lang="es-ES" dirty="0">
                <a:latin typeface="Calibri"/>
              </a:rPr>
              <a:t> DUE</a:t>
            </a:r>
            <a:endParaRPr lang="es-ES" dirty="0"/>
          </a:p>
        </p:txBody>
      </p:sp>
      <p:pic>
        <p:nvPicPr>
          <p:cNvPr id="4" name="Imagen 3" descr="Gráfico, Histograma&#10;&#10;El contenido generado por IA puede ser incorrecto.">
            <a:extLst>
              <a:ext uri="{FF2B5EF4-FFF2-40B4-BE49-F238E27FC236}">
                <a16:creationId xmlns:a16="http://schemas.microsoft.com/office/drawing/2014/main" id="{F8FE914B-9F8C-050B-3F3E-955B0AFA24B8}"/>
              </a:ext>
            </a:extLst>
          </p:cNvPr>
          <p:cNvPicPr>
            <a:picLocks noChangeAspect="1"/>
          </p:cNvPicPr>
          <p:nvPr/>
        </p:nvPicPr>
        <p:blipFill>
          <a:blip r:embed="rId2"/>
          <a:stretch>
            <a:fillRect/>
          </a:stretch>
        </p:blipFill>
        <p:spPr>
          <a:xfrm>
            <a:off x="2929648" y="864973"/>
            <a:ext cx="2551021" cy="4054562"/>
          </a:xfrm>
          <a:prstGeom prst="rect">
            <a:avLst/>
          </a:prstGeom>
        </p:spPr>
      </p:pic>
    </p:spTree>
    <p:extLst>
      <p:ext uri="{BB962C8B-B14F-4D97-AF65-F5344CB8AC3E}">
        <p14:creationId xmlns:p14="http://schemas.microsoft.com/office/powerpoint/2010/main" val="37028992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2">
          <a:extLst>
            <a:ext uri="{FF2B5EF4-FFF2-40B4-BE49-F238E27FC236}">
              <a16:creationId xmlns:a16="http://schemas.microsoft.com/office/drawing/2014/main" id="{67466A4C-70B8-5946-649F-FA57AEA989A8}"/>
            </a:ext>
          </a:extLst>
        </p:cNvPr>
        <p:cNvGrpSpPr/>
        <p:nvPr/>
      </p:nvGrpSpPr>
      <p:grpSpPr>
        <a:xfrm>
          <a:off x="0" y="0"/>
          <a:ext cx="0" cy="0"/>
          <a:chOff x="0" y="0"/>
          <a:chExt cx="0" cy="0"/>
        </a:xfrm>
      </p:grpSpPr>
      <p:sp>
        <p:nvSpPr>
          <p:cNvPr id="244" name="Shape 244">
            <a:extLst>
              <a:ext uri="{FF2B5EF4-FFF2-40B4-BE49-F238E27FC236}">
                <a16:creationId xmlns:a16="http://schemas.microsoft.com/office/drawing/2014/main" id="{30FAC805-5C71-A267-0FA1-FA27BE88A606}"/>
              </a:ext>
            </a:extLst>
          </p:cNvPr>
          <p:cNvSpPr/>
          <p:nvPr/>
        </p:nvSpPr>
        <p:spPr>
          <a:xfrm>
            <a:off x="76200" y="1407319"/>
            <a:ext cx="3545680" cy="2544286"/>
          </a:xfrm>
          <a:prstGeom prst="rect">
            <a:avLst/>
          </a:prstGeom>
          <a:noFill/>
          <a:ln>
            <a:noFill/>
          </a:ln>
        </p:spPr>
        <p:txBody>
          <a:bodyPr wrap="square" lIns="63500" tIns="25400" rIns="63500" bIns="25400" anchor="t" anchorCtr="0">
            <a:spAutoFit/>
          </a:bodyPr>
          <a:lstStyle/>
          <a:p>
            <a:pPr algn="ctr"/>
            <a:r>
              <a:rPr lang="en-US" sz="1800" b="1" dirty="0">
                <a:solidFill>
                  <a:srgbClr val="262626"/>
                </a:solidFill>
                <a:latin typeface="Calibri"/>
                <a:ea typeface="Calibri"/>
                <a:cs typeface="Calibri"/>
              </a:rPr>
              <a:t>Behavioral extensions such as </a:t>
            </a:r>
            <a:r>
              <a:rPr lang="en-US" sz="1800" b="1" dirty="0">
                <a:solidFill>
                  <a:srgbClr val="FF0000"/>
                </a:solidFill>
                <a:latin typeface="Calibri"/>
                <a:ea typeface="Calibri"/>
                <a:cs typeface="Calibri"/>
              </a:rPr>
              <a:t>risk-aversion, waiting-time aversion and nonlinear response </a:t>
            </a:r>
            <a:endParaRPr lang="en-US" sz="1800" b="1">
              <a:solidFill>
                <a:srgbClr val="FF0000"/>
              </a:solidFill>
            </a:endParaRPr>
          </a:p>
          <a:p>
            <a:pPr marL="0" marR="0" lvl="0" indent="0" algn="ctr" rtl="0">
              <a:spcBef>
                <a:spcPts val="0"/>
              </a:spcBef>
              <a:buNone/>
            </a:pPr>
            <a:endParaRPr sz="1800" b="1" i="0" u="none" strike="noStrike" cap="none" baseline="0" dirty="0">
              <a:solidFill>
                <a:srgbClr val="262626"/>
              </a:solidFill>
              <a:latin typeface="Calibri"/>
              <a:ea typeface="Calibri"/>
              <a:cs typeface="Calibri"/>
            </a:endParaRPr>
          </a:p>
          <a:p>
            <a:pPr algn="ctr"/>
            <a:r>
              <a:rPr lang="en-US" sz="1800" b="1" dirty="0">
                <a:solidFill>
                  <a:srgbClr val="262626"/>
                </a:solidFill>
                <a:latin typeface="Calibri"/>
                <a:ea typeface="Calibri"/>
                <a:cs typeface="Calibri"/>
                <a:sym typeface="Calibri"/>
              </a:rPr>
              <a:t>   </a:t>
            </a:r>
          </a:p>
          <a:p>
            <a:pPr algn="ctr"/>
            <a:r>
              <a:rPr lang="en-US" sz="1800" b="1" dirty="0">
                <a:solidFill>
                  <a:srgbClr val="262626"/>
                </a:solidFill>
                <a:latin typeface="Calibri"/>
                <a:ea typeface="Calibri"/>
                <a:cs typeface="Calibri"/>
                <a:sym typeface="Calibri"/>
              </a:rPr>
              <a:t>May give </a:t>
            </a:r>
            <a:r>
              <a:rPr lang="en-US" sz="1800" b="1" dirty="0">
                <a:solidFill>
                  <a:srgbClr val="FF0000"/>
                </a:solidFill>
                <a:latin typeface="Calibri"/>
                <a:ea typeface="Calibri"/>
                <a:cs typeface="Calibri"/>
                <a:sym typeface="Calibri"/>
              </a:rPr>
              <a:t>higher R-gap </a:t>
            </a:r>
            <a:endParaRPr lang="en-US" sz="1800" b="1" dirty="0">
              <a:solidFill>
                <a:srgbClr val="FF0000"/>
              </a:solidFill>
              <a:latin typeface="Calibri"/>
              <a:ea typeface="Calibri"/>
              <a:cs typeface="Calibri"/>
            </a:endParaRPr>
          </a:p>
          <a:p>
            <a:pPr algn="ctr"/>
            <a:endParaRPr lang="en-US" sz="1800" b="1" dirty="0">
              <a:solidFill>
                <a:srgbClr val="262626"/>
              </a:solidFill>
              <a:latin typeface="Calibri"/>
              <a:ea typeface="Calibri"/>
              <a:cs typeface="Calibri"/>
            </a:endParaRPr>
          </a:p>
          <a:p>
            <a:pPr algn="ctr"/>
            <a:endParaRPr lang="en-US" sz="1800" b="1" dirty="0">
              <a:solidFill>
                <a:srgbClr val="262626"/>
              </a:solidFill>
              <a:latin typeface="Calibri"/>
              <a:ea typeface="Calibri"/>
              <a:cs typeface="Calibri"/>
            </a:endParaRPr>
          </a:p>
          <a:p>
            <a:pPr algn="ctr"/>
            <a:r>
              <a:rPr lang="en-US" sz="1800" b="1" dirty="0">
                <a:solidFill>
                  <a:srgbClr val="262626"/>
                </a:solidFill>
                <a:latin typeface="Calibri"/>
                <a:ea typeface="Calibri"/>
                <a:cs typeface="Calibri"/>
              </a:rPr>
              <a:t>May </a:t>
            </a:r>
            <a:r>
              <a:rPr lang="en-US" sz="1800" b="1" dirty="0">
                <a:solidFill>
                  <a:srgbClr val="FF0000"/>
                </a:solidFill>
                <a:latin typeface="Calibri"/>
                <a:ea typeface="Calibri"/>
                <a:cs typeface="Calibri"/>
              </a:rPr>
              <a:t>prevent</a:t>
            </a:r>
            <a:r>
              <a:rPr lang="en-US" sz="1800" b="1" dirty="0">
                <a:solidFill>
                  <a:srgbClr val="262626"/>
                </a:solidFill>
                <a:latin typeface="Calibri"/>
                <a:ea typeface="Calibri"/>
                <a:cs typeface="Calibri"/>
              </a:rPr>
              <a:t> convergence to </a:t>
            </a:r>
            <a:r>
              <a:rPr lang="en-US" sz="1800" b="1" dirty="0">
                <a:solidFill>
                  <a:srgbClr val="FF0000"/>
                </a:solidFill>
                <a:latin typeface="Calibri"/>
                <a:ea typeface="Calibri"/>
                <a:cs typeface="Calibri"/>
              </a:rPr>
              <a:t>DUE</a:t>
            </a:r>
          </a:p>
        </p:txBody>
      </p:sp>
      <p:sp>
        <p:nvSpPr>
          <p:cNvPr id="246" name="Shape 246">
            <a:extLst>
              <a:ext uri="{FF2B5EF4-FFF2-40B4-BE49-F238E27FC236}">
                <a16:creationId xmlns:a16="http://schemas.microsoft.com/office/drawing/2014/main" id="{F8831B4D-70F1-7E69-552D-AF0CB9E7E193}"/>
              </a:ext>
            </a:extLst>
          </p:cNvPr>
          <p:cNvSpPr txBox="1"/>
          <p:nvPr/>
        </p:nvSpPr>
        <p:spPr>
          <a:xfrm>
            <a:off x="3773487" y="4558903"/>
            <a:ext cx="1616099" cy="346500"/>
          </a:xfrm>
          <a:prstGeom prst="rect">
            <a:avLst/>
          </a:prstGeom>
          <a:noFill/>
          <a:ln>
            <a:noFill/>
          </a:ln>
        </p:spPr>
        <p:txBody>
          <a:bodyPr lIns="91425" tIns="45700" rIns="91425" bIns="45700" anchor="t" anchorCtr="0">
            <a:noAutofit/>
          </a:bodyPr>
          <a:lstStyle/>
          <a:p>
            <a:pPr marL="0" marR="0" lvl="0" indent="0" algn="ctr" rtl="0">
              <a:spcBef>
                <a:spcPts val="0"/>
              </a:spcBef>
              <a:buSzPct val="25000"/>
              <a:buNone/>
            </a:pPr>
            <a:r>
              <a:rPr lang="en-US" sz="2400" b="1" i="0" u="none" strike="noStrike" cap="none" baseline="0">
                <a:solidFill>
                  <a:schemeClr val="dk1"/>
                </a:solidFill>
                <a:latin typeface="Calibri"/>
                <a:ea typeface="Calibri"/>
                <a:cs typeface="Calibri"/>
                <a:sym typeface="Calibri"/>
              </a:rPr>
              <a:t>Questions?</a:t>
            </a:r>
          </a:p>
        </p:txBody>
      </p:sp>
      <p:sp>
        <p:nvSpPr>
          <p:cNvPr id="247" name="Shape 247">
            <a:extLst>
              <a:ext uri="{FF2B5EF4-FFF2-40B4-BE49-F238E27FC236}">
                <a16:creationId xmlns:a16="http://schemas.microsoft.com/office/drawing/2014/main" id="{C08B9602-7658-BA53-699D-293BCFDCFEAA}"/>
              </a:ext>
            </a:extLst>
          </p:cNvPr>
          <p:cNvSpPr txBox="1"/>
          <p:nvPr/>
        </p:nvSpPr>
        <p:spPr>
          <a:xfrm>
            <a:off x="76200" y="57150"/>
            <a:ext cx="8997900" cy="800219"/>
          </a:xfrm>
          <a:prstGeom prst="rect">
            <a:avLst/>
          </a:prstGeom>
          <a:noFill/>
          <a:ln>
            <a:noFill/>
          </a:ln>
        </p:spPr>
        <p:txBody>
          <a:bodyPr lIns="0" tIns="0" rIns="0" bIns="0" anchor="t" anchorCtr="0">
            <a:spAutoFit/>
          </a:bodyPr>
          <a:lstStyle/>
          <a:p>
            <a:r>
              <a:rPr lang="en-US" sz="2600" b="1" i="0" u="none" strike="noStrike" cap="none" baseline="0" dirty="0">
                <a:solidFill>
                  <a:srgbClr val="000000"/>
                </a:solidFill>
                <a:latin typeface="Calibri"/>
                <a:ea typeface="Calibri"/>
                <a:cs typeface="Calibri"/>
                <a:sym typeface="Calibri"/>
              </a:rPr>
              <a:t>In summary,</a:t>
            </a:r>
            <a:r>
              <a:rPr lang="en-US" sz="2600" b="1" dirty="0">
                <a:latin typeface="Calibri"/>
                <a:ea typeface="Calibri"/>
                <a:cs typeface="Calibri"/>
                <a:sym typeface="Calibri"/>
              </a:rPr>
              <a:t> more realistic agent behavior may prevent convergence to DUE</a:t>
            </a:r>
            <a:endParaRPr lang="es-ES" b="1" dirty="0">
              <a:latin typeface="Calibri"/>
              <a:ea typeface="Calibri"/>
              <a:cs typeface="Calibri"/>
            </a:endParaRPr>
          </a:p>
        </p:txBody>
      </p:sp>
      <p:sp>
        <p:nvSpPr>
          <p:cNvPr id="3" name="Shape 259">
            <a:extLst>
              <a:ext uri="{FF2B5EF4-FFF2-40B4-BE49-F238E27FC236}">
                <a16:creationId xmlns:a16="http://schemas.microsoft.com/office/drawing/2014/main" id="{BAFD57DA-9A48-0048-1074-38208DBCDC2C}"/>
              </a:ext>
            </a:extLst>
          </p:cNvPr>
          <p:cNvSpPr/>
          <p:nvPr/>
        </p:nvSpPr>
        <p:spPr>
          <a:xfrm>
            <a:off x="1643647" y="2377676"/>
            <a:ext cx="263631" cy="304800"/>
          </a:xfrm>
          <a:prstGeom prst="downArrow">
            <a:avLst>
              <a:gd name="adj1" fmla="val 50000"/>
              <a:gd name="adj2" fmla="val 30218"/>
            </a:avLst>
          </a:prstGeom>
          <a:solidFill>
            <a:srgbClr val="262626"/>
          </a:solidFill>
          <a:ln>
            <a:noFill/>
          </a:ln>
        </p:spPr>
        <p:txBody>
          <a:bodyPr lIns="91425" tIns="45700" rIns="91425" bIns="45700" anchor="ctr" anchorCtr="0">
            <a:noAutofit/>
          </a:bodyPr>
          <a:lstStyle/>
          <a:p>
            <a:pPr marL="0" marR="0" lvl="0" indent="0" algn="l" rtl="0">
              <a:spcBef>
                <a:spcPts val="0"/>
              </a:spcBef>
              <a:buNone/>
            </a:pPr>
            <a:endParaRPr sz="1800" b="1" i="0" u="none" strike="noStrike" cap="none" baseline="0">
              <a:solidFill>
                <a:srgbClr val="262626"/>
              </a:solidFill>
              <a:latin typeface="Calibri"/>
              <a:ea typeface="Calibri"/>
              <a:cs typeface="Calibri"/>
              <a:sym typeface="Calibri"/>
            </a:endParaRPr>
          </a:p>
        </p:txBody>
      </p:sp>
      <p:sp>
        <p:nvSpPr>
          <p:cNvPr id="4" name="Shape 259">
            <a:extLst>
              <a:ext uri="{FF2B5EF4-FFF2-40B4-BE49-F238E27FC236}">
                <a16:creationId xmlns:a16="http://schemas.microsoft.com/office/drawing/2014/main" id="{EB5354B0-85C4-A222-DE42-182A792E0610}"/>
              </a:ext>
            </a:extLst>
          </p:cNvPr>
          <p:cNvSpPr/>
          <p:nvPr/>
        </p:nvSpPr>
        <p:spPr>
          <a:xfrm>
            <a:off x="1643647" y="3227781"/>
            <a:ext cx="263631" cy="304800"/>
          </a:xfrm>
          <a:prstGeom prst="downArrow">
            <a:avLst>
              <a:gd name="adj1" fmla="val 50000"/>
              <a:gd name="adj2" fmla="val 30218"/>
            </a:avLst>
          </a:prstGeom>
          <a:solidFill>
            <a:srgbClr val="262626"/>
          </a:solidFill>
          <a:ln>
            <a:noFill/>
          </a:ln>
        </p:spPr>
        <p:txBody>
          <a:bodyPr lIns="91425" tIns="45700" rIns="91425" bIns="45700" anchor="ctr" anchorCtr="0">
            <a:noAutofit/>
          </a:bodyPr>
          <a:lstStyle/>
          <a:p>
            <a:pPr marL="0" marR="0" lvl="0" indent="0" algn="l" rtl="0">
              <a:spcBef>
                <a:spcPts val="0"/>
              </a:spcBef>
              <a:buNone/>
            </a:pPr>
            <a:endParaRPr sz="1800" b="1" i="0" u="none" strike="noStrike" cap="none" baseline="0">
              <a:solidFill>
                <a:srgbClr val="262626"/>
              </a:solidFill>
              <a:latin typeface="Calibri"/>
              <a:ea typeface="Calibri"/>
              <a:cs typeface="Calibri"/>
              <a:sym typeface="Calibri"/>
            </a:endParaRPr>
          </a:p>
        </p:txBody>
      </p:sp>
      <p:pic>
        <p:nvPicPr>
          <p:cNvPr id="6" name="Imagen 5" descr="UPC-CEI-positiu-p3005-interior-blanc.png">
            <a:extLst>
              <a:ext uri="{FF2B5EF4-FFF2-40B4-BE49-F238E27FC236}">
                <a16:creationId xmlns:a16="http://schemas.microsoft.com/office/drawing/2014/main" id="{483DCABE-0817-B011-97EF-76E54B08EF88}"/>
              </a:ext>
            </a:extLst>
          </p:cNvPr>
          <p:cNvPicPr>
            <a:picLocks noChangeAspect="1"/>
          </p:cNvPicPr>
          <p:nvPr/>
        </p:nvPicPr>
        <p:blipFill>
          <a:blip r:embed="rId3"/>
          <a:srcRect b="24837"/>
          <a:stretch>
            <a:fillRect/>
          </a:stretch>
        </p:blipFill>
        <p:spPr>
          <a:xfrm>
            <a:off x="5815013" y="4312444"/>
            <a:ext cx="3257550" cy="830481"/>
          </a:xfrm>
          <a:prstGeom prst="rect">
            <a:avLst/>
          </a:prstGeom>
        </p:spPr>
      </p:pic>
      <p:pic>
        <p:nvPicPr>
          <p:cNvPr id="7" name="Imagen 6">
            <a:extLst>
              <a:ext uri="{FF2B5EF4-FFF2-40B4-BE49-F238E27FC236}">
                <a16:creationId xmlns:a16="http://schemas.microsoft.com/office/drawing/2014/main" id="{3E21C975-5583-3217-772F-57361B87308C}"/>
              </a:ext>
            </a:extLst>
          </p:cNvPr>
          <p:cNvPicPr>
            <a:picLocks noChangeAspect="1"/>
          </p:cNvPicPr>
          <p:nvPr/>
        </p:nvPicPr>
        <p:blipFill>
          <a:blip r:embed="rId4"/>
          <a:stretch>
            <a:fillRect/>
          </a:stretch>
        </p:blipFill>
        <p:spPr>
          <a:xfrm>
            <a:off x="5923991" y="642936"/>
            <a:ext cx="2418087" cy="3593307"/>
          </a:xfrm>
          <a:prstGeom prst="rect">
            <a:avLst/>
          </a:prstGeom>
        </p:spPr>
      </p:pic>
    </p:spTree>
    <p:extLst>
      <p:ext uri="{BB962C8B-B14F-4D97-AF65-F5344CB8AC3E}">
        <p14:creationId xmlns:p14="http://schemas.microsoft.com/office/powerpoint/2010/main" val="3882336208"/>
      </p:ext>
    </p:extLst>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6"/>
                                        </p:tgtEl>
                                        <p:attrNameLst>
                                          <p:attrName>style.visibility</p:attrName>
                                        </p:attrNameLst>
                                      </p:cBhvr>
                                      <p:to>
                                        <p:strVal val="visible"/>
                                      </p:to>
                                    </p:set>
                                    <p:animEffect transition="in" filter="fade">
                                      <p:cBhvr>
                                        <p:cTn id="7" dur="1"/>
                                        <p:tgtEl>
                                          <p:spTgt spid="2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EA840734-DF22-0694-B8AC-10F6DD04DB3E}"/>
              </a:ext>
            </a:extLst>
          </p:cNvPr>
          <p:cNvSpPr>
            <a:spLocks noGrp="1"/>
          </p:cNvSpPr>
          <p:nvPr>
            <p:ph type="title"/>
          </p:nvPr>
        </p:nvSpPr>
        <p:spPr/>
        <p:txBody>
          <a:bodyPr wrap="square" lIns="0" tIns="0" rIns="0" bIns="0" anchor="t">
            <a:spAutoFit/>
          </a:bodyPr>
          <a:lstStyle/>
          <a:p>
            <a:r>
              <a:rPr lang="es-ES" dirty="0">
                <a:latin typeface="Calibri"/>
              </a:rPr>
              <a:t>Future </a:t>
            </a:r>
            <a:r>
              <a:rPr lang="es-ES" dirty="0" err="1">
                <a:latin typeface="Calibri"/>
              </a:rPr>
              <a:t>work</a:t>
            </a:r>
            <a:endParaRPr lang="es-ES" dirty="0" err="1"/>
          </a:p>
        </p:txBody>
      </p:sp>
      <p:pic>
        <p:nvPicPr>
          <p:cNvPr id="4" name="Imagen 3">
            <a:extLst>
              <a:ext uri="{FF2B5EF4-FFF2-40B4-BE49-F238E27FC236}">
                <a16:creationId xmlns:a16="http://schemas.microsoft.com/office/drawing/2014/main" id="{BE132F40-643C-FB11-55B8-265440A11401}"/>
              </a:ext>
            </a:extLst>
          </p:cNvPr>
          <p:cNvPicPr>
            <a:picLocks noChangeAspect="1"/>
          </p:cNvPicPr>
          <p:nvPr/>
        </p:nvPicPr>
        <p:blipFill>
          <a:blip r:embed="rId2"/>
          <a:srcRect l="12500" r="19318" b="334"/>
          <a:stretch>
            <a:fillRect/>
          </a:stretch>
        </p:blipFill>
        <p:spPr>
          <a:xfrm>
            <a:off x="488460" y="1528760"/>
            <a:ext cx="1867400" cy="1849930"/>
          </a:xfrm>
          <a:prstGeom prst="rect">
            <a:avLst/>
          </a:prstGeom>
        </p:spPr>
      </p:pic>
      <p:sp>
        <p:nvSpPr>
          <p:cNvPr id="5" name="CuadroTexto 4">
            <a:extLst>
              <a:ext uri="{FF2B5EF4-FFF2-40B4-BE49-F238E27FC236}">
                <a16:creationId xmlns:a16="http://schemas.microsoft.com/office/drawing/2014/main" id="{5DB5D7D4-E2AA-FB5A-7AC6-9E8C74944ABF}"/>
              </a:ext>
            </a:extLst>
          </p:cNvPr>
          <p:cNvSpPr txBox="1"/>
          <p:nvPr/>
        </p:nvSpPr>
        <p:spPr>
          <a:xfrm>
            <a:off x="294630" y="3520324"/>
            <a:ext cx="2265364" cy="338554"/>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s-ES" sz="1600" b="1" dirty="0">
                <a:latin typeface="Calibri"/>
              </a:rPr>
              <a:t>More </a:t>
            </a:r>
            <a:r>
              <a:rPr lang="es-ES" sz="1600" b="1" dirty="0" err="1">
                <a:latin typeface="Calibri"/>
              </a:rPr>
              <a:t>complex</a:t>
            </a:r>
            <a:r>
              <a:rPr lang="es-ES" sz="1600" b="1" dirty="0">
                <a:latin typeface="Calibri"/>
              </a:rPr>
              <a:t> </a:t>
            </a:r>
            <a:r>
              <a:rPr lang="es-ES" sz="1600" b="1" dirty="0" err="1">
                <a:latin typeface="Calibri"/>
              </a:rPr>
              <a:t>networks</a:t>
            </a:r>
            <a:endParaRPr lang="es-ES" sz="1600" b="1">
              <a:latin typeface="Calibri" panose="020F0502020204030204" pitchFamily="34" charset="0"/>
            </a:endParaRPr>
          </a:p>
        </p:txBody>
      </p:sp>
      <p:pic>
        <p:nvPicPr>
          <p:cNvPr id="6" name="Imagen 5">
            <a:extLst>
              <a:ext uri="{FF2B5EF4-FFF2-40B4-BE49-F238E27FC236}">
                <a16:creationId xmlns:a16="http://schemas.microsoft.com/office/drawing/2014/main" id="{72B0EDA7-A787-DBAB-019F-B56EF31F8166}"/>
              </a:ext>
            </a:extLst>
          </p:cNvPr>
          <p:cNvPicPr>
            <a:picLocks noChangeAspect="1"/>
          </p:cNvPicPr>
          <p:nvPr/>
        </p:nvPicPr>
        <p:blipFill>
          <a:blip r:embed="rId3"/>
          <a:srcRect l="473" t="8667" r="38841" b="1506"/>
          <a:stretch>
            <a:fillRect/>
          </a:stretch>
        </p:blipFill>
        <p:spPr>
          <a:xfrm>
            <a:off x="3038579" y="1527156"/>
            <a:ext cx="1868187" cy="1851841"/>
          </a:xfrm>
          <a:prstGeom prst="rect">
            <a:avLst/>
          </a:prstGeom>
        </p:spPr>
      </p:pic>
      <p:sp>
        <p:nvSpPr>
          <p:cNvPr id="7" name="CuadroTexto 6">
            <a:extLst>
              <a:ext uri="{FF2B5EF4-FFF2-40B4-BE49-F238E27FC236}">
                <a16:creationId xmlns:a16="http://schemas.microsoft.com/office/drawing/2014/main" id="{E604174F-A2AA-1115-C0CD-0EBC2662B405}"/>
              </a:ext>
            </a:extLst>
          </p:cNvPr>
          <p:cNvSpPr txBox="1"/>
          <p:nvPr/>
        </p:nvSpPr>
        <p:spPr>
          <a:xfrm>
            <a:off x="2866381" y="3520322"/>
            <a:ext cx="2214068" cy="338554"/>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s-ES" sz="1600" b="1" dirty="0">
                <a:latin typeface="Calibri"/>
              </a:rPr>
              <a:t>More </a:t>
            </a:r>
            <a:r>
              <a:rPr lang="es-ES" sz="1600" b="1" dirty="0" err="1">
                <a:latin typeface="Calibri"/>
              </a:rPr>
              <a:t>complex</a:t>
            </a:r>
            <a:r>
              <a:rPr lang="es-ES" sz="1600" b="1" dirty="0">
                <a:latin typeface="Calibri"/>
              </a:rPr>
              <a:t> </a:t>
            </a:r>
            <a:r>
              <a:rPr lang="es-ES" sz="1600" b="1" dirty="0" err="1">
                <a:latin typeface="Calibri"/>
              </a:rPr>
              <a:t>demand</a:t>
            </a:r>
            <a:r>
              <a:rPr lang="es-ES" sz="1600" b="1" dirty="0">
                <a:latin typeface="Calibri"/>
              </a:rPr>
              <a:t> </a:t>
            </a:r>
            <a:endParaRPr lang="es-ES" sz="1600" b="1">
              <a:latin typeface="Calibri" panose="020F0502020204030204" pitchFamily="34" charset="0"/>
            </a:endParaRPr>
          </a:p>
        </p:txBody>
      </p:sp>
      <p:pic>
        <p:nvPicPr>
          <p:cNvPr id="8" name="Imagen 7">
            <a:extLst>
              <a:ext uri="{FF2B5EF4-FFF2-40B4-BE49-F238E27FC236}">
                <a16:creationId xmlns:a16="http://schemas.microsoft.com/office/drawing/2014/main" id="{BD207D05-FABF-4FDB-0273-BB89E827FD23}"/>
              </a:ext>
            </a:extLst>
          </p:cNvPr>
          <p:cNvPicPr>
            <a:picLocks noChangeAspect="1"/>
          </p:cNvPicPr>
          <p:nvPr/>
        </p:nvPicPr>
        <p:blipFill>
          <a:blip r:embed="rId4"/>
          <a:stretch>
            <a:fillRect/>
          </a:stretch>
        </p:blipFill>
        <p:spPr>
          <a:xfrm>
            <a:off x="6041231" y="359568"/>
            <a:ext cx="2069307" cy="2016919"/>
          </a:xfrm>
          <a:prstGeom prst="rect">
            <a:avLst/>
          </a:prstGeom>
        </p:spPr>
      </p:pic>
      <p:sp>
        <p:nvSpPr>
          <p:cNvPr id="9" name="CuadroTexto 8">
            <a:extLst>
              <a:ext uri="{FF2B5EF4-FFF2-40B4-BE49-F238E27FC236}">
                <a16:creationId xmlns:a16="http://schemas.microsoft.com/office/drawing/2014/main" id="{B9302184-1386-1721-8E6C-F802E8BAF00B}"/>
              </a:ext>
            </a:extLst>
          </p:cNvPr>
          <p:cNvSpPr txBox="1"/>
          <p:nvPr/>
        </p:nvSpPr>
        <p:spPr>
          <a:xfrm>
            <a:off x="5759599" y="2384465"/>
            <a:ext cx="2626040" cy="338554"/>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s-ES" sz="1600" b="1" dirty="0">
                <a:latin typeface="Calibri"/>
              </a:rPr>
              <a:t>More </a:t>
            </a:r>
            <a:r>
              <a:rPr lang="es-ES" sz="1600" b="1" dirty="0" err="1">
                <a:latin typeface="Calibri"/>
              </a:rPr>
              <a:t>modern</a:t>
            </a:r>
            <a:r>
              <a:rPr lang="es-ES" sz="1600" b="1" dirty="0">
                <a:latin typeface="Calibri"/>
              </a:rPr>
              <a:t> RL </a:t>
            </a:r>
            <a:r>
              <a:rPr lang="es-ES" sz="1600" b="1" dirty="0" err="1">
                <a:latin typeface="Calibri"/>
              </a:rPr>
              <a:t>algorithms</a:t>
            </a:r>
            <a:r>
              <a:rPr lang="es-ES" sz="1600" b="1" dirty="0">
                <a:latin typeface="Calibri"/>
              </a:rPr>
              <a:t> </a:t>
            </a:r>
            <a:endParaRPr lang="es-ES" sz="1600" b="1">
              <a:latin typeface="Calibri" panose="020F0502020204030204" pitchFamily="34" charset="0"/>
            </a:endParaRPr>
          </a:p>
        </p:txBody>
      </p:sp>
      <p:pic>
        <p:nvPicPr>
          <p:cNvPr id="11" name="Imagen 10">
            <a:extLst>
              <a:ext uri="{FF2B5EF4-FFF2-40B4-BE49-F238E27FC236}">
                <a16:creationId xmlns:a16="http://schemas.microsoft.com/office/drawing/2014/main" id="{AB9A2775-4784-CEF6-0274-FECBF47209E3}"/>
              </a:ext>
            </a:extLst>
          </p:cNvPr>
          <p:cNvPicPr>
            <a:picLocks noChangeAspect="1"/>
          </p:cNvPicPr>
          <p:nvPr/>
        </p:nvPicPr>
        <p:blipFill>
          <a:blip r:embed="rId5"/>
          <a:srcRect l="571" t="3245" b="-203"/>
          <a:stretch>
            <a:fillRect/>
          </a:stretch>
        </p:blipFill>
        <p:spPr>
          <a:xfrm>
            <a:off x="6041469" y="2931318"/>
            <a:ext cx="2066691" cy="1509644"/>
          </a:xfrm>
          <a:prstGeom prst="rect">
            <a:avLst/>
          </a:prstGeom>
        </p:spPr>
      </p:pic>
    </p:spTree>
    <p:extLst>
      <p:ext uri="{BB962C8B-B14F-4D97-AF65-F5344CB8AC3E}">
        <p14:creationId xmlns:p14="http://schemas.microsoft.com/office/powerpoint/2010/main" val="3519744346"/>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none" rtlCol="0">
        <a:spAutoFit/>
      </a:bodyPr>
      <a:lstStyle>
        <a:defPPr>
          <a:defRPr sz="2000" b="1" dirty="0">
            <a:latin typeface="Calibri" panose="020F0502020204030204" pitchFamily="34" charset="0"/>
          </a:defRPr>
        </a:defPPr>
      </a:lstStyle>
    </a:txDef>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cf48d45-3ddb-4389-a9c1-c115526eb52e}" enabled="0" method="" siteId="{7cf48d45-3ddb-4389-a9c1-c115526eb52e}" removed="1"/>
</clbl:labelList>
</file>

<file path=docProps/app.xml><?xml version="1.0" encoding="utf-8"?>
<Properties xmlns="http://schemas.openxmlformats.org/officeDocument/2006/extended-properties" xmlns:vt="http://schemas.openxmlformats.org/officeDocument/2006/docPropsVTypes">
  <TotalTime>247</TotalTime>
  <Words>1981</Words>
  <Application>Microsoft Office PowerPoint</Application>
  <PresentationFormat>Presentación en pantalla (16:9)</PresentationFormat>
  <Paragraphs>192</Paragraphs>
  <Slides>24</Slides>
  <Notes>8</Notes>
  <HiddenSlides>0</HiddenSlides>
  <MMClips>0</MMClips>
  <ScaleCrop>false</ScaleCrop>
  <HeadingPairs>
    <vt:vector size="4" baseType="variant">
      <vt:variant>
        <vt:lpstr>Tema</vt:lpstr>
      </vt:variant>
      <vt:variant>
        <vt:i4>1</vt:i4>
      </vt:variant>
      <vt:variant>
        <vt:lpstr>Títulos de diapositiva</vt:lpstr>
      </vt:variant>
      <vt:variant>
        <vt:i4>24</vt:i4>
      </vt:variant>
    </vt:vector>
  </HeadingPairs>
  <TitlesOfParts>
    <vt:vector size="25" baseType="lpstr">
      <vt:lpstr>Office Theme</vt:lpstr>
      <vt:lpstr>Presentación de PowerPoint</vt:lpstr>
      <vt:lpstr>Presentación de PowerPoint</vt:lpstr>
      <vt:lpstr>Presentación de PowerPoint</vt:lpstr>
      <vt:lpstr>Presentación de PowerPoint</vt:lpstr>
      <vt:lpstr>Presentación de PowerPoint</vt:lpstr>
      <vt:lpstr>Bounded rationality captures the limitations of human decision-making</vt:lpstr>
      <vt:lpstr>Dynamic traffic assignment models are more realistic</vt:lpstr>
      <vt:lpstr>This thesis examines the impact of bounded rational agents on traffic</vt:lpstr>
      <vt:lpstr>Presentación de PowerPoint</vt:lpstr>
      <vt:lpstr>Example of a Bush-Mosteller driver: reinforces positive actions and penalizes negative actions</vt:lpstr>
      <vt:lpstr>Presentación de PowerPoint</vt:lpstr>
      <vt:lpstr>Two notions of convergence and key simulation-time concepts</vt:lpstr>
      <vt:lpstr>Experiments and results</vt:lpstr>
      <vt:lpstr>Rational agents converge towards DUE</vt:lpstr>
      <vt:lpstr>The proposed Bush–Mosteller MARL approach appears to generate more dispersed traffic than the benchmark</vt:lpstr>
      <vt:lpstr>Perfect memory prevents recovery from disrupted edges , whereas lower memory enables partial recovery</vt:lpstr>
      <vt:lpstr>Perfect memory prevents recovery from disrupted routes, whereas lower memory enables partial recovery</vt:lpstr>
      <vt:lpstr>Risk-averse drivers may prevent convergence towards DUE</vt:lpstr>
      <vt:lpstr>Risk-averse drivers may prefer longer but more reliable routes</vt:lpstr>
      <vt:lpstr>Waiting-time-averse drivers may prevent convergence towards DUE</vt:lpstr>
      <vt:lpstr>Waiting-time-averse drivers may favor longer routes to reduce time spent stopped </vt:lpstr>
      <vt:lpstr>A nonlinear response may prevent convergence towards DUE</vt:lpstr>
      <vt:lpstr>Presentación de PowerPoint</vt:lpstr>
      <vt:lpstr>Future 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Shawn Siroka</dc:creator>
  <cp:lastModifiedBy>Alley, Michael P</cp:lastModifiedBy>
  <cp:revision>981</cp:revision>
  <cp:lastPrinted>2016-08-29T17:06:47Z</cp:lastPrinted>
  <dcterms:modified xsi:type="dcterms:W3CDTF">2026-10-01T12:11:17Z</dcterms:modified>
</cp:coreProperties>
</file>