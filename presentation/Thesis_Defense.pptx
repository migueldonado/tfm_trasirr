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1" r:id="rId1"/>
  </p:sldMasterIdLst>
  <p:notesMasterIdLst>
    <p:notesMasterId r:id="rId48"/>
  </p:notesMasterIdLst>
  <p:handoutMasterIdLst>
    <p:handoutMasterId r:id="rId49"/>
  </p:handoutMasterIdLst>
  <p:sldIdLst>
    <p:sldId id="256" r:id="rId2"/>
    <p:sldId id="307" r:id="rId3"/>
    <p:sldId id="310" r:id="rId4"/>
    <p:sldId id="276" r:id="rId5"/>
    <p:sldId id="277" r:id="rId6"/>
    <p:sldId id="278" r:id="rId7"/>
    <p:sldId id="302" r:id="rId8"/>
    <p:sldId id="281" r:id="rId9"/>
    <p:sldId id="311" r:id="rId10"/>
    <p:sldId id="304" r:id="rId11"/>
    <p:sldId id="312" r:id="rId12"/>
    <p:sldId id="306" r:id="rId13"/>
    <p:sldId id="313" r:id="rId14"/>
    <p:sldId id="315" r:id="rId15"/>
    <p:sldId id="258" r:id="rId16"/>
    <p:sldId id="316" r:id="rId17"/>
    <p:sldId id="282" r:id="rId18"/>
    <p:sldId id="317" r:id="rId19"/>
    <p:sldId id="329" r:id="rId20"/>
    <p:sldId id="327" r:id="rId21"/>
    <p:sldId id="328" r:id="rId22"/>
    <p:sldId id="318" r:id="rId23"/>
    <p:sldId id="319" r:id="rId24"/>
    <p:sldId id="285" r:id="rId25"/>
    <p:sldId id="321" r:id="rId26"/>
    <p:sldId id="290" r:id="rId27"/>
    <p:sldId id="291" r:id="rId28"/>
    <p:sldId id="322" r:id="rId29"/>
    <p:sldId id="292" r:id="rId30"/>
    <p:sldId id="293" r:id="rId31"/>
    <p:sldId id="323" r:id="rId32"/>
    <p:sldId id="294" r:id="rId33"/>
    <p:sldId id="324" r:id="rId34"/>
    <p:sldId id="298" r:id="rId35"/>
    <p:sldId id="325" r:id="rId36"/>
    <p:sldId id="296" r:id="rId37"/>
    <p:sldId id="288" r:id="rId38"/>
    <p:sldId id="287" r:id="rId39"/>
    <p:sldId id="286" r:id="rId40"/>
    <p:sldId id="280" r:id="rId41"/>
    <p:sldId id="301" r:id="rId42"/>
    <p:sldId id="279" r:id="rId43"/>
    <p:sldId id="284" r:id="rId44"/>
    <p:sldId id="320" r:id="rId45"/>
    <p:sldId id="289" r:id="rId46"/>
    <p:sldId id="295" r:id="rId47"/>
  </p:sldIdLst>
  <p:sldSz cx="9144000" cy="5143500" type="screen16x9"/>
  <p:notesSz cx="7315200" cy="96012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09C4E-626F-4101-9673-EA7E91A9CC07}" v="252" dt="2026-10-06T17:48:26.343"/>
    <p1510:client id="{12F92575-90C9-445F-8BE8-44D58463C55C}" v="255" dt="2026-10-05T09:05:12.925"/>
    <p1510:client id="{617A0B1A-9CDF-4F03-AD10-802A276F5573}" v="6" dt="2026-10-06T12:28:07.631"/>
    <p1510:client id="{6A1DD5D5-85D2-43AC-B8A6-F83444ED132C}" v="15" dt="2026-10-06T13:54:26.031"/>
    <p1510:client id="{75177472-70E5-4788-94B7-AA2B2F041846}" v="148" dt="2026-10-07T08:05:45.791"/>
    <p1510:client id="{7FD45776-5C39-483E-B10F-DEE248C6048C}" v="461" dt="2026-10-06T21:15:11.988"/>
    <p1510:client id="{836C8CC0-E884-45D5-BE7B-EA38F421600C}" v="1" dt="2026-10-05T10:06:29.358"/>
    <p1510:client id="{95DA0C25-03C6-4C98-91E8-4811EE2457E6}" v="397" dt="2026-10-06T10:00:20.196"/>
    <p1510:client id="{B79E69D1-E31D-42F9-A786-BBC14FD962AC}" v="4245" dt="2026-10-05T18:18:01.044"/>
    <p1510:client id="{B8DE4E15-7337-44F1-B4E3-CD97A8BE3DB5}" v="1456" dt="2026-10-06T17:12:55.003"/>
    <p1510:client id="{BDC27A6E-B686-4802-860B-2BA980A54744}" v="12" dt="2026-10-05T13:53:44.824"/>
    <p1510:client id="{CC0C25F1-9BE0-4887-B60C-94C9D2AC83F2}" v="2" dt="2026-10-06T13:05:11.967"/>
    <p1510:client id="{EEDD925C-8812-4BF2-B32B-FCF36C3B0490}" v="191" dt="2026-10-06T10:03:03.319"/>
  </p1510:revLst>
</p1510:revInfo>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2" autoAdjust="0"/>
    <p:restoredTop sz="74317" autoAdjust="0"/>
  </p:normalViewPr>
  <p:slideViewPr>
    <p:cSldViewPr snapToGrid="0">
      <p:cViewPr varScale="1">
        <p:scale>
          <a:sx n="80" d="100"/>
          <a:sy n="80" d="100"/>
        </p:scale>
        <p:origin x="808"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1" d="100"/>
          <a:sy n="101" d="100"/>
        </p:scale>
        <p:origin x="355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9A223849-021F-452E-A1F3-892AE52BBE56}" type="datetimeFigureOut">
              <a:rPr lang="en-US" smtClean="0"/>
              <a:t>10/8/2026</a:t>
            </a:fld>
            <a:endParaRPr lang="en-US"/>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04A8F6EE-A0F6-4A24-8145-5E7B5CA58C82}" type="slidenum">
              <a:rPr lang="en-US" smtClean="0"/>
              <a:t>‹Nº›</a:t>
            </a:fld>
            <a:endParaRPr lang="en-US"/>
          </a:p>
        </p:txBody>
      </p:sp>
    </p:spTree>
    <p:extLst>
      <p:ext uri="{BB962C8B-B14F-4D97-AF65-F5344CB8AC3E}">
        <p14:creationId xmlns:p14="http://schemas.microsoft.com/office/powerpoint/2010/main" val="2333688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1" y="0"/>
            <a:ext cx="3169919" cy="480060"/>
          </a:xfrm>
          <a:prstGeom prst="rect">
            <a:avLst/>
          </a:prstGeom>
          <a:noFill/>
          <a:ln>
            <a:noFill/>
          </a:ln>
        </p:spPr>
        <p:txBody>
          <a:bodyPr lIns="96645" tIns="96645" rIns="96645" bIns="96645" anchor="t" anchorCtr="0"/>
          <a:lstStyle>
            <a:lvl1pPr marL="0" marR="0" indent="0" algn="l" rtl="0">
              <a:spcBef>
                <a:spcPts val="0"/>
              </a:spcBef>
              <a:defRPr/>
            </a:lvl1pPr>
            <a:lvl2pPr marL="483306" marR="0" indent="0" algn="l" rtl="0">
              <a:spcBef>
                <a:spcPts val="0"/>
              </a:spcBef>
              <a:defRPr/>
            </a:lvl2pPr>
            <a:lvl3pPr marL="966612" marR="0" indent="0" algn="l" rtl="0">
              <a:spcBef>
                <a:spcPts val="0"/>
              </a:spcBef>
              <a:defRPr/>
            </a:lvl3pPr>
            <a:lvl4pPr marL="1449918" marR="0" indent="0" algn="l" rtl="0">
              <a:spcBef>
                <a:spcPts val="0"/>
              </a:spcBef>
              <a:defRPr/>
            </a:lvl4pPr>
            <a:lvl5pPr marL="1933224" marR="0" indent="0" algn="l" rtl="0">
              <a:spcBef>
                <a:spcPts val="0"/>
              </a:spcBef>
              <a:defRPr/>
            </a:lvl5pPr>
            <a:lvl6pPr marL="2416531" marR="0" indent="0" algn="l" rtl="0">
              <a:spcBef>
                <a:spcPts val="0"/>
              </a:spcBef>
              <a:defRPr/>
            </a:lvl6pPr>
            <a:lvl7pPr marL="2899837" marR="0" indent="0" algn="l" rtl="0">
              <a:spcBef>
                <a:spcPts val="0"/>
              </a:spcBef>
              <a:defRPr/>
            </a:lvl7pPr>
            <a:lvl8pPr marL="3383143" marR="0" indent="0" algn="l" rtl="0">
              <a:spcBef>
                <a:spcPts val="0"/>
              </a:spcBef>
              <a:defRPr/>
            </a:lvl8pPr>
            <a:lvl9pPr marL="3866449" marR="0" indent="0" algn="l" rtl="0">
              <a:spcBef>
                <a:spcPts val="0"/>
              </a:spcBef>
              <a:defRPr/>
            </a:lvl9pPr>
          </a:lstStyle>
          <a:p>
            <a:endParaRPr/>
          </a:p>
        </p:txBody>
      </p:sp>
      <p:sp>
        <p:nvSpPr>
          <p:cNvPr id="3" name="Shape 3"/>
          <p:cNvSpPr txBox="1">
            <a:spLocks noGrp="1"/>
          </p:cNvSpPr>
          <p:nvPr>
            <p:ph type="dt" idx="10"/>
          </p:nvPr>
        </p:nvSpPr>
        <p:spPr>
          <a:xfrm>
            <a:off x="4143587" y="0"/>
            <a:ext cx="3169919" cy="480060"/>
          </a:xfrm>
          <a:prstGeom prst="rect">
            <a:avLst/>
          </a:prstGeom>
          <a:noFill/>
          <a:ln>
            <a:noFill/>
          </a:ln>
        </p:spPr>
        <p:txBody>
          <a:bodyPr lIns="96645" tIns="96645" rIns="96645" bIns="96645" anchor="t" anchorCtr="0"/>
          <a:lstStyle>
            <a:lvl1pPr marL="0" marR="0" indent="0" algn="r" rtl="0">
              <a:spcBef>
                <a:spcPts val="0"/>
              </a:spcBef>
              <a:defRPr/>
            </a:lvl1pPr>
            <a:lvl2pPr marL="483306" marR="0" indent="0" algn="l" rtl="0">
              <a:spcBef>
                <a:spcPts val="0"/>
              </a:spcBef>
              <a:defRPr/>
            </a:lvl2pPr>
            <a:lvl3pPr marL="966612" marR="0" indent="0" algn="l" rtl="0">
              <a:spcBef>
                <a:spcPts val="0"/>
              </a:spcBef>
              <a:defRPr/>
            </a:lvl3pPr>
            <a:lvl4pPr marL="1449918" marR="0" indent="0" algn="l" rtl="0">
              <a:spcBef>
                <a:spcPts val="0"/>
              </a:spcBef>
              <a:defRPr/>
            </a:lvl4pPr>
            <a:lvl5pPr marL="1933224" marR="0" indent="0" algn="l" rtl="0">
              <a:spcBef>
                <a:spcPts val="0"/>
              </a:spcBef>
              <a:defRPr/>
            </a:lvl5pPr>
            <a:lvl6pPr marL="2416531" marR="0" indent="0" algn="l" rtl="0">
              <a:spcBef>
                <a:spcPts val="0"/>
              </a:spcBef>
              <a:defRPr/>
            </a:lvl6pPr>
            <a:lvl7pPr marL="2899837" marR="0" indent="0" algn="l" rtl="0">
              <a:spcBef>
                <a:spcPts val="0"/>
              </a:spcBef>
              <a:defRPr/>
            </a:lvl7pPr>
            <a:lvl8pPr marL="3383143" marR="0" indent="0" algn="l" rtl="0">
              <a:spcBef>
                <a:spcPts val="0"/>
              </a:spcBef>
              <a:defRPr/>
            </a:lvl8pPr>
            <a:lvl9pPr marL="3866449" marR="0" indent="0" algn="l" rtl="0">
              <a:spcBef>
                <a:spcPts val="0"/>
              </a:spcBef>
              <a:defRPr/>
            </a:lvl9pPr>
          </a:lstStyle>
          <a:p>
            <a:endParaRPr/>
          </a:p>
        </p:txBody>
      </p:sp>
      <p:sp>
        <p:nvSpPr>
          <p:cNvPr id="4" name="Shape 4"/>
          <p:cNvSpPr>
            <a:spLocks noGrp="1" noRot="1" noChangeAspect="1"/>
          </p:cNvSpPr>
          <p:nvPr>
            <p:ph type="sldImg" idx="3"/>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5" name="Shape 5"/>
          <p:cNvSpPr txBox="1">
            <a:spLocks noGrp="1"/>
          </p:cNvSpPr>
          <p:nvPr>
            <p:ph type="body" idx="1"/>
          </p:nvPr>
        </p:nvSpPr>
        <p:spPr>
          <a:xfrm>
            <a:off x="731521" y="4560570"/>
            <a:ext cx="5852159" cy="4320540"/>
          </a:xfrm>
          <a:prstGeom prst="rect">
            <a:avLst/>
          </a:prstGeom>
          <a:noFill/>
          <a:ln>
            <a:noFill/>
          </a:ln>
        </p:spPr>
        <p:txBody>
          <a:bodyPr lIns="96645" tIns="96645" rIns="96645" bIns="96645" anchor="t"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6" name="Shape 6"/>
          <p:cNvSpPr txBox="1">
            <a:spLocks noGrp="1"/>
          </p:cNvSpPr>
          <p:nvPr>
            <p:ph type="ftr" idx="11"/>
          </p:nvPr>
        </p:nvSpPr>
        <p:spPr>
          <a:xfrm>
            <a:off x="1" y="9119474"/>
            <a:ext cx="3169919" cy="480060"/>
          </a:xfrm>
          <a:prstGeom prst="rect">
            <a:avLst/>
          </a:prstGeom>
          <a:noFill/>
          <a:ln>
            <a:noFill/>
          </a:ln>
        </p:spPr>
        <p:txBody>
          <a:bodyPr lIns="96645" tIns="96645" rIns="96645" bIns="96645" anchor="b" anchorCtr="0"/>
          <a:lstStyle>
            <a:lvl1pPr marL="0" marR="0" indent="0" algn="l" rtl="0">
              <a:spcBef>
                <a:spcPts val="0"/>
              </a:spcBef>
              <a:defRPr/>
            </a:lvl1pPr>
            <a:lvl2pPr marL="483306" marR="0" indent="0" algn="l" rtl="0">
              <a:spcBef>
                <a:spcPts val="0"/>
              </a:spcBef>
              <a:defRPr/>
            </a:lvl2pPr>
            <a:lvl3pPr marL="966612" marR="0" indent="0" algn="l" rtl="0">
              <a:spcBef>
                <a:spcPts val="0"/>
              </a:spcBef>
              <a:defRPr/>
            </a:lvl3pPr>
            <a:lvl4pPr marL="1449918" marR="0" indent="0" algn="l" rtl="0">
              <a:spcBef>
                <a:spcPts val="0"/>
              </a:spcBef>
              <a:defRPr/>
            </a:lvl4pPr>
            <a:lvl5pPr marL="1933224" marR="0" indent="0" algn="l" rtl="0">
              <a:spcBef>
                <a:spcPts val="0"/>
              </a:spcBef>
              <a:defRPr/>
            </a:lvl5pPr>
            <a:lvl6pPr marL="2416531" marR="0" indent="0" algn="l" rtl="0">
              <a:spcBef>
                <a:spcPts val="0"/>
              </a:spcBef>
              <a:defRPr/>
            </a:lvl6pPr>
            <a:lvl7pPr marL="2899837" marR="0" indent="0" algn="l" rtl="0">
              <a:spcBef>
                <a:spcPts val="0"/>
              </a:spcBef>
              <a:defRPr/>
            </a:lvl7pPr>
            <a:lvl8pPr marL="3383143" marR="0" indent="0" algn="l" rtl="0">
              <a:spcBef>
                <a:spcPts val="0"/>
              </a:spcBef>
              <a:defRPr/>
            </a:lvl8pPr>
            <a:lvl9pPr marL="3866449" marR="0" indent="0" algn="l" rtl="0">
              <a:spcBef>
                <a:spcPts val="0"/>
              </a:spcBef>
              <a:defRPr/>
            </a:lvl9pPr>
          </a:lstStyle>
          <a:p>
            <a:endParaRPr/>
          </a:p>
        </p:txBody>
      </p:sp>
      <p:sp>
        <p:nvSpPr>
          <p:cNvPr id="7" name="Shape 7"/>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lvl1pPr marL="0" marR="0" indent="0" algn="r" rtl="0">
              <a:spcBef>
                <a:spcPts val="0"/>
              </a:spcBef>
              <a:buNone/>
              <a:defRPr sz="1300" b="0" i="0" u="none" strike="noStrike" cap="none" baseline="0">
                <a:solidFill>
                  <a:schemeClr val="dk1"/>
                </a:solidFill>
                <a:latin typeface="Calibri"/>
                <a:ea typeface="Calibri"/>
                <a:cs typeface="Calibri"/>
                <a:sym typeface="Calibri"/>
              </a:defRPr>
            </a:lvl1pPr>
          </a:lstStyle>
          <a:p>
            <a:pPr>
              <a:buSzPct val="25000"/>
            </a:pPr>
            <a:fld id="{00000000-1234-1234-1234-123412341234}" type="slidenum">
              <a:rPr lang="en-US" smtClean="0"/>
              <a:pPr>
                <a:buSzPct val="25000"/>
              </a:pPr>
              <a:t>‹Nº›</a:t>
            </a:fld>
            <a:endParaRPr lang="en-US"/>
          </a:p>
        </p:txBody>
      </p:sp>
    </p:spTree>
    <p:extLst>
      <p:ext uri="{BB962C8B-B14F-4D97-AF65-F5344CB8AC3E}">
        <p14:creationId xmlns:p14="http://schemas.microsoft.com/office/powerpoint/2010/main" val="2199052532"/>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Shape 28"/>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a:t>
            </a:fld>
            <a:endParaRPr lang="en-US"/>
          </a:p>
        </p:txBody>
      </p:sp>
      <p:sp>
        <p:nvSpPr>
          <p:cNvPr id="29" name="Shape 29"/>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30" name="Shape 30"/>
          <p:cNvSpPr txBox="1">
            <a:spLocks noGrp="1"/>
          </p:cNvSpPr>
          <p:nvPr>
            <p:ph type="body" idx="1"/>
          </p:nvPr>
        </p:nvSpPr>
        <p:spPr>
          <a:xfrm>
            <a:off x="973666" y="4560570"/>
            <a:ext cx="5367866" cy="4318873"/>
          </a:xfrm>
          <a:prstGeom prst="rect">
            <a:avLst/>
          </a:prstGeom>
          <a:noFill/>
          <a:ln>
            <a:noFill/>
          </a:ln>
        </p:spPr>
        <p:txBody>
          <a:bodyPr lIns="95615" tIns="46962" rIns="95615" bIns="46962" anchor="t" anchorCtr="0">
            <a:noAutofit/>
          </a:bodyPr>
          <a:lstStyle/>
          <a:p>
            <a:pPr defTabSz="985072">
              <a:spcBef>
                <a:spcPct val="0"/>
              </a:spcBef>
            </a:pPr>
            <a:r>
              <a:rPr lang="en-US" altLang="en-US" dirty="0"/>
              <a:t>This file presents an assertion-evidence template for making effective slides for scientific presentations. Although much about the layout and typography contrasts sharply with the defaults of PowerPoint, these changes are done so to make the slides more effective at communicating technical information. The design advocated by this template arises from Chapter 4 of </a:t>
            </a:r>
            <a:r>
              <a:rPr lang="en-US" altLang="en-US" i="1" dirty="0"/>
              <a:t>The Craft of Scientific Presentations, </a:t>
            </a:r>
            <a:r>
              <a:rPr lang="en-US" altLang="en-US" dirty="0"/>
              <a:t>2</a:t>
            </a:r>
            <a:r>
              <a:rPr lang="en-US" altLang="en-US" baseline="30000" dirty="0"/>
              <a:t>nd</a:t>
            </a:r>
            <a:r>
              <a:rPr lang="en-US" altLang="en-US" dirty="0"/>
              <a:t> edition</a:t>
            </a:r>
            <a:r>
              <a:rPr lang="en-US" altLang="en-US" i="1" dirty="0"/>
              <a:t> </a:t>
            </a:r>
            <a:r>
              <a:rPr lang="en-US" altLang="en-US" dirty="0"/>
              <a:t>(Springer, 2013). The homepage for this template exists at the following</a:t>
            </a:r>
            <a:r>
              <a:rPr lang="en-US" altLang="en-US" baseline="0" dirty="0"/>
              <a:t> website</a:t>
            </a:r>
            <a:r>
              <a:rPr lang="en-US" altLang="en-US" dirty="0"/>
              <a:t>:</a:t>
            </a:r>
          </a:p>
          <a:p>
            <a:pPr defTabSz="985072">
              <a:spcBef>
                <a:spcPct val="0"/>
              </a:spcBef>
            </a:pPr>
            <a:r>
              <a:rPr lang="en-US" altLang="en-US" dirty="0"/>
              <a:t>	http://writing.engr.psu.edu/assertion_evidence.html </a:t>
            </a:r>
          </a:p>
          <a:p>
            <a:pPr defTabSz="985072">
              <a:spcBef>
                <a:spcPct val="0"/>
              </a:spcBef>
            </a:pPr>
            <a:r>
              <a:rPr lang="en-US" altLang="en-US" dirty="0"/>
              <a:t> Right now you are viewing the notes pages. To work on the slides, click on “Slide” under “View.” </a:t>
            </a:r>
            <a:r>
              <a:rPr lang="en-US" altLang="en-US" baseline="0" dirty="0"/>
              <a:t> </a:t>
            </a:r>
            <a:r>
              <a:rPr lang="en-US" altLang="en-US" dirty="0"/>
              <a:t>Tip: When creating a new presentation, </a:t>
            </a:r>
            <a:r>
              <a:rPr lang="en-US" altLang="en-US" b="1" dirty="0"/>
              <a:t>save</a:t>
            </a:r>
            <a:r>
              <a:rPr lang="en-US" altLang="en-US" dirty="0"/>
              <a:t> this file </a:t>
            </a:r>
            <a:r>
              <a:rPr lang="en-US" altLang="en-US" b="1" dirty="0"/>
              <a:t>as</a:t>
            </a:r>
            <a:r>
              <a:rPr lang="en-US" altLang="en-US" dirty="0"/>
              <a:t> the name of your presentation.  Warning: </a:t>
            </a:r>
            <a:r>
              <a:rPr lang="en-US" altLang="en-US" sz="1300" i="1" dirty="0"/>
              <a:t>You are more than welcome to use this template for your presentation slides. You may not, though, distribute this template for profit or distribute this template without giving credit to the source: http://writing.engr.psu.edu/</a:t>
            </a:r>
          </a:p>
          <a:p>
            <a:pPr defTabSz="985072">
              <a:spcBef>
                <a:spcPct val="0"/>
              </a:spcBef>
            </a:pPr>
            <a:endParaRPr lang="en-US" altLang="en-US" dirty="0"/>
          </a:p>
          <a:p>
            <a:pPr eaLnBrk="1" hangingPunct="1">
              <a:spcBef>
                <a:spcPct val="0"/>
              </a:spcBef>
            </a:pPr>
            <a:r>
              <a:rPr lang="en-US" altLang="en-US" dirty="0"/>
              <a:t>This slide is for the title slide of a presentation. Consider inserting an image that helps</a:t>
            </a:r>
            <a:r>
              <a:rPr lang="en-US" altLang="en-US" baseline="0" dirty="0"/>
              <a:t> orient the audience to the title. You should not leave this slide until the audience feel comfortable with the title. </a:t>
            </a:r>
            <a:r>
              <a:rPr lang="en-US" altLang="en-US" dirty="0"/>
              <a:t>Forcing yourself to spend more time with this slide is good because a common mistake in presentations is to leave the title slide too</a:t>
            </a:r>
            <a:r>
              <a:rPr lang="en-US" altLang="en-US" baseline="0" dirty="0"/>
              <a:t> soon</a:t>
            </a:r>
            <a:r>
              <a:rPr lang="en-US" altLang="en-US" dirty="0"/>
              <a:t>. Because of this mistake, many in the audience do not have the chance to comprehend the key details of the title. See pages 172-184 in </a:t>
            </a:r>
            <a:r>
              <a:rPr lang="en-US" altLang="en-US" i="1" dirty="0"/>
              <a:t>The Craft of Scientific Presentations, </a:t>
            </a:r>
            <a:r>
              <a:rPr lang="en-US" altLang="en-US" dirty="0"/>
              <a:t>2</a:t>
            </a:r>
            <a:r>
              <a:rPr lang="en-US" altLang="en-US" baseline="30000" dirty="0"/>
              <a:t>nd</a:t>
            </a:r>
            <a:r>
              <a:rPr lang="en-US" altLang="en-US" dirty="0"/>
              <a:t> ed. (</a:t>
            </a:r>
            <a:r>
              <a:rPr lang="en-US" altLang="en-US" i="1" dirty="0"/>
              <a:t>CSP</a:t>
            </a:r>
            <a:r>
              <a:rPr lang="en-US" altLang="en-US" dirty="0"/>
              <a:t>). </a:t>
            </a:r>
          </a:p>
          <a:p>
            <a:pPr eaLnBrk="1" hangingPunct="1">
              <a:spcBef>
                <a:spcPct val="0"/>
              </a:spcBef>
            </a:pPr>
            <a:endParaRPr lang="en-US" altLang="en-US" dirty="0"/>
          </a:p>
          <a:p>
            <a:pPr eaLnBrk="1" hangingPunct="1">
              <a:spcBef>
                <a:spcPct val="0"/>
              </a:spcBef>
            </a:pPr>
            <a:r>
              <a:rPr lang="en-US" altLang="en-US" dirty="0"/>
              <a:t>This template shows one layout for the slide. You might want to rearrange the placement of the body’s wording to accommodate a different sized image. On the next slide is a sample title slide. You</a:t>
            </a:r>
            <a:r>
              <a:rPr lang="en-US" altLang="en-US" baseline="0" dirty="0"/>
              <a:t> should delete the examples after you create your own slides.</a:t>
            </a:r>
            <a:endParaRPr lang="en-US" altLang="en-US" dirty="0"/>
          </a:p>
        </p:txBody>
      </p:sp>
    </p:spTree>
    <p:extLst>
      <p:ext uri="{BB962C8B-B14F-4D97-AF65-F5344CB8AC3E}">
        <p14:creationId xmlns:p14="http://schemas.microsoft.com/office/powerpoint/2010/main" val="69359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7B808834-C098-CD98-7F2F-AE477689362B}"/>
            </a:ext>
          </a:extLst>
        </p:cNvPr>
        <p:cNvGrpSpPr/>
        <p:nvPr/>
      </p:nvGrpSpPr>
      <p:grpSpPr>
        <a:xfrm>
          <a:off x="0" y="0"/>
          <a:ext cx="0" cy="0"/>
          <a:chOff x="0" y="0"/>
          <a:chExt cx="0" cy="0"/>
        </a:xfrm>
      </p:grpSpPr>
      <p:sp>
        <p:nvSpPr>
          <p:cNvPr id="71" name="Shape 71">
            <a:extLst>
              <a:ext uri="{FF2B5EF4-FFF2-40B4-BE49-F238E27FC236}">
                <a16:creationId xmlns:a16="http://schemas.microsoft.com/office/drawing/2014/main" id="{3706FBBF-5942-E3C2-BBD8-E570DD9A5E48}"/>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4</a:t>
            </a:fld>
            <a:endParaRPr lang="en-US"/>
          </a:p>
        </p:txBody>
      </p:sp>
      <p:sp>
        <p:nvSpPr>
          <p:cNvPr id="72" name="Shape 72">
            <a:extLst>
              <a:ext uri="{FF2B5EF4-FFF2-40B4-BE49-F238E27FC236}">
                <a16:creationId xmlns:a16="http://schemas.microsoft.com/office/drawing/2014/main" id="{1F5C606D-9686-1E39-D50E-516673A7A6C6}"/>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73" name="Shape 73">
            <a:extLst>
              <a:ext uri="{FF2B5EF4-FFF2-40B4-BE49-F238E27FC236}">
                <a16:creationId xmlns:a16="http://schemas.microsoft.com/office/drawing/2014/main" id="{C7BDAF47-2C1F-152F-896A-7AF873BC1A85}"/>
              </a:ext>
            </a:extLst>
          </p:cNvPr>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Sample mapping slide.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Katrina Aspmo, Torunn Berg, and Grethe Wibetoe, “Atmospheric Mercury Depletion Events (AMDEs) in Polar Regions During Arctic Spring,” presentation (Oslo, Norway: University of Oslo, 16 June 2004). </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12262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FC178467-0FEA-6A19-39A1-05D16B870CE8}"/>
            </a:ext>
          </a:extLst>
        </p:cNvPr>
        <p:cNvGrpSpPr/>
        <p:nvPr/>
      </p:nvGrpSpPr>
      <p:grpSpPr>
        <a:xfrm>
          <a:off x="0" y="0"/>
          <a:ext cx="0" cy="0"/>
          <a:chOff x="0" y="0"/>
          <a:chExt cx="0" cy="0"/>
        </a:xfrm>
      </p:grpSpPr>
      <p:sp>
        <p:nvSpPr>
          <p:cNvPr id="89" name="Shape 89">
            <a:extLst>
              <a:ext uri="{FF2B5EF4-FFF2-40B4-BE49-F238E27FC236}">
                <a16:creationId xmlns:a16="http://schemas.microsoft.com/office/drawing/2014/main" id="{2CBB0254-AB82-BBEC-DD05-CCE001DA0238}"/>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5</a:t>
            </a:fld>
            <a:endParaRPr lang="en-US"/>
          </a:p>
        </p:txBody>
      </p:sp>
      <p:sp>
        <p:nvSpPr>
          <p:cNvPr id="90" name="Shape 90">
            <a:extLst>
              <a:ext uri="{FF2B5EF4-FFF2-40B4-BE49-F238E27FC236}">
                <a16:creationId xmlns:a16="http://schemas.microsoft.com/office/drawing/2014/main" id="{B44955AE-5583-91D3-A307-621B5789F9C9}"/>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91" name="Shape 91">
            <a:extLst>
              <a:ext uri="{FF2B5EF4-FFF2-40B4-BE49-F238E27FC236}">
                <a16:creationId xmlns:a16="http://schemas.microsoft.com/office/drawing/2014/main" id="{8B0E48E1-9BEB-9D2F-CB5E-226371917147}"/>
              </a:ext>
            </a:extLst>
          </p:cNvPr>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Body slide from the first section of the presentation’s middle. Consider having the first-topic image from the mapping slide repeated here. Use the headline (no more than two lines) to make an assertion about this topic. In the body of the slide, support that headline with images and with words, if necessary. See Chapter 4 of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shows one orientation for the image and text in the body of the slide. Other orientations appear in this template. Choose the one that best supports your headline assertion.</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Some institutions will insist that you place an institutional logo on each slide. Other institutions recommend a logo on the first slide and the last.  If you do place a logo on each slide, make sure that logo is at the bottom of the slide rather than the top. Placing the logo at the top (the place on a slide that receives the most emphasis) shifts the emphasis away from the work.</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25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2588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FD857421-F600-D79E-90CC-6693683007F3}"/>
            </a:ext>
          </a:extLst>
        </p:cNvPr>
        <p:cNvGrpSpPr/>
        <p:nvPr/>
      </p:nvGrpSpPr>
      <p:grpSpPr>
        <a:xfrm>
          <a:off x="0" y="0"/>
          <a:ext cx="0" cy="0"/>
          <a:chOff x="0" y="0"/>
          <a:chExt cx="0" cy="0"/>
        </a:xfrm>
      </p:grpSpPr>
      <p:sp>
        <p:nvSpPr>
          <p:cNvPr id="71" name="Shape 71">
            <a:extLst>
              <a:ext uri="{FF2B5EF4-FFF2-40B4-BE49-F238E27FC236}">
                <a16:creationId xmlns:a16="http://schemas.microsoft.com/office/drawing/2014/main" id="{21D56FAF-D3BC-DC2E-EFEA-B3172F07BD0F}"/>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6</a:t>
            </a:fld>
            <a:endParaRPr lang="en-US"/>
          </a:p>
        </p:txBody>
      </p:sp>
      <p:sp>
        <p:nvSpPr>
          <p:cNvPr id="72" name="Shape 72">
            <a:extLst>
              <a:ext uri="{FF2B5EF4-FFF2-40B4-BE49-F238E27FC236}">
                <a16:creationId xmlns:a16="http://schemas.microsoft.com/office/drawing/2014/main" id="{A3B8CAB0-026B-BD2D-631A-4B1E778E6724}"/>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73" name="Shape 73">
            <a:extLst>
              <a:ext uri="{FF2B5EF4-FFF2-40B4-BE49-F238E27FC236}">
                <a16:creationId xmlns:a16="http://schemas.microsoft.com/office/drawing/2014/main" id="{9CD7A2E3-DAB3-3F4E-0CC8-327AC5726329}"/>
              </a:ext>
            </a:extLst>
          </p:cNvPr>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Sample mapping slide.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Katrina Aspmo, Torunn Berg, and Grethe Wibetoe, “Atmospheric Mercury Depletion Events (AMDEs) in Polar Regions During Arctic Spring,” presentation (Oslo, Norway: University of Oslo, 16 June 2004). </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832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15</a:t>
            </a:fld>
            <a:endParaRPr lang="en-US"/>
          </a:p>
        </p:txBody>
      </p:sp>
      <p:sp>
        <p:nvSpPr>
          <p:cNvPr id="52" name="Shape 52"/>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53" name="Shape 53"/>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Mapping slide for the presentation (note that a background slide or a slide justifying the importance might precede this slide). A common mistake with mapping slides is to give the audience simply an unmemorable bulleted list of topics (including the names “Introduction” and “Conclusion” and “Questions”). Such a list is quickly forgotten after the slide is removed.</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On a mapping slide, take the opportunity to show a key image or perhaps a representative image for each major section of the presentation. In the second case, each image would be repeated on the first visual of the corresponding section and would remind the audience that they have arrived to a major section of the presentation’s middle.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In regards to the names “Introduction” and “Conclusion,” every talk has those sections, and the names are ignored by audiences. So why state them? Also, for the divisions that you do have, find a logical and parallel grouping. Note that groups of two’s, three’s, and four’s are much easier to remember and are not so nearly intimidating as groups of five’s, six’s, and seven’s. See the discussion of mapping slides in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 (pages 177-181).</a:t>
            </a:r>
          </a:p>
        </p:txBody>
      </p:sp>
    </p:spTree>
    <p:extLst>
      <p:ext uri="{BB962C8B-B14F-4D97-AF65-F5344CB8AC3E}">
        <p14:creationId xmlns:p14="http://schemas.microsoft.com/office/powerpoint/2010/main" val="1512560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2A719FE4-22E7-6640-77F9-0C67BADA09EE}"/>
            </a:ext>
          </a:extLst>
        </p:cNvPr>
        <p:cNvGrpSpPr/>
        <p:nvPr/>
      </p:nvGrpSpPr>
      <p:grpSpPr>
        <a:xfrm>
          <a:off x="0" y="0"/>
          <a:ext cx="0" cy="0"/>
          <a:chOff x="0" y="0"/>
          <a:chExt cx="0" cy="0"/>
        </a:xfrm>
      </p:grpSpPr>
      <p:sp>
        <p:nvSpPr>
          <p:cNvPr id="169" name="Shape 169">
            <a:extLst>
              <a:ext uri="{FF2B5EF4-FFF2-40B4-BE49-F238E27FC236}">
                <a16:creationId xmlns:a16="http://schemas.microsoft.com/office/drawing/2014/main" id="{50E4DD97-11A6-DC1A-E614-A72B2FEF383B}"/>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17</a:t>
            </a:fld>
            <a:endParaRPr lang="en-US"/>
          </a:p>
        </p:txBody>
      </p:sp>
      <p:sp>
        <p:nvSpPr>
          <p:cNvPr id="170" name="Shape 170">
            <a:extLst>
              <a:ext uri="{FF2B5EF4-FFF2-40B4-BE49-F238E27FC236}">
                <a16:creationId xmlns:a16="http://schemas.microsoft.com/office/drawing/2014/main" id="{FD3732B6-6EDF-B117-3ED7-65C52739CE30}"/>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71" name="Shape 171">
            <a:extLst>
              <a:ext uri="{FF2B5EF4-FFF2-40B4-BE49-F238E27FC236}">
                <a16:creationId xmlns:a16="http://schemas.microsoft.com/office/drawing/2014/main" id="{E6455EBA-C5FB-78D3-96E3-A8E8B8E7B42B}"/>
              </a:ext>
            </a:extLst>
          </p:cNvPr>
          <p:cNvSpPr txBox="1">
            <a:spLocks noGrp="1"/>
          </p:cNvSpPr>
          <p:nvPr>
            <p:ph type="body" idx="1"/>
          </p:nvPr>
        </p:nvSpPr>
        <p:spPr>
          <a:xfrm>
            <a:off x="731521" y="4560570"/>
            <a:ext cx="5852159" cy="4318873"/>
          </a:xfrm>
          <a:prstGeom prst="rect">
            <a:avLst/>
          </a:prstGeom>
          <a:noFill/>
          <a:ln>
            <a:noFill/>
          </a:ln>
        </p:spPr>
        <p:txBody>
          <a:bodyPr lIns="96645" tIns="48309" rIns="96645" bIns="48309" anchor="t" anchorCtr="0">
            <a:noAutofit/>
          </a:bodyPr>
          <a:lstStyle/>
          <a:p>
            <a:pPr>
              <a:buSzPct val="25000"/>
            </a:pPr>
            <a:r>
              <a:rPr lang="en-US" sz="1300">
                <a:solidFill>
                  <a:schemeClr val="dk1"/>
                </a:solidFill>
                <a:latin typeface="Calibri"/>
                <a:ea typeface="Calibri"/>
                <a:cs typeface="Calibri"/>
                <a:sym typeface="Calibri"/>
              </a:rPr>
              <a:t>Sample slide from the middle of a presentation. Notice how animation works to allow the speaker to present fairly complex connections in a way that the audience can digest. Notice how the arrows show connections—something that bullets could not achieve.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This slide is a composite slide from a number of mechanical engineering seniors in ME 4006, a laboratory course at Virginia Tech. These presentations occurred during the Fall 2004 semester.</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1993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a:extLst>
            <a:ext uri="{FF2B5EF4-FFF2-40B4-BE49-F238E27FC236}">
              <a16:creationId xmlns:a16="http://schemas.microsoft.com/office/drawing/2014/main" id="{DFDF60FE-FF30-7D01-4B6E-7E2453CB0B67}"/>
            </a:ext>
          </a:extLst>
        </p:cNvPr>
        <p:cNvGrpSpPr/>
        <p:nvPr/>
      </p:nvGrpSpPr>
      <p:grpSpPr>
        <a:xfrm>
          <a:off x="0" y="0"/>
          <a:ext cx="0" cy="0"/>
          <a:chOff x="0" y="0"/>
          <a:chExt cx="0" cy="0"/>
        </a:xfrm>
      </p:grpSpPr>
      <p:sp>
        <p:nvSpPr>
          <p:cNvPr id="250" name="Shape 250">
            <a:extLst>
              <a:ext uri="{FF2B5EF4-FFF2-40B4-BE49-F238E27FC236}">
                <a16:creationId xmlns:a16="http://schemas.microsoft.com/office/drawing/2014/main" id="{9687A7F8-F3CD-08DC-C0F3-267C8557985C}"/>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34</a:t>
            </a:fld>
            <a:endParaRPr lang="en-US"/>
          </a:p>
        </p:txBody>
      </p:sp>
      <p:sp>
        <p:nvSpPr>
          <p:cNvPr id="251" name="Shape 251">
            <a:extLst>
              <a:ext uri="{FF2B5EF4-FFF2-40B4-BE49-F238E27FC236}">
                <a16:creationId xmlns:a16="http://schemas.microsoft.com/office/drawing/2014/main" id="{9C42BA8D-8A60-57F8-596F-0396EE69E790}"/>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252" name="Shape 252">
            <a:extLst>
              <a:ext uri="{FF2B5EF4-FFF2-40B4-BE49-F238E27FC236}">
                <a16:creationId xmlns:a16="http://schemas.microsoft.com/office/drawing/2014/main" id="{76390AD4-2177-FE7C-FD59-A82F6BF19095}"/>
              </a:ext>
            </a:extLst>
          </p:cNvPr>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Conclusion slide. Use the headline (no more than two lines) to state your most important conclusion. Begin the headline with </a:t>
            </a:r>
            <a:r>
              <a:rPr lang="en-US" sz="1300" i="1">
                <a:solidFill>
                  <a:schemeClr val="dk1"/>
                </a:solidFill>
                <a:latin typeface="Calibri"/>
                <a:ea typeface="Calibri"/>
                <a:cs typeface="Calibri"/>
                <a:sym typeface="Calibri"/>
              </a:rPr>
              <a:t>In summary</a:t>
            </a:r>
            <a:r>
              <a:rPr lang="en-US" sz="1300">
                <a:solidFill>
                  <a:schemeClr val="dk1"/>
                </a:solidFill>
                <a:latin typeface="Calibri"/>
                <a:ea typeface="Calibri"/>
                <a:cs typeface="Calibri"/>
                <a:sym typeface="Calibri"/>
              </a:rPr>
              <a:t> or </a:t>
            </a:r>
            <a:r>
              <a:rPr lang="en-US" sz="1300" i="1">
                <a:solidFill>
                  <a:schemeClr val="dk1"/>
                </a:solidFill>
                <a:latin typeface="Calibri"/>
                <a:ea typeface="Calibri"/>
                <a:cs typeface="Calibri"/>
                <a:sym typeface="Calibri"/>
              </a:rPr>
              <a:t>In conclusion</a:t>
            </a:r>
            <a:r>
              <a:rPr lang="en-US" sz="1300">
                <a:solidFill>
                  <a:schemeClr val="dk1"/>
                </a:solidFill>
                <a:latin typeface="Calibri"/>
                <a:ea typeface="Calibri"/>
                <a:cs typeface="Calibri"/>
                <a:sym typeface="Calibri"/>
              </a:rPr>
              <a:t> to ensure that the audience knows they have come to the presentation’s end. Support that headline with an image and parallel points.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should be your last slide. Audiences lose patience when they believe that they have come to the end, but other slides follow.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Notice that the word </a:t>
            </a:r>
            <a:r>
              <a:rPr lang="en-US" sz="1300" i="1">
                <a:solidFill>
                  <a:schemeClr val="dk1"/>
                </a:solidFill>
                <a:latin typeface="Calibri"/>
                <a:ea typeface="Calibri"/>
                <a:cs typeface="Calibri"/>
                <a:sym typeface="Calibri"/>
              </a:rPr>
              <a:t>Questions</a:t>
            </a:r>
            <a:r>
              <a:rPr lang="en-US" sz="1300">
                <a:solidFill>
                  <a:schemeClr val="dk1"/>
                </a:solidFill>
                <a:latin typeface="Calibri"/>
                <a:ea typeface="Calibri"/>
                <a:cs typeface="Calibri"/>
                <a:sym typeface="Calibri"/>
              </a:rPr>
              <a:t> appears at the bottom of this slide. That strategy is much more effective than burning a slide with just the word </a:t>
            </a:r>
            <a:r>
              <a:rPr lang="en-US" sz="1300" i="1">
                <a:solidFill>
                  <a:schemeClr val="dk1"/>
                </a:solidFill>
                <a:latin typeface="Calibri"/>
                <a:ea typeface="Calibri"/>
                <a:cs typeface="Calibri"/>
                <a:sym typeface="Calibri"/>
              </a:rPr>
              <a:t>Questions</a:t>
            </a:r>
            <a:r>
              <a:rPr lang="en-US" sz="1300">
                <a:solidFill>
                  <a:schemeClr val="dk1"/>
                </a:solidFill>
                <a:latin typeface="Calibri"/>
                <a:ea typeface="Calibri"/>
                <a:cs typeface="Calibri"/>
                <a:sym typeface="Calibri"/>
              </a:rPr>
              <a:t>. This slide allows the audience to look at the most important slide of the presentation during the question period. See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r>
              <a:rPr lang="en-US" sz="1300" i="1">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pages 182-183. </a:t>
            </a:r>
          </a:p>
        </p:txBody>
      </p:sp>
    </p:spTree>
    <p:extLst>
      <p:ext uri="{BB962C8B-B14F-4D97-AF65-F5344CB8AC3E}">
        <p14:creationId xmlns:p14="http://schemas.microsoft.com/office/powerpoint/2010/main" val="1022800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C09C36E0-2152-B4DF-441D-320EA7CBB105}"/>
            </a:ext>
          </a:extLst>
        </p:cNvPr>
        <p:cNvGrpSpPr/>
        <p:nvPr/>
      </p:nvGrpSpPr>
      <p:grpSpPr>
        <a:xfrm>
          <a:off x="0" y="0"/>
          <a:ext cx="0" cy="0"/>
          <a:chOff x="0" y="0"/>
          <a:chExt cx="0" cy="0"/>
        </a:xfrm>
      </p:grpSpPr>
      <p:sp>
        <p:nvSpPr>
          <p:cNvPr id="71" name="Shape 71">
            <a:extLst>
              <a:ext uri="{FF2B5EF4-FFF2-40B4-BE49-F238E27FC236}">
                <a16:creationId xmlns:a16="http://schemas.microsoft.com/office/drawing/2014/main" id="{4D413A39-23E8-666E-3C85-51615D7D6D62}"/>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41</a:t>
            </a:fld>
            <a:endParaRPr lang="en-US"/>
          </a:p>
        </p:txBody>
      </p:sp>
      <p:sp>
        <p:nvSpPr>
          <p:cNvPr id="72" name="Shape 72">
            <a:extLst>
              <a:ext uri="{FF2B5EF4-FFF2-40B4-BE49-F238E27FC236}">
                <a16:creationId xmlns:a16="http://schemas.microsoft.com/office/drawing/2014/main" id="{D4907C20-B7DC-963B-3AE3-CC1E3DF96232}"/>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73" name="Shape 73">
            <a:extLst>
              <a:ext uri="{FF2B5EF4-FFF2-40B4-BE49-F238E27FC236}">
                <a16:creationId xmlns:a16="http://schemas.microsoft.com/office/drawing/2014/main" id="{05CA0E04-E710-1657-CEC6-88F37DAA2278}"/>
              </a:ext>
            </a:extLst>
          </p:cNvPr>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Sample mapping slide.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Katrina Aspmo, Torunn Berg, and Grethe Wibetoe, “Atmospheric Mercury Depletion Events (AMDEs) in Polar Regions During Arctic Spring,” presentation (Oslo, Norway: University of Oslo, 16 June 2004). </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95091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a:extLst>
            <a:ext uri="{FF2B5EF4-FFF2-40B4-BE49-F238E27FC236}">
              <a16:creationId xmlns:a16="http://schemas.microsoft.com/office/drawing/2014/main" id="{11AEC4C8-D7BE-1260-B593-E9916C116447}"/>
            </a:ext>
          </a:extLst>
        </p:cNvPr>
        <p:cNvGrpSpPr/>
        <p:nvPr/>
      </p:nvGrpSpPr>
      <p:grpSpPr>
        <a:xfrm>
          <a:off x="0" y="0"/>
          <a:ext cx="0" cy="0"/>
          <a:chOff x="0" y="0"/>
          <a:chExt cx="0" cy="0"/>
        </a:xfrm>
      </p:grpSpPr>
      <p:sp>
        <p:nvSpPr>
          <p:cNvPr id="250" name="Shape 250">
            <a:extLst>
              <a:ext uri="{FF2B5EF4-FFF2-40B4-BE49-F238E27FC236}">
                <a16:creationId xmlns:a16="http://schemas.microsoft.com/office/drawing/2014/main" id="{E51D3791-05E1-B317-3891-F54C94BD0815}"/>
              </a:ext>
            </a:extLst>
          </p:cNvPr>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46</a:t>
            </a:fld>
            <a:endParaRPr lang="en-US"/>
          </a:p>
        </p:txBody>
      </p:sp>
      <p:sp>
        <p:nvSpPr>
          <p:cNvPr id="251" name="Shape 251">
            <a:extLst>
              <a:ext uri="{FF2B5EF4-FFF2-40B4-BE49-F238E27FC236}">
                <a16:creationId xmlns:a16="http://schemas.microsoft.com/office/drawing/2014/main" id="{26907444-0B65-BBEB-93D2-1199D4D6B647}"/>
              </a:ext>
            </a:extLst>
          </p:cNvPr>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252" name="Shape 252">
            <a:extLst>
              <a:ext uri="{FF2B5EF4-FFF2-40B4-BE49-F238E27FC236}">
                <a16:creationId xmlns:a16="http://schemas.microsoft.com/office/drawing/2014/main" id="{A7DB5B49-EAD9-D1EB-03D4-E76533F0B561}"/>
              </a:ext>
            </a:extLst>
          </p:cNvPr>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Conclusion slide. Use the headline (no more than two lines) to state your most important conclusion. Begin the headline with </a:t>
            </a:r>
            <a:r>
              <a:rPr lang="en-US" sz="1300" i="1">
                <a:solidFill>
                  <a:schemeClr val="dk1"/>
                </a:solidFill>
                <a:latin typeface="Calibri"/>
                <a:ea typeface="Calibri"/>
                <a:cs typeface="Calibri"/>
                <a:sym typeface="Calibri"/>
              </a:rPr>
              <a:t>In summary</a:t>
            </a:r>
            <a:r>
              <a:rPr lang="en-US" sz="1300">
                <a:solidFill>
                  <a:schemeClr val="dk1"/>
                </a:solidFill>
                <a:latin typeface="Calibri"/>
                <a:ea typeface="Calibri"/>
                <a:cs typeface="Calibri"/>
                <a:sym typeface="Calibri"/>
              </a:rPr>
              <a:t> or </a:t>
            </a:r>
            <a:r>
              <a:rPr lang="en-US" sz="1300" i="1">
                <a:solidFill>
                  <a:schemeClr val="dk1"/>
                </a:solidFill>
                <a:latin typeface="Calibri"/>
                <a:ea typeface="Calibri"/>
                <a:cs typeface="Calibri"/>
                <a:sym typeface="Calibri"/>
              </a:rPr>
              <a:t>In conclusion</a:t>
            </a:r>
            <a:r>
              <a:rPr lang="en-US" sz="1300">
                <a:solidFill>
                  <a:schemeClr val="dk1"/>
                </a:solidFill>
                <a:latin typeface="Calibri"/>
                <a:ea typeface="Calibri"/>
                <a:cs typeface="Calibri"/>
                <a:sym typeface="Calibri"/>
              </a:rPr>
              <a:t> to ensure that the audience knows they have come to the presentation’s end. Support that headline with an image and parallel points.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should be your last slide. Audiences lose patience when they believe that they have come to the end, but other slides follow.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Notice that the word </a:t>
            </a:r>
            <a:r>
              <a:rPr lang="en-US" sz="1300" i="1">
                <a:solidFill>
                  <a:schemeClr val="dk1"/>
                </a:solidFill>
                <a:latin typeface="Calibri"/>
                <a:ea typeface="Calibri"/>
                <a:cs typeface="Calibri"/>
                <a:sym typeface="Calibri"/>
              </a:rPr>
              <a:t>Questions</a:t>
            </a:r>
            <a:r>
              <a:rPr lang="en-US" sz="1300">
                <a:solidFill>
                  <a:schemeClr val="dk1"/>
                </a:solidFill>
                <a:latin typeface="Calibri"/>
                <a:ea typeface="Calibri"/>
                <a:cs typeface="Calibri"/>
                <a:sym typeface="Calibri"/>
              </a:rPr>
              <a:t> appears at the bottom of this slide. That strategy is much more effective than burning a slide with just the word </a:t>
            </a:r>
            <a:r>
              <a:rPr lang="en-US" sz="1300" i="1">
                <a:solidFill>
                  <a:schemeClr val="dk1"/>
                </a:solidFill>
                <a:latin typeface="Calibri"/>
                <a:ea typeface="Calibri"/>
                <a:cs typeface="Calibri"/>
                <a:sym typeface="Calibri"/>
              </a:rPr>
              <a:t>Questions</a:t>
            </a:r>
            <a:r>
              <a:rPr lang="en-US" sz="1300">
                <a:solidFill>
                  <a:schemeClr val="dk1"/>
                </a:solidFill>
                <a:latin typeface="Calibri"/>
                <a:ea typeface="Calibri"/>
                <a:cs typeface="Calibri"/>
                <a:sym typeface="Calibri"/>
              </a:rPr>
              <a:t>. This slide allows the audience to look at the most important slide of the presentation during the question period. See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r>
              <a:rPr lang="en-US" sz="1300" i="1">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pages 182-183. </a:t>
            </a:r>
          </a:p>
        </p:txBody>
      </p:sp>
    </p:spTree>
    <p:extLst>
      <p:ext uri="{BB962C8B-B14F-4D97-AF65-F5344CB8AC3E}">
        <p14:creationId xmlns:p14="http://schemas.microsoft.com/office/powerpoint/2010/main" val="306969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Assertion Evidence">
    <p:spTree>
      <p:nvGrpSpPr>
        <p:cNvPr id="1" name="Shape 12"/>
        <p:cNvGrpSpPr/>
        <p:nvPr/>
      </p:nvGrpSpPr>
      <p:grpSpPr>
        <a:xfrm>
          <a:off x="0" y="0"/>
          <a:ext cx="0" cy="0"/>
          <a:chOff x="0" y="0"/>
          <a:chExt cx="0" cy="0"/>
        </a:xfrm>
      </p:grpSpPr>
      <p:sp>
        <p:nvSpPr>
          <p:cNvPr id="5" name="Text Placeholder 4"/>
          <p:cNvSpPr>
            <a:spLocks noGrp="1"/>
          </p:cNvSpPr>
          <p:nvPr>
            <p:ph type="body" sz="quarter" idx="14" hasCustomPrompt="1"/>
          </p:nvPr>
        </p:nvSpPr>
        <p:spPr>
          <a:xfrm>
            <a:off x="695335" y="2052536"/>
            <a:ext cx="2230745" cy="369332"/>
          </a:xfrm>
          <a:prstGeom prst="rect">
            <a:avLst/>
          </a:prstGeom>
        </p:spPr>
        <p:txBody>
          <a:bodyPr wrap="square" lIns="0" tIns="0" rIns="0" bIns="0">
            <a:spAutoFit/>
          </a:bodyPr>
          <a:lstStyle>
            <a:lvl1pPr>
              <a:defRPr sz="2400" b="1">
                <a:latin typeface="Calibri" panose="020F0502020204030204" pitchFamily="34" charset="0"/>
              </a:defRPr>
            </a:lvl1pPr>
          </a:lstStyle>
          <a:p>
            <a:pPr lvl="0"/>
            <a:r>
              <a:rPr lang="en-US" dirty="0">
                <a:latin typeface="Calibri" panose="020F0502020204030204" pitchFamily="34" charset="0"/>
              </a:rPr>
              <a:t>Insert text here</a:t>
            </a:r>
            <a:endParaRPr lang="en-US" dirty="0"/>
          </a:p>
        </p:txBody>
      </p:sp>
      <p:sp>
        <p:nvSpPr>
          <p:cNvPr id="8" name="Title 7"/>
          <p:cNvSpPr>
            <a:spLocks noGrp="1"/>
          </p:cNvSpPr>
          <p:nvPr>
            <p:ph type="title" hasCustomPrompt="1"/>
          </p:nvPr>
        </p:nvSpPr>
        <p:spPr>
          <a:xfrm>
            <a:off x="73152" y="73152"/>
            <a:ext cx="8863030" cy="430887"/>
          </a:xfrm>
          <a:prstGeom prst="rect">
            <a:avLst/>
          </a:prstGeom>
        </p:spPr>
        <p:txBody>
          <a:bodyPr wrap="square" lIns="0" tIns="0" rIns="0" bIns="0">
            <a:spAutoFit/>
          </a:bodyPr>
          <a:lstStyle>
            <a:lvl1pPr>
              <a:defRPr sz="2800" b="1" baseline="0">
                <a:latin typeface="Calibri" panose="020F0502020204030204" pitchFamily="34" charset="0"/>
              </a:defRPr>
            </a:lvl1pPr>
          </a:lstStyle>
          <a:p>
            <a:r>
              <a:rPr lang="en-US" dirty="0"/>
              <a:t>Insert assertion here</a:t>
            </a:r>
          </a:p>
        </p:txBody>
      </p:sp>
      <p:sp>
        <p:nvSpPr>
          <p:cNvPr id="9" name="Slide Number Placeholder 5"/>
          <p:cNvSpPr>
            <a:spLocks noGrp="1"/>
          </p:cNvSpPr>
          <p:nvPr>
            <p:ph type="sldNum" sz="quarter" idx="4"/>
          </p:nvPr>
        </p:nvSpPr>
        <p:spPr>
          <a:xfrm>
            <a:off x="63050" y="4788399"/>
            <a:ext cx="456094" cy="338554"/>
          </a:xfrm>
          <a:prstGeom prst="rect">
            <a:avLst/>
          </a:prstGeom>
        </p:spPr>
        <p:txBody>
          <a:bodyPr vert="horz" lIns="91440" tIns="45720" rIns="91440" bIns="45720" rtlCol="0" anchor="t">
            <a:spAutoFit/>
          </a:bodyPr>
          <a:lstStyle>
            <a:lvl1pPr algn="r">
              <a:defRPr sz="1600">
                <a:solidFill>
                  <a:schemeClr val="tx1">
                    <a:tint val="75000"/>
                  </a:schemeClr>
                </a:solidFill>
                <a:latin typeface="Calibri" panose="020F0502020204030204" pitchFamily="34" charset="0"/>
              </a:defRPr>
            </a:lvl1pPr>
          </a:lstStyle>
          <a:p>
            <a:fld id="{F577E53E-616C-4B80-8F3C-B6584B31683E}" type="slidenum">
              <a:rPr lang="en-US" smtClean="0"/>
              <a:pPr/>
              <a:t>‹Nº›</a:t>
            </a:fld>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2" name="Slide Number Placeholder 5"/>
          <p:cNvSpPr>
            <a:spLocks noGrp="1"/>
          </p:cNvSpPr>
          <p:nvPr>
            <p:ph type="sldNum" sz="quarter" idx="4"/>
          </p:nvPr>
        </p:nvSpPr>
        <p:spPr>
          <a:xfrm>
            <a:off x="63050" y="4788399"/>
            <a:ext cx="456094" cy="338554"/>
          </a:xfrm>
          <a:prstGeom prst="rect">
            <a:avLst/>
          </a:prstGeom>
        </p:spPr>
        <p:txBody>
          <a:bodyPr vert="horz" lIns="91440" tIns="45720" rIns="91440" bIns="45720" rtlCol="0" anchor="t">
            <a:spAutoFit/>
          </a:bodyPr>
          <a:lstStyle>
            <a:lvl1pPr algn="r">
              <a:defRPr sz="1600">
                <a:solidFill>
                  <a:schemeClr val="tx1">
                    <a:tint val="75000"/>
                  </a:schemeClr>
                </a:solidFill>
                <a:latin typeface="Calibri" panose="020F0502020204030204" pitchFamily="34" charset="0"/>
              </a:defRPr>
            </a:lvl1pPr>
          </a:lstStyle>
          <a:p>
            <a:fld id="{F577E53E-616C-4B80-8F3C-B6584B31683E}" type="slidenum">
              <a:rPr lang="en-US" smtClean="0"/>
              <a:pPr/>
              <a:t>‹Nº›</a:t>
            </a:fld>
            <a:endParaRPr lang="en-US" dirty="0"/>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3" name="Shape 23"/>
          <p:cNvSpPr/>
          <p:nvPr/>
        </p:nvSpPr>
        <p:spPr>
          <a:xfrm>
            <a:off x="152400" y="2171700"/>
            <a:ext cx="3352799" cy="1776411"/>
          </a:xfrm>
          <a:prstGeom prst="rect">
            <a:avLst/>
          </a:prstGeom>
          <a:noFill/>
          <a:ln>
            <a:noFill/>
          </a:ln>
        </p:spPr>
        <p:txBody>
          <a:bodyPr lIns="91425" tIns="25400" rIns="91425" bIns="25400" anchor="t" anchorCtr="0">
            <a:noAutofit/>
          </a:bodyPr>
          <a:lstStyle/>
          <a:p>
            <a:pPr>
              <a:buSzPct val="25000"/>
            </a:pPr>
            <a:r>
              <a:rPr lang="en-US" sz="2000" b="1" dirty="0">
                <a:solidFill>
                  <a:srgbClr val="262626"/>
                </a:solidFill>
                <a:latin typeface="Calibri"/>
                <a:ea typeface="Calibri"/>
                <a:cs typeface="Calibri"/>
                <a:sym typeface="Calibri"/>
              </a:rPr>
              <a:t>Miguel Ángel </a:t>
            </a:r>
            <a:endParaRPr lang="es-ES"/>
          </a:p>
          <a:p>
            <a:r>
              <a:rPr lang="en-US" sz="2000" b="1" dirty="0">
                <a:solidFill>
                  <a:srgbClr val="262626"/>
                </a:solidFill>
                <a:latin typeface="Calibri"/>
                <a:ea typeface="Calibri"/>
                <a:cs typeface="Calibri"/>
                <a:sym typeface="Calibri"/>
              </a:rPr>
              <a:t>Donado Fernández</a:t>
            </a:r>
            <a:endParaRPr lang="en-US" dirty="0"/>
          </a:p>
          <a:p>
            <a:r>
              <a:rPr lang="en-US" sz="1600" b="1" dirty="0" err="1">
                <a:solidFill>
                  <a:srgbClr val="262626"/>
                </a:solidFill>
                <a:latin typeface="Calibri"/>
                <a:ea typeface="Calibri"/>
                <a:cs typeface="Calibri"/>
                <a:sym typeface="Calibri"/>
              </a:rPr>
              <a:t>Universitat</a:t>
            </a:r>
            <a:r>
              <a:rPr lang="en-US" sz="1600" b="1" dirty="0">
                <a:solidFill>
                  <a:srgbClr val="262626"/>
                </a:solidFill>
                <a:latin typeface="Calibri"/>
                <a:ea typeface="Calibri"/>
                <a:cs typeface="Calibri"/>
                <a:sym typeface="Calibri"/>
              </a:rPr>
              <a:t> </a:t>
            </a:r>
            <a:r>
              <a:rPr lang="en-US" sz="1600" b="1" dirty="0" err="1">
                <a:solidFill>
                  <a:srgbClr val="262626"/>
                </a:solidFill>
                <a:latin typeface="Calibri"/>
                <a:ea typeface="Calibri"/>
                <a:cs typeface="Calibri"/>
                <a:sym typeface="Calibri"/>
              </a:rPr>
              <a:t>Politècnica</a:t>
            </a:r>
            <a:r>
              <a:rPr lang="en-US" sz="1600" b="1" dirty="0">
                <a:solidFill>
                  <a:srgbClr val="262626"/>
                </a:solidFill>
                <a:latin typeface="Calibri"/>
                <a:ea typeface="Calibri"/>
                <a:cs typeface="Calibri"/>
                <a:sym typeface="Calibri"/>
              </a:rPr>
              <a:t> de Catalunya</a:t>
            </a:r>
            <a:endParaRPr lang="en-US" dirty="0"/>
          </a:p>
          <a:p>
            <a:endParaRPr lang="en-US" sz="1800" b="1" dirty="0">
              <a:solidFill>
                <a:srgbClr val="262626"/>
              </a:solidFill>
              <a:latin typeface="Calibri"/>
              <a:ea typeface="Calibri"/>
              <a:cs typeface="Calibri"/>
              <a:sym typeface="Calibri"/>
            </a:endParaRPr>
          </a:p>
          <a:p>
            <a:r>
              <a:rPr lang="en-US" sz="1600" b="1" dirty="0">
                <a:solidFill>
                  <a:srgbClr val="262626"/>
                </a:solidFill>
                <a:latin typeface="Calibri"/>
                <a:ea typeface="Calibri"/>
                <a:cs typeface="Calibri"/>
                <a:sym typeface="Calibri"/>
              </a:rPr>
              <a:t>07/10/2026</a:t>
            </a:r>
            <a:endParaRPr lang="en-US" sz="1600" dirty="0"/>
          </a:p>
        </p:txBody>
      </p:sp>
      <p:sp>
        <p:nvSpPr>
          <p:cNvPr id="26" name="Shape 26"/>
          <p:cNvSpPr txBox="1"/>
          <p:nvPr/>
        </p:nvSpPr>
        <p:spPr>
          <a:xfrm>
            <a:off x="76200" y="57150"/>
            <a:ext cx="7502399" cy="1107996"/>
          </a:xfrm>
          <a:prstGeom prst="rect">
            <a:avLst/>
          </a:prstGeom>
          <a:noFill/>
          <a:ln>
            <a:noFill/>
          </a:ln>
        </p:spPr>
        <p:txBody>
          <a:bodyPr lIns="0" tIns="0" rIns="0" bIns="0" anchor="t" anchorCtr="0">
            <a:spAutoFit/>
          </a:bodyPr>
          <a:lstStyle/>
          <a:p>
            <a:r>
              <a:rPr lang="en-US" sz="3600" b="1" dirty="0">
                <a:latin typeface="Calibri"/>
                <a:ea typeface="Calibri"/>
                <a:cs typeface="Calibri"/>
              </a:rPr>
              <a:t>TRAFFIC SIMULATION WITH</a:t>
            </a:r>
            <a:endParaRPr lang="es-ES" dirty="0">
              <a:ea typeface="Calibri"/>
            </a:endParaRPr>
          </a:p>
          <a:p>
            <a:r>
              <a:rPr lang="en-US" sz="3600" b="1" dirty="0">
                <a:latin typeface="Calibri"/>
                <a:ea typeface="Calibri"/>
                <a:cs typeface="Calibri"/>
              </a:rPr>
              <a:t>IRRATIONAL DRIVERS</a:t>
            </a:r>
            <a:endParaRPr lang="en-US" sz="3600" b="1" i="0" u="none" strike="noStrike" cap="none" baseline="0" dirty="0">
              <a:solidFill>
                <a:schemeClr val="dk1"/>
              </a:solidFill>
              <a:latin typeface="Calibri"/>
              <a:ea typeface="Calibri"/>
              <a:cs typeface="Calibri"/>
            </a:endParaRPr>
          </a:p>
        </p:txBody>
      </p:sp>
      <p:sp>
        <p:nvSpPr>
          <p:cNvPr id="3" name="TextBox 2"/>
          <p:cNvSpPr txBox="1"/>
          <p:nvPr/>
        </p:nvSpPr>
        <p:spPr>
          <a:xfrm>
            <a:off x="1600200" y="1589314"/>
            <a:ext cx="184731" cy="400110"/>
          </a:xfrm>
          <a:prstGeom prst="rect">
            <a:avLst/>
          </a:prstGeom>
          <a:noFill/>
        </p:spPr>
        <p:txBody>
          <a:bodyPr wrap="none" rtlCol="0">
            <a:spAutoFit/>
          </a:bodyPr>
          <a:lstStyle/>
          <a:p>
            <a:endParaRPr lang="en-US" sz="2000" b="1" dirty="0">
              <a:latin typeface="Calibri" panose="020F0502020204030204" pitchFamily="34" charset="0"/>
            </a:endParaRPr>
          </a:p>
        </p:txBody>
      </p:sp>
      <p:pic>
        <p:nvPicPr>
          <p:cNvPr id="2" name="Imagen 1" descr="UPC-CEI-positiu-p3005-interior-blanc.png">
            <a:extLst>
              <a:ext uri="{FF2B5EF4-FFF2-40B4-BE49-F238E27FC236}">
                <a16:creationId xmlns:a16="http://schemas.microsoft.com/office/drawing/2014/main" id="{A3ED9325-AC68-DC85-2532-271544B1B297}"/>
              </a:ext>
            </a:extLst>
          </p:cNvPr>
          <p:cNvPicPr>
            <a:picLocks noChangeAspect="1"/>
          </p:cNvPicPr>
          <p:nvPr/>
        </p:nvPicPr>
        <p:blipFill>
          <a:blip r:embed="rId3"/>
          <a:srcRect b="24837"/>
          <a:stretch>
            <a:fillRect/>
          </a:stretch>
        </p:blipFill>
        <p:spPr>
          <a:xfrm>
            <a:off x="0" y="4312444"/>
            <a:ext cx="3257550" cy="830481"/>
          </a:xfrm>
          <a:prstGeom prst="rect">
            <a:avLst/>
          </a:prstGeom>
        </p:spPr>
      </p:pic>
      <p:pic>
        <p:nvPicPr>
          <p:cNvPr id="5" name="Imagen 4">
            <a:extLst>
              <a:ext uri="{FF2B5EF4-FFF2-40B4-BE49-F238E27FC236}">
                <a16:creationId xmlns:a16="http://schemas.microsoft.com/office/drawing/2014/main" id="{799DB78A-9E5E-5D36-0BBB-428302151E53}"/>
              </a:ext>
            </a:extLst>
          </p:cNvPr>
          <p:cNvPicPr>
            <a:picLocks noChangeAspect="1"/>
          </p:cNvPicPr>
          <p:nvPr/>
        </p:nvPicPr>
        <p:blipFill>
          <a:blip r:embed="rId4"/>
          <a:stretch>
            <a:fillRect/>
          </a:stretch>
        </p:blipFill>
        <p:spPr>
          <a:xfrm>
            <a:off x="4322038" y="1171575"/>
            <a:ext cx="4171812" cy="3557587"/>
          </a:xfrm>
          <a:prstGeom prst="rect">
            <a:avLst/>
          </a:prstGeom>
        </p:spPr>
      </p:pic>
      <p:sp>
        <p:nvSpPr>
          <p:cNvPr id="4" name="Marcador de número de diapositiva 3">
            <a:extLst>
              <a:ext uri="{FF2B5EF4-FFF2-40B4-BE49-F238E27FC236}">
                <a16:creationId xmlns:a16="http://schemas.microsoft.com/office/drawing/2014/main" id="{62A80758-4245-140C-4A05-4300A76641C3}"/>
              </a:ext>
            </a:extLst>
          </p:cNvPr>
          <p:cNvSpPr>
            <a:spLocks noGrp="1"/>
          </p:cNvSpPr>
          <p:nvPr>
            <p:ph type="sldNum" sz="quarter" idx="4"/>
          </p:nvPr>
        </p:nvSpPr>
        <p:spPr/>
        <p:txBody>
          <a:bodyPr/>
          <a:lstStyle/>
          <a:p>
            <a:fld id="{F577E53E-616C-4B80-8F3C-B6584B31683E}" type="slidenum">
              <a:rPr lang="en-US" smtClean="0"/>
              <a:pPr/>
              <a:t>1</a:t>
            </a:fld>
            <a:endParaRPr lang="es-ES"/>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A9D086B-D30F-9730-4E8D-3DE1F168DEE2}"/>
              </a:ext>
            </a:extLst>
          </p:cNvPr>
          <p:cNvSpPr>
            <a:spLocks noGrp="1"/>
          </p:cNvSpPr>
          <p:nvPr>
            <p:ph type="body" sz="quarter" idx="14"/>
          </p:nvPr>
        </p:nvSpPr>
        <p:spPr>
          <a:xfrm>
            <a:off x="223847" y="1016692"/>
            <a:ext cx="8160056" cy="3323987"/>
          </a:xfrm>
        </p:spPr>
        <p:txBody>
          <a:bodyPr wrap="square" lIns="0" tIns="0" rIns="0" bIns="0" anchor="t">
            <a:spAutoFit/>
          </a:bodyPr>
          <a:lstStyle/>
          <a:p>
            <a:pPr marL="457200" indent="-457200">
              <a:buAutoNum type="arabicPeriod"/>
            </a:pPr>
            <a:r>
              <a:rPr lang="es-ES" dirty="0">
                <a:latin typeface="Calibri"/>
              </a:rPr>
              <a:t>Introduction</a:t>
            </a:r>
          </a:p>
          <a:p>
            <a:pPr marL="457200" indent="-457200">
              <a:buAutoNum type="arabicPeriod"/>
            </a:pPr>
            <a:r>
              <a:rPr lang="es-ES" dirty="0">
                <a:latin typeface="Calibri"/>
              </a:rPr>
              <a:t>State of the art</a:t>
            </a:r>
            <a:endParaRPr lang="es-ES" dirty="0"/>
          </a:p>
          <a:p>
            <a:pPr marL="457200" indent="-457200">
              <a:buAutoNum type="arabicPeriod"/>
            </a:pPr>
            <a:r>
              <a:rPr lang="es-ES" dirty="0">
                <a:latin typeface="Calibri"/>
              </a:rPr>
              <a:t>Thesis objectives</a:t>
            </a:r>
            <a:endParaRPr lang="es-ES" dirty="0"/>
          </a:p>
          <a:p>
            <a:pPr marL="457200" indent="-457200">
              <a:buAutoNum type="arabicPeriod"/>
            </a:pPr>
            <a:r>
              <a:rPr lang="es-ES" dirty="0">
                <a:latin typeface="Calibri"/>
              </a:rPr>
              <a:t>Methods</a:t>
            </a:r>
            <a:endParaRPr lang="es-ES" dirty="0"/>
          </a:p>
          <a:p>
            <a:pPr marL="457200" indent="-457200">
              <a:buAutoNum type="arabicPeriod"/>
            </a:pPr>
            <a:r>
              <a:rPr lang="es-ES" dirty="0">
                <a:latin typeface="Calibri"/>
              </a:rPr>
              <a:t>Experiment and results</a:t>
            </a:r>
            <a:endParaRPr lang="es-ES" dirty="0"/>
          </a:p>
          <a:p>
            <a:pPr marL="457200" indent="-457200">
              <a:buAutoNum type="arabicPeriod"/>
            </a:pPr>
            <a:r>
              <a:rPr lang="es-ES" dirty="0" err="1">
                <a:latin typeface="Calibri"/>
              </a:rPr>
              <a:t>Conclusions</a:t>
            </a:r>
            <a:endParaRPr lang="es-ES" dirty="0" err="1"/>
          </a:p>
          <a:p>
            <a:pPr marL="457200" indent="-457200">
              <a:buAutoNum type="arabicPeriod"/>
            </a:pPr>
            <a:r>
              <a:rPr lang="es-ES" dirty="0">
                <a:latin typeface="Calibri"/>
              </a:rPr>
              <a:t>Future </a:t>
            </a:r>
            <a:r>
              <a:rPr lang="es-ES" dirty="0" err="1">
                <a:latin typeface="Calibri"/>
              </a:rPr>
              <a:t>work</a:t>
            </a:r>
            <a:endParaRPr lang="es-ES" dirty="0" err="1"/>
          </a:p>
          <a:p>
            <a:pPr marL="457200" indent="-457200">
              <a:buAutoNum type="arabicPeriod"/>
            </a:pPr>
            <a:endParaRPr lang="es-ES" dirty="0"/>
          </a:p>
          <a:p>
            <a:pPr marL="457200" indent="-457200">
              <a:buAutoNum type="arabicPeriod"/>
            </a:pPr>
            <a:endParaRPr lang="es-ES" dirty="0"/>
          </a:p>
        </p:txBody>
      </p:sp>
      <p:sp>
        <p:nvSpPr>
          <p:cNvPr id="3" name="Título 2">
            <a:extLst>
              <a:ext uri="{FF2B5EF4-FFF2-40B4-BE49-F238E27FC236}">
                <a16:creationId xmlns:a16="http://schemas.microsoft.com/office/drawing/2014/main" id="{1E393AD0-390E-87ED-6DDD-2C11EC307F8E}"/>
              </a:ext>
            </a:extLst>
          </p:cNvPr>
          <p:cNvSpPr>
            <a:spLocks noGrp="1"/>
          </p:cNvSpPr>
          <p:nvPr>
            <p:ph type="title"/>
          </p:nvPr>
        </p:nvSpPr>
        <p:spPr/>
        <p:txBody>
          <a:bodyPr wrap="square" lIns="0" tIns="0" rIns="0" bIns="0" anchor="t">
            <a:spAutoFit/>
          </a:bodyPr>
          <a:lstStyle/>
          <a:p>
            <a:r>
              <a:rPr lang="es-ES" dirty="0" err="1">
                <a:latin typeface="Calibri"/>
              </a:rPr>
              <a:t>Presentation</a:t>
            </a:r>
            <a:r>
              <a:rPr lang="es-ES" dirty="0">
                <a:latin typeface="Calibri"/>
              </a:rPr>
              <a:t> </a:t>
            </a:r>
            <a:r>
              <a:rPr lang="es-ES" dirty="0" err="1">
                <a:latin typeface="Calibri"/>
              </a:rPr>
              <a:t>outline</a:t>
            </a:r>
            <a:endParaRPr lang="es-ES" dirty="0"/>
          </a:p>
        </p:txBody>
      </p:sp>
      <p:sp>
        <p:nvSpPr>
          <p:cNvPr id="4" name="Marcador de número de diapositiva 3">
            <a:extLst>
              <a:ext uri="{FF2B5EF4-FFF2-40B4-BE49-F238E27FC236}">
                <a16:creationId xmlns:a16="http://schemas.microsoft.com/office/drawing/2014/main" id="{A40DD3DC-EA1E-F0E6-D4FE-B1C5CBE24892}"/>
              </a:ext>
            </a:extLst>
          </p:cNvPr>
          <p:cNvSpPr>
            <a:spLocks noGrp="1"/>
          </p:cNvSpPr>
          <p:nvPr>
            <p:ph type="sldNum" sz="quarter" idx="4"/>
          </p:nvPr>
        </p:nvSpPr>
        <p:spPr/>
        <p:txBody>
          <a:bodyPr/>
          <a:lstStyle/>
          <a:p>
            <a:fld id="{F577E53E-616C-4B80-8F3C-B6584B31683E}" type="slidenum">
              <a:rPr lang="en-US" smtClean="0"/>
              <a:pPr/>
              <a:t>2</a:t>
            </a:fld>
            <a:endParaRPr lang="es-ES"/>
          </a:p>
        </p:txBody>
      </p:sp>
    </p:spTree>
    <p:extLst>
      <p:ext uri="{BB962C8B-B14F-4D97-AF65-F5344CB8AC3E}">
        <p14:creationId xmlns:p14="http://schemas.microsoft.com/office/powerpoint/2010/main" val="2163292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A29FB-147D-DE9B-BC9B-3798A0AA413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30F37B22-F80A-C0E5-8094-A0349316DFC0}"/>
              </a:ext>
            </a:extLst>
          </p:cNvPr>
          <p:cNvSpPr>
            <a:spLocks noGrp="1"/>
          </p:cNvSpPr>
          <p:nvPr>
            <p:ph type="body" sz="quarter" idx="14"/>
          </p:nvPr>
        </p:nvSpPr>
        <p:spPr>
          <a:xfrm>
            <a:off x="223847" y="1016692"/>
            <a:ext cx="8160056" cy="1107996"/>
          </a:xfrm>
        </p:spPr>
        <p:txBody>
          <a:bodyPr wrap="square" lIns="0" tIns="0" rIns="0" bIns="0" anchor="t">
            <a:spAutoFit/>
          </a:bodyPr>
          <a:lstStyle/>
          <a:p>
            <a:pPr marL="457200" indent="-457200">
              <a:buAutoNum type="arabicPeriod"/>
            </a:pPr>
            <a:r>
              <a:rPr lang="es-ES" dirty="0" err="1">
                <a:latin typeface="Calibri"/>
              </a:rPr>
              <a:t>Introduction</a:t>
            </a:r>
            <a:endParaRPr lang="es-ES">
              <a:latin typeface="Calibri"/>
            </a:endParaRPr>
          </a:p>
          <a:p>
            <a:pPr marL="457200" indent="-457200">
              <a:buAutoNum type="arabicPeriod"/>
            </a:pPr>
            <a:endParaRPr lang="es-ES" dirty="0"/>
          </a:p>
          <a:p>
            <a:pPr marL="457200" indent="-457200">
              <a:buAutoNum type="arabicPeriod"/>
            </a:pPr>
            <a:endParaRPr lang="es-ES" dirty="0"/>
          </a:p>
        </p:txBody>
      </p:sp>
      <p:sp>
        <p:nvSpPr>
          <p:cNvPr id="11" name="Título 2">
            <a:extLst>
              <a:ext uri="{FF2B5EF4-FFF2-40B4-BE49-F238E27FC236}">
                <a16:creationId xmlns:a16="http://schemas.microsoft.com/office/drawing/2014/main" id="{42D3191A-FC7E-8A82-AE50-2220AAA81222}"/>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E9A09A12-68CC-0DE7-9883-9D6F5A89FE01}"/>
              </a:ext>
            </a:extLst>
          </p:cNvPr>
          <p:cNvSpPr>
            <a:spLocks noGrp="1"/>
          </p:cNvSpPr>
          <p:nvPr>
            <p:ph type="sldNum" sz="quarter" idx="4"/>
          </p:nvPr>
        </p:nvSpPr>
        <p:spPr/>
        <p:txBody>
          <a:bodyPr/>
          <a:lstStyle/>
          <a:p>
            <a:fld id="{F577E53E-616C-4B80-8F3C-B6584B31683E}" type="slidenum">
              <a:rPr lang="en-US" smtClean="0"/>
              <a:pPr/>
              <a:t>3</a:t>
            </a:fld>
            <a:endParaRPr lang="es-ES"/>
          </a:p>
        </p:txBody>
      </p:sp>
    </p:spTree>
    <p:extLst>
      <p:ext uri="{BB962C8B-B14F-4D97-AF65-F5344CB8AC3E}">
        <p14:creationId xmlns:p14="http://schemas.microsoft.com/office/powerpoint/2010/main" val="14031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E06A63E7-8C81-E6BA-036E-AAC5425312F2}"/>
            </a:ext>
          </a:extLst>
        </p:cNvPr>
        <p:cNvGrpSpPr/>
        <p:nvPr/>
      </p:nvGrpSpPr>
      <p:grpSpPr>
        <a:xfrm>
          <a:off x="0" y="0"/>
          <a:ext cx="0" cy="0"/>
          <a:chOff x="0" y="0"/>
          <a:chExt cx="0" cy="0"/>
        </a:xfrm>
      </p:grpSpPr>
      <p:sp>
        <p:nvSpPr>
          <p:cNvPr id="59" name="Shape 59">
            <a:extLst>
              <a:ext uri="{FF2B5EF4-FFF2-40B4-BE49-F238E27FC236}">
                <a16:creationId xmlns:a16="http://schemas.microsoft.com/office/drawing/2014/main" id="{E4D01DF6-87FE-C773-1212-D3182F23CF24}"/>
              </a:ext>
            </a:extLst>
          </p:cNvPr>
          <p:cNvSpPr txBox="1"/>
          <p:nvPr/>
        </p:nvSpPr>
        <p:spPr>
          <a:xfrm>
            <a:off x="228600" y="114300"/>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60" name="Shape 60">
            <a:extLst>
              <a:ext uri="{FF2B5EF4-FFF2-40B4-BE49-F238E27FC236}">
                <a16:creationId xmlns:a16="http://schemas.microsoft.com/office/drawing/2014/main" id="{EC7720C7-D0DC-0717-8617-F7EC2AB5F2CA}"/>
              </a:ext>
            </a:extLst>
          </p:cNvPr>
          <p:cNvSpPr txBox="1"/>
          <p:nvPr/>
        </p:nvSpPr>
        <p:spPr>
          <a:xfrm>
            <a:off x="76200" y="57150"/>
            <a:ext cx="9017100" cy="430887"/>
          </a:xfrm>
          <a:prstGeom prst="rect">
            <a:avLst/>
          </a:prstGeom>
          <a:noFill/>
          <a:ln>
            <a:noFill/>
          </a:ln>
        </p:spPr>
        <p:txBody>
          <a:bodyPr lIns="0" tIns="0" rIns="0" bIns="0" anchor="t" anchorCtr="0">
            <a:spAutoFit/>
          </a:bodyPr>
          <a:lstStyle>
            <a:defPPr marR="0" algn="l" rtl="0">
              <a:lnSpc>
                <a:spcPct val="100000"/>
              </a:lnSpc>
              <a:spcBef>
                <a:spcPts val="0"/>
              </a:spcBef>
              <a:spcAft>
                <a:spcPts val="0"/>
              </a:spcAft>
            </a:defPPr>
            <a:lvl1pPr marL="0" lvl="0" indent="0">
              <a:buSzPct val="25000"/>
              <a:defRPr sz="3200" b="1">
                <a:latin typeface="Calibri"/>
                <a:ea typeface="Calibri"/>
                <a:cs typeface="Calibri"/>
              </a:defRPr>
            </a:lvl1pPr>
          </a:lstStyle>
          <a:p>
            <a:r>
              <a:rPr lang="en-US" sz="2800" dirty="0">
                <a:sym typeface="Calibri"/>
              </a:rPr>
              <a:t>Traffic congestion has negative consequences</a:t>
            </a:r>
            <a:endParaRPr lang="es-ES" dirty="0"/>
          </a:p>
        </p:txBody>
      </p:sp>
      <p:sp>
        <p:nvSpPr>
          <p:cNvPr id="62" name="Shape 62">
            <a:extLst>
              <a:ext uri="{FF2B5EF4-FFF2-40B4-BE49-F238E27FC236}">
                <a16:creationId xmlns:a16="http://schemas.microsoft.com/office/drawing/2014/main" id="{72FA19F7-A9A1-8C8C-A1A6-8E2512DAB64E}"/>
              </a:ext>
            </a:extLst>
          </p:cNvPr>
          <p:cNvSpPr txBox="1"/>
          <p:nvPr/>
        </p:nvSpPr>
        <p:spPr>
          <a:xfrm>
            <a:off x="3071772" y="4630732"/>
            <a:ext cx="2887624" cy="341318"/>
          </a:xfrm>
          <a:prstGeom prst="rect">
            <a:avLst/>
          </a:prstGeom>
          <a:noFill/>
          <a:ln>
            <a:noFill/>
          </a:ln>
        </p:spPr>
        <p:txBody>
          <a:bodyPr lIns="91425" tIns="45700" rIns="91425" bIns="45700" anchor="t" anchorCtr="0">
            <a:noAutofit/>
          </a:bodyPr>
          <a:lstStyle/>
          <a:p>
            <a:r>
              <a:rPr lang="en-US" sz="1800" b="1" dirty="0">
                <a:solidFill>
                  <a:srgbClr val="111111"/>
                </a:solidFill>
                <a:latin typeface="Calibri"/>
                <a:ea typeface="Calibri"/>
                <a:cs typeface="Calibri"/>
                <a:sym typeface="Calibri"/>
              </a:rPr>
              <a:t>Increased fuel consumption</a:t>
            </a:r>
            <a:endParaRPr lang="es-ES" dirty="0"/>
          </a:p>
        </p:txBody>
      </p:sp>
      <p:sp>
        <p:nvSpPr>
          <p:cNvPr id="65" name="Shape 65">
            <a:extLst>
              <a:ext uri="{FF2B5EF4-FFF2-40B4-BE49-F238E27FC236}">
                <a16:creationId xmlns:a16="http://schemas.microsoft.com/office/drawing/2014/main" id="{F7E2F511-F515-E293-6C10-41D44EBF5FBD}"/>
              </a:ext>
            </a:extLst>
          </p:cNvPr>
          <p:cNvSpPr txBox="1"/>
          <p:nvPr/>
        </p:nvSpPr>
        <p:spPr>
          <a:xfrm>
            <a:off x="5334000" y="2681360"/>
            <a:ext cx="3606800" cy="277083"/>
          </a:xfrm>
          <a:prstGeom prst="rect">
            <a:avLst/>
          </a:prstGeom>
          <a:noFill/>
          <a:ln>
            <a:noFill/>
          </a:ln>
        </p:spPr>
        <p:txBody>
          <a:bodyPr lIns="91425" tIns="45700" rIns="91425" bIns="45700" anchor="t" anchorCtr="0">
            <a:noAutofit/>
          </a:bodyPr>
          <a:lstStyle/>
          <a:p>
            <a:pPr algn="ctr"/>
            <a:r>
              <a:rPr lang="en-US" sz="1800" b="1" dirty="0">
                <a:solidFill>
                  <a:srgbClr val="111111"/>
                </a:solidFill>
                <a:latin typeface="Calibri"/>
                <a:ea typeface="Calibri"/>
                <a:cs typeface="Calibri"/>
                <a:sym typeface="Calibri"/>
              </a:rPr>
              <a:t>Additional travel times</a:t>
            </a:r>
            <a:endParaRPr lang="es-ES" dirty="0"/>
          </a:p>
        </p:txBody>
      </p:sp>
      <p:sp>
        <p:nvSpPr>
          <p:cNvPr id="68" name="Shape 68">
            <a:extLst>
              <a:ext uri="{FF2B5EF4-FFF2-40B4-BE49-F238E27FC236}">
                <a16:creationId xmlns:a16="http://schemas.microsoft.com/office/drawing/2014/main" id="{AF719741-2E36-697D-CB34-9CDAA70F1FA3}"/>
              </a:ext>
            </a:extLst>
          </p:cNvPr>
          <p:cNvSpPr txBox="1"/>
          <p:nvPr/>
        </p:nvSpPr>
        <p:spPr>
          <a:xfrm>
            <a:off x="0" y="2738296"/>
            <a:ext cx="3525838" cy="276962"/>
          </a:xfrm>
          <a:prstGeom prst="rect">
            <a:avLst/>
          </a:prstGeom>
          <a:noFill/>
          <a:ln>
            <a:noFill/>
          </a:ln>
        </p:spPr>
        <p:txBody>
          <a:bodyPr lIns="91425" tIns="45700" rIns="91425" bIns="45700" anchor="t" anchorCtr="0">
            <a:noAutofit/>
          </a:bodyPr>
          <a:lstStyle/>
          <a:p>
            <a:pPr marL="0" marR="0" lvl="0" indent="0" algn="ctr">
              <a:spcBef>
                <a:spcPts val="0"/>
              </a:spcBef>
              <a:buNone/>
            </a:pPr>
            <a:r>
              <a:rPr lang="en-US" sz="1800" b="1" dirty="0">
                <a:solidFill>
                  <a:srgbClr val="111111"/>
                </a:solidFill>
                <a:latin typeface="Calibri"/>
                <a:ea typeface="Calibri"/>
                <a:cs typeface="Calibri"/>
                <a:sym typeface="Calibri"/>
              </a:rPr>
              <a:t>Pollution</a:t>
            </a:r>
            <a:endParaRPr lang="es-ES" dirty="0"/>
          </a:p>
        </p:txBody>
      </p:sp>
      <p:pic>
        <p:nvPicPr>
          <p:cNvPr id="2" name="Imagen 1">
            <a:extLst>
              <a:ext uri="{FF2B5EF4-FFF2-40B4-BE49-F238E27FC236}">
                <a16:creationId xmlns:a16="http://schemas.microsoft.com/office/drawing/2014/main" id="{5A03E1D1-1E42-1CD3-1062-58F5DFB0987D}"/>
              </a:ext>
            </a:extLst>
          </p:cNvPr>
          <p:cNvPicPr>
            <a:picLocks noChangeAspect="1"/>
          </p:cNvPicPr>
          <p:nvPr/>
        </p:nvPicPr>
        <p:blipFill>
          <a:blip r:embed="rId3"/>
          <a:srcRect l="21756" r="377" b="-3097"/>
          <a:stretch>
            <a:fillRect/>
          </a:stretch>
        </p:blipFill>
        <p:spPr>
          <a:xfrm>
            <a:off x="457269" y="1220888"/>
            <a:ext cx="2617939" cy="1516989"/>
          </a:xfrm>
          <a:prstGeom prst="rect">
            <a:avLst/>
          </a:prstGeom>
        </p:spPr>
      </p:pic>
      <p:pic>
        <p:nvPicPr>
          <p:cNvPr id="3" name="Imagen 2">
            <a:extLst>
              <a:ext uri="{FF2B5EF4-FFF2-40B4-BE49-F238E27FC236}">
                <a16:creationId xmlns:a16="http://schemas.microsoft.com/office/drawing/2014/main" id="{E85121B0-70F4-3114-0B4B-D5BEC96F639E}"/>
              </a:ext>
            </a:extLst>
          </p:cNvPr>
          <p:cNvPicPr>
            <a:picLocks noChangeAspect="1"/>
          </p:cNvPicPr>
          <p:nvPr/>
        </p:nvPicPr>
        <p:blipFill>
          <a:blip r:embed="rId4"/>
          <a:stretch>
            <a:fillRect/>
          </a:stretch>
        </p:blipFill>
        <p:spPr>
          <a:xfrm>
            <a:off x="5829299" y="1221581"/>
            <a:ext cx="2614614" cy="1457326"/>
          </a:xfrm>
          <a:prstGeom prst="rect">
            <a:avLst/>
          </a:prstGeom>
        </p:spPr>
      </p:pic>
      <p:pic>
        <p:nvPicPr>
          <p:cNvPr id="4" name="Imagen 3">
            <a:extLst>
              <a:ext uri="{FF2B5EF4-FFF2-40B4-BE49-F238E27FC236}">
                <a16:creationId xmlns:a16="http://schemas.microsoft.com/office/drawing/2014/main" id="{EA46540E-AE36-F616-B174-CDCD0FBAE5BD}"/>
              </a:ext>
            </a:extLst>
          </p:cNvPr>
          <p:cNvPicPr>
            <a:picLocks noChangeAspect="1"/>
          </p:cNvPicPr>
          <p:nvPr/>
        </p:nvPicPr>
        <p:blipFill>
          <a:blip r:embed="rId5"/>
          <a:stretch>
            <a:fillRect/>
          </a:stretch>
        </p:blipFill>
        <p:spPr>
          <a:xfrm>
            <a:off x="3148012" y="3069431"/>
            <a:ext cx="2619375" cy="1462088"/>
          </a:xfrm>
          <a:prstGeom prst="rect">
            <a:avLst/>
          </a:prstGeom>
        </p:spPr>
      </p:pic>
      <p:sp>
        <p:nvSpPr>
          <p:cNvPr id="5" name="Marcador de número de diapositiva 4">
            <a:extLst>
              <a:ext uri="{FF2B5EF4-FFF2-40B4-BE49-F238E27FC236}">
                <a16:creationId xmlns:a16="http://schemas.microsoft.com/office/drawing/2014/main" id="{DCB72031-C040-32B4-A80D-9DF0A4A5AD48}"/>
              </a:ext>
            </a:extLst>
          </p:cNvPr>
          <p:cNvSpPr>
            <a:spLocks noGrp="1"/>
          </p:cNvSpPr>
          <p:nvPr>
            <p:ph type="sldNum" sz="quarter" idx="4"/>
          </p:nvPr>
        </p:nvSpPr>
        <p:spPr/>
        <p:txBody>
          <a:bodyPr/>
          <a:lstStyle/>
          <a:p>
            <a:fld id="{F577E53E-616C-4B80-8F3C-B6584B31683E}" type="slidenum">
              <a:rPr lang="en-US" smtClean="0"/>
              <a:pPr/>
              <a:t>4</a:t>
            </a:fld>
            <a:endParaRPr lang="es-ES"/>
          </a:p>
        </p:txBody>
      </p:sp>
    </p:spTree>
    <p:extLst>
      <p:ext uri="{BB962C8B-B14F-4D97-AF65-F5344CB8AC3E}">
        <p14:creationId xmlns:p14="http://schemas.microsoft.com/office/powerpoint/2010/main" val="848106673"/>
      </p:ext>
    </p:extLst>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43893ED9-5F6B-7EFE-0E19-599B149FF15E}"/>
            </a:ext>
          </a:extLst>
        </p:cNvPr>
        <p:cNvGrpSpPr/>
        <p:nvPr/>
      </p:nvGrpSpPr>
      <p:grpSpPr>
        <a:xfrm>
          <a:off x="0" y="0"/>
          <a:ext cx="0" cy="0"/>
          <a:chOff x="0" y="0"/>
          <a:chExt cx="0" cy="0"/>
        </a:xfrm>
      </p:grpSpPr>
      <p:sp>
        <p:nvSpPr>
          <p:cNvPr id="84" name="Shape 84">
            <a:extLst>
              <a:ext uri="{FF2B5EF4-FFF2-40B4-BE49-F238E27FC236}">
                <a16:creationId xmlns:a16="http://schemas.microsoft.com/office/drawing/2014/main" id="{79195E4F-5E27-3715-2B22-9ADFE2F2E8E8}"/>
              </a:ext>
            </a:extLst>
          </p:cNvPr>
          <p:cNvSpPr/>
          <p:nvPr/>
        </p:nvSpPr>
        <p:spPr>
          <a:xfrm>
            <a:off x="152400" y="4100512"/>
            <a:ext cx="8001000" cy="592800"/>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endParaRPr lang="en-US" sz="2400" b="0" i="0" u="none" strike="noStrike" cap="none" baseline="0" dirty="0">
              <a:solidFill>
                <a:srgbClr val="262626"/>
              </a:solidFill>
              <a:latin typeface="Calibri"/>
              <a:ea typeface="Calibri"/>
              <a:cs typeface="Calibri"/>
            </a:endParaRPr>
          </a:p>
        </p:txBody>
      </p:sp>
      <p:sp>
        <p:nvSpPr>
          <p:cNvPr id="86" name="Shape 86">
            <a:extLst>
              <a:ext uri="{FF2B5EF4-FFF2-40B4-BE49-F238E27FC236}">
                <a16:creationId xmlns:a16="http://schemas.microsoft.com/office/drawing/2014/main" id="{EAC46A90-6FAF-A5DE-D7A6-5BAC20C107C8}"/>
              </a:ext>
            </a:extLst>
          </p:cNvPr>
          <p:cNvSpPr txBox="1"/>
          <p:nvPr/>
        </p:nvSpPr>
        <p:spPr>
          <a:xfrm>
            <a:off x="288925" y="45243"/>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87" name="Shape 87">
            <a:extLst>
              <a:ext uri="{FF2B5EF4-FFF2-40B4-BE49-F238E27FC236}">
                <a16:creationId xmlns:a16="http://schemas.microsoft.com/office/drawing/2014/main" id="{417ED105-A67D-7A6D-9AF9-D120F3600F48}"/>
              </a:ext>
            </a:extLst>
          </p:cNvPr>
          <p:cNvSpPr txBox="1"/>
          <p:nvPr/>
        </p:nvSpPr>
        <p:spPr>
          <a:xfrm>
            <a:off x="76200" y="57150"/>
            <a:ext cx="8997900" cy="861774"/>
          </a:xfrm>
          <a:prstGeom prst="rect">
            <a:avLst/>
          </a:prstGeom>
          <a:noFill/>
          <a:ln>
            <a:noFill/>
          </a:ln>
        </p:spPr>
        <p:txBody>
          <a:bodyPr lIns="0" tIns="0" rIns="0" bIns="0" anchor="t" anchorCtr="0">
            <a:spAutoFit/>
          </a:bodyPr>
          <a:lstStyle/>
          <a:p>
            <a:r>
              <a:rPr lang="en-US" sz="2800" b="1" dirty="0">
                <a:latin typeface="Calibri"/>
                <a:ea typeface="Calibri"/>
                <a:cs typeface="Calibri"/>
                <a:sym typeface="Calibri"/>
              </a:rPr>
              <a:t>Transportation planning becomes essential for addressing traffic congestion</a:t>
            </a:r>
            <a:endParaRPr lang="es-ES" dirty="0"/>
          </a:p>
        </p:txBody>
      </p:sp>
      <p:sp>
        <p:nvSpPr>
          <p:cNvPr id="5" name="CuadroTexto 4">
            <a:extLst>
              <a:ext uri="{FF2B5EF4-FFF2-40B4-BE49-F238E27FC236}">
                <a16:creationId xmlns:a16="http://schemas.microsoft.com/office/drawing/2014/main" id="{B842A07F-9B49-8767-0BEB-80213551049D}"/>
              </a:ext>
            </a:extLst>
          </p:cNvPr>
          <p:cNvSpPr txBox="1"/>
          <p:nvPr/>
        </p:nvSpPr>
        <p:spPr>
          <a:xfrm>
            <a:off x="740631" y="4521414"/>
            <a:ext cx="543726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100" i="1" dirty="0">
                <a:solidFill>
                  <a:schemeClr val="tx1"/>
                </a:solidFill>
                <a:latin typeface="Calibri"/>
                <a:ea typeface="Calibri"/>
                <a:cs typeface="Calibri"/>
              </a:rPr>
              <a:t>Source: </a:t>
            </a:r>
            <a:r>
              <a:rPr lang="es-ES" sz="1100" i="1" dirty="0" err="1">
                <a:solidFill>
                  <a:schemeClr val="tx1"/>
                </a:solidFill>
                <a:latin typeface="Calibri"/>
                <a:ea typeface="Calibri"/>
                <a:cs typeface="Calibri"/>
              </a:rPr>
              <a:t>Adapted</a:t>
            </a:r>
            <a:r>
              <a:rPr lang="es-ES" sz="1100" i="1" dirty="0">
                <a:solidFill>
                  <a:schemeClr val="tx1"/>
                </a:solidFill>
                <a:latin typeface="Calibri"/>
                <a:ea typeface="Calibri"/>
                <a:cs typeface="Calibri"/>
              </a:rPr>
              <a:t> </a:t>
            </a:r>
            <a:r>
              <a:rPr lang="es-ES" sz="1100" i="1" dirty="0" err="1">
                <a:solidFill>
                  <a:schemeClr val="tx1"/>
                </a:solidFill>
                <a:latin typeface="Calibri"/>
                <a:ea typeface="Calibri"/>
                <a:cs typeface="Calibri"/>
              </a:rPr>
              <a:t>from</a:t>
            </a:r>
            <a:r>
              <a:rPr lang="es-ES" sz="1100" i="1" dirty="0">
                <a:solidFill>
                  <a:schemeClr val="tx1"/>
                </a:solidFill>
                <a:latin typeface="Calibri"/>
                <a:ea typeface="Calibri"/>
                <a:cs typeface="Calibri"/>
              </a:rPr>
              <a:t> Boyles et al. [8]</a:t>
            </a:r>
            <a:endParaRPr lang="es-ES" dirty="0">
              <a:solidFill>
                <a:schemeClr val="tx1"/>
              </a:solidFill>
              <a:latin typeface="Calibri"/>
              <a:ea typeface="Calibri"/>
              <a:cs typeface="Calibri"/>
            </a:endParaRPr>
          </a:p>
        </p:txBody>
      </p:sp>
      <p:sp>
        <p:nvSpPr>
          <p:cNvPr id="3" name="Marcador de número de diapositiva 2">
            <a:extLst>
              <a:ext uri="{FF2B5EF4-FFF2-40B4-BE49-F238E27FC236}">
                <a16:creationId xmlns:a16="http://schemas.microsoft.com/office/drawing/2014/main" id="{D20E1478-A20B-979E-C334-23F29E65E395}"/>
              </a:ext>
            </a:extLst>
          </p:cNvPr>
          <p:cNvSpPr>
            <a:spLocks noGrp="1"/>
          </p:cNvSpPr>
          <p:nvPr>
            <p:ph type="sldNum" sz="quarter" idx="4"/>
          </p:nvPr>
        </p:nvSpPr>
        <p:spPr/>
        <p:txBody>
          <a:bodyPr/>
          <a:lstStyle/>
          <a:p>
            <a:fld id="{F577E53E-616C-4B80-8F3C-B6584B31683E}" type="slidenum">
              <a:rPr lang="en-US" smtClean="0"/>
              <a:pPr/>
              <a:t>5</a:t>
            </a:fld>
            <a:endParaRPr lang="es-ES"/>
          </a:p>
        </p:txBody>
      </p:sp>
      <p:pic>
        <p:nvPicPr>
          <p:cNvPr id="4" name="Imagen 3">
            <a:extLst>
              <a:ext uri="{FF2B5EF4-FFF2-40B4-BE49-F238E27FC236}">
                <a16:creationId xmlns:a16="http://schemas.microsoft.com/office/drawing/2014/main" id="{4C2D5E87-B2ED-B7FF-F999-3896D5FC8551}"/>
              </a:ext>
            </a:extLst>
          </p:cNvPr>
          <p:cNvPicPr>
            <a:picLocks noChangeAspect="1"/>
          </p:cNvPicPr>
          <p:nvPr/>
        </p:nvPicPr>
        <p:blipFill>
          <a:blip r:embed="rId3"/>
          <a:stretch>
            <a:fillRect/>
          </a:stretch>
        </p:blipFill>
        <p:spPr>
          <a:xfrm>
            <a:off x="278606" y="1084192"/>
            <a:ext cx="7750969" cy="3446604"/>
          </a:xfrm>
          <a:prstGeom prst="rect">
            <a:avLst/>
          </a:prstGeom>
        </p:spPr>
      </p:pic>
    </p:spTree>
    <p:extLst>
      <p:ext uri="{BB962C8B-B14F-4D97-AF65-F5344CB8AC3E}">
        <p14:creationId xmlns:p14="http://schemas.microsoft.com/office/powerpoint/2010/main" val="1289120151"/>
      </p:ext>
    </p:extLst>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45D45A30-8986-0E63-46CA-2DECA1BCFA4A}"/>
            </a:ext>
          </a:extLst>
        </p:cNvPr>
        <p:cNvGrpSpPr/>
        <p:nvPr/>
      </p:nvGrpSpPr>
      <p:grpSpPr>
        <a:xfrm>
          <a:off x="0" y="0"/>
          <a:ext cx="0" cy="0"/>
          <a:chOff x="0" y="0"/>
          <a:chExt cx="0" cy="0"/>
        </a:xfrm>
      </p:grpSpPr>
      <p:sp>
        <p:nvSpPr>
          <p:cNvPr id="59" name="Shape 59">
            <a:extLst>
              <a:ext uri="{FF2B5EF4-FFF2-40B4-BE49-F238E27FC236}">
                <a16:creationId xmlns:a16="http://schemas.microsoft.com/office/drawing/2014/main" id="{D4D585E9-6B4C-AB37-092C-F1B176542113}"/>
              </a:ext>
            </a:extLst>
          </p:cNvPr>
          <p:cNvSpPr txBox="1"/>
          <p:nvPr/>
        </p:nvSpPr>
        <p:spPr>
          <a:xfrm>
            <a:off x="228600" y="114300"/>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60" name="Shape 60">
            <a:extLst>
              <a:ext uri="{FF2B5EF4-FFF2-40B4-BE49-F238E27FC236}">
                <a16:creationId xmlns:a16="http://schemas.microsoft.com/office/drawing/2014/main" id="{7583B905-4F09-F7C9-9D18-45AD0284B5F9}"/>
              </a:ext>
            </a:extLst>
          </p:cNvPr>
          <p:cNvSpPr txBox="1"/>
          <p:nvPr/>
        </p:nvSpPr>
        <p:spPr>
          <a:xfrm>
            <a:off x="76200" y="57150"/>
            <a:ext cx="9017100" cy="861774"/>
          </a:xfrm>
          <a:prstGeom prst="rect">
            <a:avLst/>
          </a:prstGeom>
          <a:noFill/>
          <a:ln>
            <a:noFill/>
          </a:ln>
        </p:spPr>
        <p:txBody>
          <a:bodyPr lIns="0" tIns="0" rIns="0" bIns="0" anchor="t" anchorCtr="0">
            <a:spAutoFit/>
          </a:bodyPr>
          <a:lstStyle>
            <a:defPPr marR="0" algn="l" rtl="0">
              <a:lnSpc>
                <a:spcPct val="100000"/>
              </a:lnSpc>
              <a:spcBef>
                <a:spcPts val="0"/>
              </a:spcBef>
              <a:spcAft>
                <a:spcPts val="0"/>
              </a:spcAft>
            </a:defPPr>
            <a:lvl1pPr marL="0" lvl="0" indent="0">
              <a:buSzPct val="25000"/>
              <a:defRPr sz="3200" b="1">
                <a:latin typeface="Calibri"/>
                <a:ea typeface="Calibri"/>
                <a:cs typeface="Calibri"/>
              </a:defRPr>
            </a:lvl1pPr>
          </a:lstStyle>
          <a:p>
            <a:r>
              <a:rPr lang="en-US" sz="2800" dirty="0">
                <a:sym typeface="Calibri"/>
              </a:rPr>
              <a:t>Traffic assignment models capture the two-way interaction between route choice and traffic conditions</a:t>
            </a:r>
            <a:endParaRPr lang="es-ES"/>
          </a:p>
        </p:txBody>
      </p:sp>
      <p:pic>
        <p:nvPicPr>
          <p:cNvPr id="4" name="Imagen 3">
            <a:extLst>
              <a:ext uri="{FF2B5EF4-FFF2-40B4-BE49-F238E27FC236}">
                <a16:creationId xmlns:a16="http://schemas.microsoft.com/office/drawing/2014/main" id="{0D46EF1F-B9CD-6FFA-9FBC-BB0923ED6E84}"/>
              </a:ext>
            </a:extLst>
          </p:cNvPr>
          <p:cNvPicPr>
            <a:picLocks noChangeAspect="1"/>
          </p:cNvPicPr>
          <p:nvPr/>
        </p:nvPicPr>
        <p:blipFill>
          <a:blip r:embed="rId3"/>
          <a:stretch>
            <a:fillRect/>
          </a:stretch>
        </p:blipFill>
        <p:spPr>
          <a:xfrm>
            <a:off x="1142999" y="1788365"/>
            <a:ext cx="6472238" cy="2295437"/>
          </a:xfrm>
          <a:prstGeom prst="rect">
            <a:avLst/>
          </a:prstGeom>
        </p:spPr>
      </p:pic>
      <p:sp>
        <p:nvSpPr>
          <p:cNvPr id="3" name="CuadroTexto 2">
            <a:extLst>
              <a:ext uri="{FF2B5EF4-FFF2-40B4-BE49-F238E27FC236}">
                <a16:creationId xmlns:a16="http://schemas.microsoft.com/office/drawing/2014/main" id="{303195E5-5368-6461-F076-0BDB6CBDCFC7}"/>
              </a:ext>
            </a:extLst>
          </p:cNvPr>
          <p:cNvSpPr txBox="1"/>
          <p:nvPr/>
        </p:nvSpPr>
        <p:spPr>
          <a:xfrm>
            <a:off x="1369280" y="4307102"/>
            <a:ext cx="510151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000" i="1" dirty="0" err="1">
                <a:solidFill>
                  <a:schemeClr val="tx1"/>
                </a:solidFill>
                <a:latin typeface="Calibri"/>
                <a:ea typeface="Calibri"/>
                <a:cs typeface="Calibri"/>
              </a:rPr>
              <a:t>Source</a:t>
            </a:r>
            <a:r>
              <a:rPr lang="es-ES" sz="1000" i="1" dirty="0">
                <a:solidFill>
                  <a:schemeClr val="tx1"/>
                </a:solidFill>
                <a:latin typeface="Calibri"/>
                <a:ea typeface="Calibri"/>
                <a:cs typeface="Calibri"/>
              </a:rPr>
              <a:t>: </a:t>
            </a:r>
            <a:r>
              <a:rPr lang="es-ES" sz="1000" i="1" dirty="0" err="1">
                <a:solidFill>
                  <a:schemeClr val="tx1"/>
                </a:solidFill>
                <a:latin typeface="Calibri"/>
                <a:ea typeface="Calibri"/>
                <a:cs typeface="Calibri"/>
              </a:rPr>
              <a:t>Adapted</a:t>
            </a:r>
            <a:r>
              <a:rPr lang="es-ES" sz="1000" i="1" dirty="0">
                <a:solidFill>
                  <a:schemeClr val="tx1"/>
                </a:solidFill>
                <a:latin typeface="Calibri"/>
                <a:ea typeface="Calibri"/>
                <a:cs typeface="Calibri"/>
              </a:rPr>
              <a:t> </a:t>
            </a:r>
            <a:r>
              <a:rPr lang="es-ES" sz="1000" i="1" dirty="0" err="1">
                <a:solidFill>
                  <a:schemeClr val="tx1"/>
                </a:solidFill>
                <a:latin typeface="Calibri"/>
                <a:ea typeface="Calibri"/>
                <a:cs typeface="Calibri"/>
              </a:rPr>
              <a:t>from</a:t>
            </a:r>
            <a:r>
              <a:rPr lang="es-ES" sz="1000" i="1" dirty="0">
                <a:solidFill>
                  <a:schemeClr val="tx1"/>
                </a:solidFill>
                <a:latin typeface="Calibri"/>
                <a:ea typeface="Calibri"/>
                <a:cs typeface="Calibri"/>
              </a:rPr>
              <a:t> Boyles et al. [8]</a:t>
            </a:r>
            <a:endParaRPr lang="es-ES" sz="1000" dirty="0">
              <a:solidFill>
                <a:schemeClr val="tx1"/>
              </a:solidFill>
              <a:latin typeface="Calibri"/>
              <a:ea typeface="Calibri"/>
              <a:cs typeface="Calibri"/>
            </a:endParaRPr>
          </a:p>
        </p:txBody>
      </p:sp>
      <p:sp>
        <p:nvSpPr>
          <p:cNvPr id="2" name="Marcador de número de diapositiva 1">
            <a:extLst>
              <a:ext uri="{FF2B5EF4-FFF2-40B4-BE49-F238E27FC236}">
                <a16:creationId xmlns:a16="http://schemas.microsoft.com/office/drawing/2014/main" id="{B205C987-8A17-731C-C775-964DF797D5B7}"/>
              </a:ext>
            </a:extLst>
          </p:cNvPr>
          <p:cNvSpPr>
            <a:spLocks noGrp="1"/>
          </p:cNvSpPr>
          <p:nvPr>
            <p:ph type="sldNum" sz="quarter" idx="4"/>
          </p:nvPr>
        </p:nvSpPr>
        <p:spPr/>
        <p:txBody>
          <a:bodyPr/>
          <a:lstStyle/>
          <a:p>
            <a:fld id="{F577E53E-616C-4B80-8F3C-B6584B31683E}" type="slidenum">
              <a:rPr lang="en-US" smtClean="0"/>
              <a:pPr/>
              <a:t>6</a:t>
            </a:fld>
            <a:endParaRPr lang="es-ES"/>
          </a:p>
        </p:txBody>
      </p:sp>
    </p:spTree>
    <p:extLst>
      <p:ext uri="{BB962C8B-B14F-4D97-AF65-F5344CB8AC3E}">
        <p14:creationId xmlns:p14="http://schemas.microsoft.com/office/powerpoint/2010/main" val="340119989"/>
      </p:ext>
    </p:extLst>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F30EDEE-86B0-1496-05C9-33E00EB50C7A}"/>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ea typeface="Calibri"/>
                <a:cs typeface="Calibri"/>
              </a:rPr>
              <a:t>Dynamic </a:t>
            </a:r>
            <a:r>
              <a:rPr lang="es-ES" dirty="0" err="1">
                <a:latin typeface="Calibri"/>
                <a:ea typeface="Calibri"/>
                <a:cs typeface="Calibri"/>
              </a:rPr>
              <a:t>user</a:t>
            </a:r>
            <a:r>
              <a:rPr lang="es-ES" dirty="0">
                <a:latin typeface="Calibri"/>
                <a:ea typeface="Calibri"/>
                <a:cs typeface="Calibri"/>
              </a:rPr>
              <a:t> </a:t>
            </a:r>
            <a:r>
              <a:rPr lang="es-ES" dirty="0" err="1">
                <a:latin typeface="Calibri"/>
                <a:ea typeface="Calibri"/>
                <a:cs typeface="Calibri"/>
              </a:rPr>
              <a:t>equilibrium</a:t>
            </a:r>
            <a:r>
              <a:rPr lang="es-ES" dirty="0">
                <a:latin typeface="Calibri"/>
                <a:ea typeface="Calibri"/>
                <a:cs typeface="Calibri"/>
              </a:rPr>
              <a:t> </a:t>
            </a:r>
            <a:r>
              <a:rPr lang="es-ES" dirty="0" err="1">
                <a:latin typeface="Calibri"/>
                <a:ea typeface="Calibri"/>
                <a:cs typeface="Calibri"/>
              </a:rPr>
              <a:t>is</a:t>
            </a:r>
            <a:r>
              <a:rPr lang="es-ES" dirty="0">
                <a:latin typeface="Calibri"/>
                <a:ea typeface="Calibri"/>
                <a:cs typeface="Calibri"/>
              </a:rPr>
              <a:t> a fundamental </a:t>
            </a:r>
            <a:r>
              <a:rPr lang="es-ES" dirty="0" err="1">
                <a:latin typeface="Calibri"/>
                <a:ea typeface="Calibri"/>
                <a:cs typeface="Calibri"/>
              </a:rPr>
              <a:t>equilibrium</a:t>
            </a:r>
            <a:r>
              <a:rPr lang="es-ES" dirty="0">
                <a:latin typeface="Calibri"/>
                <a:ea typeface="Calibri"/>
                <a:cs typeface="Calibri"/>
              </a:rPr>
              <a:t> concept in </a:t>
            </a:r>
            <a:r>
              <a:rPr lang="es-ES" dirty="0" err="1">
                <a:latin typeface="Calibri"/>
                <a:ea typeface="Calibri"/>
                <a:cs typeface="Calibri"/>
              </a:rPr>
              <a:t>traffic</a:t>
            </a:r>
            <a:r>
              <a:rPr lang="es-ES" dirty="0">
                <a:latin typeface="Calibri"/>
                <a:ea typeface="Calibri"/>
                <a:cs typeface="Calibri"/>
              </a:rPr>
              <a:t> </a:t>
            </a:r>
            <a:r>
              <a:rPr lang="es-ES" dirty="0" err="1">
                <a:latin typeface="Calibri"/>
                <a:ea typeface="Calibri"/>
                <a:cs typeface="Calibri"/>
              </a:rPr>
              <a:t>assignment</a:t>
            </a:r>
            <a:r>
              <a:rPr lang="es-ES" dirty="0">
                <a:latin typeface="Calibri"/>
                <a:ea typeface="Calibri"/>
                <a:cs typeface="Calibri"/>
              </a:rPr>
              <a:t> </a:t>
            </a:r>
            <a:endParaRPr lang="es-ES" dirty="0">
              <a:ea typeface="Calibri"/>
              <a:cs typeface="Calibri"/>
            </a:endParaRPr>
          </a:p>
        </p:txBody>
      </p:sp>
      <p:sp>
        <p:nvSpPr>
          <p:cNvPr id="6" name="Marcador de texto 5">
            <a:extLst>
              <a:ext uri="{FF2B5EF4-FFF2-40B4-BE49-F238E27FC236}">
                <a16:creationId xmlns:a16="http://schemas.microsoft.com/office/drawing/2014/main" id="{758BE189-2791-6662-26BF-99B0E44177B4}"/>
              </a:ext>
            </a:extLst>
          </p:cNvPr>
          <p:cNvSpPr>
            <a:spLocks noGrp="1"/>
          </p:cNvSpPr>
          <p:nvPr>
            <p:ph type="body" sz="quarter" idx="14"/>
          </p:nvPr>
        </p:nvSpPr>
        <p:spPr>
          <a:xfrm>
            <a:off x="473880" y="1916805"/>
            <a:ext cx="8052900" cy="1015663"/>
          </a:xfrm>
        </p:spPr>
        <p:txBody>
          <a:bodyPr wrap="square" lIns="0" tIns="0" rIns="0" bIns="0" anchor="t">
            <a:spAutoFit/>
          </a:bodyPr>
          <a:lstStyle/>
          <a:p>
            <a:pPr marL="342900" indent="-342900">
              <a:buFont typeface="Arial"/>
              <a:buChar char="•"/>
            </a:pPr>
            <a:r>
              <a:rPr lang="es-ES" sz="2200" dirty="0">
                <a:latin typeface="Calibri"/>
                <a:ea typeface="Calibri"/>
                <a:cs typeface="Calibri"/>
              </a:rPr>
              <a:t>Dynamic User Equilibrium (DUE): </a:t>
            </a:r>
            <a:r>
              <a:rPr lang="es-ES" sz="2200" b="0" dirty="0">
                <a:latin typeface="Calibri"/>
              </a:rPr>
              <a:t>Emerges when d</a:t>
            </a:r>
            <a:r>
              <a:rPr lang="en-US" sz="2200" b="0" dirty="0">
                <a:solidFill>
                  <a:schemeClr val="tx1">
                    <a:lumMod val="95000"/>
                    <a:lumOff val="5000"/>
                  </a:schemeClr>
                </a:solidFill>
                <a:latin typeface="Calibri"/>
                <a:ea typeface="Calibri"/>
                <a:cs typeface="Calibri"/>
              </a:rPr>
              <a:t>rivers have perfect information </a:t>
            </a:r>
            <a:r>
              <a:rPr lang="en-US" sz="2200" b="0" dirty="0">
                <a:latin typeface="Calibri"/>
              </a:rPr>
              <a:t>and</a:t>
            </a:r>
            <a:r>
              <a:rPr lang="en-US" sz="2200" b="0" dirty="0">
                <a:solidFill>
                  <a:schemeClr val="tx1">
                    <a:lumMod val="95000"/>
                    <a:lumOff val="5000"/>
                  </a:schemeClr>
                </a:solidFill>
                <a:latin typeface="Calibri"/>
                <a:ea typeface="Calibri"/>
                <a:cs typeface="Calibri"/>
              </a:rPr>
              <a:t> choose routes that minimize their travel </a:t>
            </a:r>
            <a:r>
              <a:rPr lang="en-US" sz="2200" b="0">
                <a:solidFill>
                  <a:schemeClr val="tx1">
                    <a:lumMod val="95000"/>
                    <a:lumOff val="5000"/>
                  </a:schemeClr>
                </a:solidFill>
                <a:latin typeface="Calibri"/>
                <a:ea typeface="Calibri"/>
                <a:cs typeface="Calibri"/>
              </a:rPr>
              <a:t>time.</a:t>
            </a:r>
            <a:endParaRPr lang="es-ES" sz="2200">
              <a:solidFill>
                <a:schemeClr val="tx1">
                  <a:lumMod val="95000"/>
                  <a:lumOff val="5000"/>
                </a:schemeClr>
              </a:solidFill>
              <a:latin typeface="Arial"/>
              <a:ea typeface="Calibri"/>
            </a:endParaRPr>
          </a:p>
        </p:txBody>
      </p:sp>
      <p:sp>
        <p:nvSpPr>
          <p:cNvPr id="2" name="Marcador de número de diapositiva 1">
            <a:extLst>
              <a:ext uri="{FF2B5EF4-FFF2-40B4-BE49-F238E27FC236}">
                <a16:creationId xmlns:a16="http://schemas.microsoft.com/office/drawing/2014/main" id="{DC6D19FF-AFB2-A053-C921-DBD5DDEBE72B}"/>
              </a:ext>
            </a:extLst>
          </p:cNvPr>
          <p:cNvSpPr>
            <a:spLocks noGrp="1"/>
          </p:cNvSpPr>
          <p:nvPr>
            <p:ph type="sldNum" sz="quarter" idx="4"/>
          </p:nvPr>
        </p:nvSpPr>
        <p:spPr/>
        <p:txBody>
          <a:bodyPr/>
          <a:lstStyle/>
          <a:p>
            <a:fld id="{F577E53E-616C-4B80-8F3C-B6584B31683E}" type="slidenum">
              <a:rPr lang="en-US" smtClean="0"/>
              <a:pPr/>
              <a:t>7</a:t>
            </a:fld>
            <a:endParaRPr lang="es-ES"/>
          </a:p>
        </p:txBody>
      </p:sp>
    </p:spTree>
    <p:extLst>
      <p:ext uri="{BB962C8B-B14F-4D97-AF65-F5344CB8AC3E}">
        <p14:creationId xmlns:p14="http://schemas.microsoft.com/office/powerpoint/2010/main" val="63259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567EA5E-D896-101E-CEED-F6E55BA94674}"/>
              </a:ext>
            </a:extLst>
          </p:cNvPr>
          <p:cNvSpPr>
            <a:spLocks noGrp="1"/>
          </p:cNvSpPr>
          <p:nvPr>
            <p:ph type="title"/>
          </p:nvPr>
        </p:nvSpPr>
        <p:spPr>
          <a:xfrm>
            <a:off x="73152" y="73152"/>
            <a:ext cx="8863030" cy="861774"/>
          </a:xfrm>
        </p:spPr>
        <p:txBody>
          <a:bodyPr wrap="square" lIns="0" tIns="0" rIns="0" bIns="0" anchor="t">
            <a:spAutoFit/>
          </a:bodyPr>
          <a:lstStyle/>
          <a:p>
            <a:r>
              <a:rPr lang="es-ES" dirty="0" err="1">
                <a:latin typeface="Calibri"/>
                <a:ea typeface="Calibri"/>
                <a:cs typeface="Calibri"/>
              </a:rPr>
              <a:t>Bounded</a:t>
            </a:r>
            <a:r>
              <a:rPr lang="es-ES" dirty="0">
                <a:latin typeface="Calibri"/>
                <a:ea typeface="Calibri"/>
                <a:cs typeface="Calibri"/>
              </a:rPr>
              <a:t> </a:t>
            </a:r>
            <a:r>
              <a:rPr lang="es-ES" dirty="0" err="1">
                <a:latin typeface="Calibri"/>
                <a:ea typeface="Calibri"/>
                <a:cs typeface="Calibri"/>
              </a:rPr>
              <a:t>rationality</a:t>
            </a:r>
            <a:r>
              <a:rPr lang="es-ES" dirty="0">
                <a:latin typeface="Calibri"/>
                <a:ea typeface="Calibri"/>
                <a:cs typeface="Calibri"/>
              </a:rPr>
              <a:t> </a:t>
            </a:r>
            <a:r>
              <a:rPr lang="es-ES" dirty="0" err="1">
                <a:latin typeface="Calibri"/>
                <a:ea typeface="Calibri"/>
                <a:cs typeface="Calibri"/>
              </a:rPr>
              <a:t>recognizes</a:t>
            </a:r>
            <a:r>
              <a:rPr lang="es-ES" dirty="0">
                <a:latin typeface="Calibri"/>
                <a:ea typeface="Calibri"/>
                <a:cs typeface="Calibri"/>
              </a:rPr>
              <a:t> </a:t>
            </a:r>
            <a:r>
              <a:rPr lang="es-ES" dirty="0" err="1">
                <a:latin typeface="Calibri"/>
                <a:ea typeface="Calibri"/>
                <a:cs typeface="Calibri"/>
              </a:rPr>
              <a:t>that</a:t>
            </a:r>
            <a:r>
              <a:rPr lang="es-ES" dirty="0">
                <a:latin typeface="Calibri"/>
                <a:ea typeface="Calibri"/>
                <a:cs typeface="Calibri"/>
              </a:rPr>
              <a:t> human </a:t>
            </a:r>
            <a:r>
              <a:rPr lang="es-ES" dirty="0" err="1">
                <a:latin typeface="Calibri"/>
                <a:ea typeface="Calibri"/>
                <a:cs typeface="Calibri"/>
              </a:rPr>
              <a:t>decisions</a:t>
            </a:r>
            <a:r>
              <a:rPr lang="es-ES" dirty="0">
                <a:latin typeface="Calibri"/>
                <a:ea typeface="Calibri"/>
                <a:cs typeface="Calibri"/>
              </a:rPr>
              <a:t> </a:t>
            </a:r>
            <a:r>
              <a:rPr lang="es-ES" dirty="0" err="1">
                <a:latin typeface="Calibri"/>
                <a:ea typeface="Calibri"/>
                <a:cs typeface="Calibri"/>
              </a:rPr>
              <a:t>may</a:t>
            </a:r>
            <a:r>
              <a:rPr lang="es-ES" dirty="0">
                <a:latin typeface="Calibri"/>
                <a:ea typeface="Calibri"/>
                <a:cs typeface="Calibri"/>
              </a:rPr>
              <a:t> </a:t>
            </a:r>
            <a:r>
              <a:rPr lang="es-ES" dirty="0" err="1">
                <a:latin typeface="Calibri"/>
                <a:ea typeface="Calibri"/>
                <a:cs typeface="Calibri"/>
              </a:rPr>
              <a:t>deviate</a:t>
            </a:r>
            <a:r>
              <a:rPr lang="es-ES" dirty="0">
                <a:latin typeface="Calibri"/>
                <a:ea typeface="Calibri"/>
                <a:cs typeface="Calibri"/>
              </a:rPr>
              <a:t> </a:t>
            </a:r>
            <a:r>
              <a:rPr lang="es-ES" dirty="0" err="1">
                <a:latin typeface="Calibri"/>
                <a:ea typeface="Calibri"/>
                <a:cs typeface="Calibri"/>
              </a:rPr>
              <a:t>from</a:t>
            </a:r>
            <a:r>
              <a:rPr lang="es-ES" dirty="0">
                <a:latin typeface="Calibri"/>
                <a:ea typeface="Calibri"/>
                <a:cs typeface="Calibri"/>
              </a:rPr>
              <a:t> </a:t>
            </a:r>
            <a:r>
              <a:rPr lang="es-ES" dirty="0" err="1">
                <a:latin typeface="Calibri"/>
                <a:ea typeface="Calibri"/>
                <a:cs typeface="Calibri"/>
              </a:rPr>
              <a:t>perfectly</a:t>
            </a:r>
            <a:r>
              <a:rPr lang="es-ES" dirty="0">
                <a:latin typeface="Calibri"/>
                <a:ea typeface="Calibri"/>
                <a:cs typeface="Calibri"/>
              </a:rPr>
              <a:t> </a:t>
            </a:r>
            <a:r>
              <a:rPr lang="es-ES" dirty="0" err="1">
                <a:latin typeface="Calibri"/>
                <a:ea typeface="Calibri"/>
                <a:cs typeface="Calibri"/>
              </a:rPr>
              <a:t>rational</a:t>
            </a:r>
            <a:r>
              <a:rPr lang="es-ES" dirty="0">
                <a:latin typeface="Calibri"/>
                <a:ea typeface="Calibri"/>
                <a:cs typeface="Calibri"/>
              </a:rPr>
              <a:t> </a:t>
            </a:r>
            <a:r>
              <a:rPr lang="es-ES" dirty="0" err="1">
                <a:latin typeface="Calibri"/>
                <a:ea typeface="Calibri"/>
                <a:cs typeface="Calibri"/>
              </a:rPr>
              <a:t>behavior</a:t>
            </a:r>
            <a:endParaRPr lang="es-ES" dirty="0" err="1">
              <a:ea typeface="Calibri"/>
              <a:cs typeface="Calibri"/>
            </a:endParaRPr>
          </a:p>
        </p:txBody>
      </p:sp>
      <p:pic>
        <p:nvPicPr>
          <p:cNvPr id="2" name="Imagen 1" descr="Mapa&#10;&#10;El contenido generado por IA puede ser incorrecto.">
            <a:extLst>
              <a:ext uri="{FF2B5EF4-FFF2-40B4-BE49-F238E27FC236}">
                <a16:creationId xmlns:a16="http://schemas.microsoft.com/office/drawing/2014/main" id="{7B922F7B-E5CD-84B0-1563-9653EC08D853}"/>
              </a:ext>
            </a:extLst>
          </p:cNvPr>
          <p:cNvPicPr>
            <a:picLocks noChangeAspect="1"/>
          </p:cNvPicPr>
          <p:nvPr/>
        </p:nvPicPr>
        <p:blipFill>
          <a:blip r:embed="rId2"/>
          <a:srcRect l="23361" r="102" b="198"/>
          <a:stretch>
            <a:fillRect/>
          </a:stretch>
        </p:blipFill>
        <p:spPr>
          <a:xfrm>
            <a:off x="3102576" y="1053748"/>
            <a:ext cx="5763160" cy="3890170"/>
          </a:xfrm>
          <a:prstGeom prst="rect">
            <a:avLst/>
          </a:prstGeom>
        </p:spPr>
      </p:pic>
      <p:sp>
        <p:nvSpPr>
          <p:cNvPr id="5" name="Marcador de texto 1">
            <a:extLst>
              <a:ext uri="{FF2B5EF4-FFF2-40B4-BE49-F238E27FC236}">
                <a16:creationId xmlns:a16="http://schemas.microsoft.com/office/drawing/2014/main" id="{B47E3589-AC9A-B78C-6675-FA44F507A60B}"/>
              </a:ext>
            </a:extLst>
          </p:cNvPr>
          <p:cNvSpPr>
            <a:spLocks noGrp="1"/>
          </p:cNvSpPr>
          <p:nvPr>
            <p:ph type="body" sz="quarter" idx="14"/>
          </p:nvPr>
        </p:nvSpPr>
        <p:spPr>
          <a:xfrm>
            <a:off x="280045" y="1442460"/>
            <a:ext cx="2230745" cy="307777"/>
          </a:xfrm>
        </p:spPr>
        <p:txBody>
          <a:bodyPr wrap="square" lIns="0" tIns="0" rIns="0" bIns="0" anchor="t">
            <a:spAutoFit/>
          </a:bodyPr>
          <a:lstStyle/>
          <a:p>
            <a:r>
              <a:rPr lang="es-ES" sz="2000" dirty="0">
                <a:latin typeface="Calibri"/>
              </a:rPr>
              <a:t>Memory</a:t>
            </a:r>
            <a:endParaRPr lang="es-ES" dirty="0"/>
          </a:p>
        </p:txBody>
      </p:sp>
      <p:sp>
        <p:nvSpPr>
          <p:cNvPr id="7" name="Marcador de texto 1">
            <a:extLst>
              <a:ext uri="{FF2B5EF4-FFF2-40B4-BE49-F238E27FC236}">
                <a16:creationId xmlns:a16="http://schemas.microsoft.com/office/drawing/2014/main" id="{68A6A485-4AE6-75E4-21EB-BDB1A298E25A}"/>
              </a:ext>
            </a:extLst>
          </p:cNvPr>
          <p:cNvSpPr txBox="1">
            <a:spLocks/>
          </p:cNvSpPr>
          <p:nvPr/>
        </p:nvSpPr>
        <p:spPr>
          <a:xfrm>
            <a:off x="272425" y="2263039"/>
            <a:ext cx="2230745"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a:latin typeface="Calibri"/>
              </a:rPr>
              <a:t>Risk-averse</a:t>
            </a:r>
            <a:endParaRPr lang="es-ES" sz="2000" dirty="0"/>
          </a:p>
        </p:txBody>
      </p:sp>
      <p:sp>
        <p:nvSpPr>
          <p:cNvPr id="8" name="Marcador de texto 1">
            <a:extLst>
              <a:ext uri="{FF2B5EF4-FFF2-40B4-BE49-F238E27FC236}">
                <a16:creationId xmlns:a16="http://schemas.microsoft.com/office/drawing/2014/main" id="{3C6A4123-C597-5387-9C51-AADE5DADC2F2}"/>
              </a:ext>
            </a:extLst>
          </p:cNvPr>
          <p:cNvSpPr txBox="1">
            <a:spLocks/>
          </p:cNvSpPr>
          <p:nvPr/>
        </p:nvSpPr>
        <p:spPr>
          <a:xfrm>
            <a:off x="272424" y="3085998"/>
            <a:ext cx="2230745"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err="1">
                <a:latin typeface="Calibri"/>
              </a:rPr>
              <a:t>Waiting</a:t>
            </a:r>
            <a:r>
              <a:rPr lang="es-ES" sz="2000" dirty="0">
                <a:latin typeface="Calibri"/>
              </a:rPr>
              <a:t>-time-averse</a:t>
            </a:r>
            <a:endParaRPr lang="es-ES" sz="2000" dirty="0"/>
          </a:p>
        </p:txBody>
      </p:sp>
      <p:sp>
        <p:nvSpPr>
          <p:cNvPr id="9" name="Marcador de texto 1">
            <a:extLst>
              <a:ext uri="{FF2B5EF4-FFF2-40B4-BE49-F238E27FC236}">
                <a16:creationId xmlns:a16="http://schemas.microsoft.com/office/drawing/2014/main" id="{8A865C84-A09F-C9B5-AA24-EC6EF13FDB8D}"/>
              </a:ext>
            </a:extLst>
          </p:cNvPr>
          <p:cNvSpPr txBox="1">
            <a:spLocks/>
          </p:cNvSpPr>
          <p:nvPr/>
        </p:nvSpPr>
        <p:spPr>
          <a:xfrm>
            <a:off x="272423" y="3908957"/>
            <a:ext cx="2230745"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err="1">
                <a:latin typeface="Calibri"/>
              </a:rPr>
              <a:t>Nonlinear</a:t>
            </a:r>
            <a:r>
              <a:rPr lang="es-ES" sz="2000" dirty="0">
                <a:latin typeface="Calibri"/>
              </a:rPr>
              <a:t> response</a:t>
            </a:r>
            <a:endParaRPr lang="es-ES" dirty="0"/>
          </a:p>
        </p:txBody>
      </p:sp>
      <p:sp>
        <p:nvSpPr>
          <p:cNvPr id="4" name="Marcador de número de diapositiva 3">
            <a:extLst>
              <a:ext uri="{FF2B5EF4-FFF2-40B4-BE49-F238E27FC236}">
                <a16:creationId xmlns:a16="http://schemas.microsoft.com/office/drawing/2014/main" id="{50712A41-B02B-E292-12FE-964DAFDCC728}"/>
              </a:ext>
            </a:extLst>
          </p:cNvPr>
          <p:cNvSpPr>
            <a:spLocks noGrp="1"/>
          </p:cNvSpPr>
          <p:nvPr>
            <p:ph type="sldNum" sz="quarter" idx="4"/>
          </p:nvPr>
        </p:nvSpPr>
        <p:spPr/>
        <p:txBody>
          <a:bodyPr/>
          <a:lstStyle/>
          <a:p>
            <a:fld id="{F577E53E-616C-4B80-8F3C-B6584B31683E}" type="slidenum">
              <a:rPr lang="en-US" smtClean="0"/>
              <a:pPr/>
              <a:t>8</a:t>
            </a:fld>
            <a:endParaRPr lang="es-ES"/>
          </a:p>
        </p:txBody>
      </p:sp>
    </p:spTree>
    <p:extLst>
      <p:ext uri="{BB962C8B-B14F-4D97-AF65-F5344CB8AC3E}">
        <p14:creationId xmlns:p14="http://schemas.microsoft.com/office/powerpoint/2010/main" val="1111506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E0C16-0BC2-D8B0-CB3D-A559B9B5210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46D6FC0-0AF5-0EDA-E514-9B38E8B58A1D}"/>
              </a:ext>
            </a:extLst>
          </p:cNvPr>
          <p:cNvSpPr>
            <a:spLocks noGrp="1"/>
          </p:cNvSpPr>
          <p:nvPr>
            <p:ph type="body" sz="quarter" idx="14"/>
          </p:nvPr>
        </p:nvSpPr>
        <p:spPr>
          <a:xfrm>
            <a:off x="223847" y="1016692"/>
            <a:ext cx="8160056" cy="1477328"/>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solidFill>
                <a:latin typeface="Calibri"/>
              </a:rPr>
              <a:t>State </a:t>
            </a:r>
            <a:r>
              <a:rPr lang="es-ES" dirty="0" err="1">
                <a:solidFill>
                  <a:schemeClr val="tx1"/>
                </a:solidFill>
                <a:latin typeface="Calibri"/>
              </a:rPr>
              <a:t>of</a:t>
            </a:r>
            <a:r>
              <a:rPr lang="es-ES" dirty="0">
                <a:solidFill>
                  <a:schemeClr val="tx1"/>
                </a:solidFill>
                <a:latin typeface="Calibri"/>
              </a:rPr>
              <a:t> </a:t>
            </a:r>
            <a:r>
              <a:rPr lang="es-ES" dirty="0" err="1">
                <a:solidFill>
                  <a:schemeClr val="tx1"/>
                </a:solidFill>
                <a:latin typeface="Calibri"/>
              </a:rPr>
              <a:t>the</a:t>
            </a:r>
            <a:r>
              <a:rPr lang="es-ES" dirty="0">
                <a:solidFill>
                  <a:schemeClr val="tx1"/>
                </a:solidFill>
                <a:latin typeface="Calibri"/>
              </a:rPr>
              <a:t> art</a:t>
            </a:r>
            <a:endParaRPr lang="es-ES">
              <a:solidFill>
                <a:schemeClr val="tx1"/>
              </a:solidFill>
            </a:endParaRPr>
          </a:p>
          <a:p>
            <a:endParaRPr lang="es-ES" dirty="0"/>
          </a:p>
          <a:p>
            <a:pPr marL="457200" indent="-457200">
              <a:buAutoNum type="arabicPeriod"/>
            </a:pPr>
            <a:endParaRPr lang="es-ES" dirty="0"/>
          </a:p>
        </p:txBody>
      </p:sp>
      <p:sp>
        <p:nvSpPr>
          <p:cNvPr id="11" name="Título 2">
            <a:extLst>
              <a:ext uri="{FF2B5EF4-FFF2-40B4-BE49-F238E27FC236}">
                <a16:creationId xmlns:a16="http://schemas.microsoft.com/office/drawing/2014/main" id="{9C4E349E-AC94-6369-67F1-2920B08C434A}"/>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E4AD96ED-13BE-A7AF-29A3-E1BB08CF6AA1}"/>
              </a:ext>
            </a:extLst>
          </p:cNvPr>
          <p:cNvSpPr>
            <a:spLocks noGrp="1"/>
          </p:cNvSpPr>
          <p:nvPr>
            <p:ph type="sldNum" sz="quarter" idx="4"/>
          </p:nvPr>
        </p:nvSpPr>
        <p:spPr/>
        <p:txBody>
          <a:bodyPr/>
          <a:lstStyle/>
          <a:p>
            <a:fld id="{F577E53E-616C-4B80-8F3C-B6584B31683E}" type="slidenum">
              <a:rPr lang="en-US" smtClean="0"/>
              <a:pPr/>
              <a:t>9</a:t>
            </a:fld>
            <a:endParaRPr lang="es-ES"/>
          </a:p>
        </p:txBody>
      </p:sp>
    </p:spTree>
    <p:extLst>
      <p:ext uri="{BB962C8B-B14F-4D97-AF65-F5344CB8AC3E}">
        <p14:creationId xmlns:p14="http://schemas.microsoft.com/office/powerpoint/2010/main" val="417367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E71A668-5351-537D-49D0-43A6A95ACE5E}"/>
              </a:ext>
            </a:extLst>
          </p:cNvPr>
          <p:cNvSpPr>
            <a:spLocks noGrp="1"/>
          </p:cNvSpPr>
          <p:nvPr>
            <p:ph type="title"/>
          </p:nvPr>
        </p:nvSpPr>
        <p:spPr>
          <a:xfrm>
            <a:off x="73152" y="73152"/>
            <a:ext cx="8863030" cy="861774"/>
          </a:xfrm>
        </p:spPr>
        <p:txBody>
          <a:bodyPr wrap="square" lIns="0" tIns="0" rIns="0" bIns="0" anchor="t">
            <a:spAutoFit/>
          </a:bodyPr>
          <a:lstStyle/>
          <a:p>
            <a:r>
              <a:rPr lang="es-ES" dirty="0" err="1">
                <a:latin typeface="Calibri"/>
                <a:ea typeface="Calibri"/>
                <a:cs typeface="Calibri"/>
              </a:rPr>
              <a:t>Recent</a:t>
            </a:r>
            <a:r>
              <a:rPr lang="es-ES" dirty="0">
                <a:latin typeface="Calibri"/>
                <a:ea typeface="Calibri"/>
                <a:cs typeface="Calibri"/>
              </a:rPr>
              <a:t> </a:t>
            </a:r>
            <a:r>
              <a:rPr lang="es-ES" dirty="0" err="1">
                <a:latin typeface="Calibri"/>
                <a:ea typeface="Calibri"/>
                <a:cs typeface="Calibri"/>
              </a:rPr>
              <a:t>research</a:t>
            </a:r>
            <a:r>
              <a:rPr lang="es-ES" dirty="0">
                <a:latin typeface="Calibri"/>
                <a:ea typeface="Calibri"/>
                <a:cs typeface="Calibri"/>
              </a:rPr>
              <a:t> </a:t>
            </a:r>
            <a:r>
              <a:rPr lang="es-ES" dirty="0" err="1">
                <a:latin typeface="Calibri"/>
                <a:ea typeface="Calibri"/>
                <a:cs typeface="Calibri"/>
              </a:rPr>
              <a:t>increasingly</a:t>
            </a:r>
            <a:r>
              <a:rPr lang="es-ES" dirty="0">
                <a:latin typeface="Calibri"/>
                <a:ea typeface="Calibri"/>
                <a:cs typeface="Calibri"/>
              </a:rPr>
              <a:t> </a:t>
            </a:r>
            <a:r>
              <a:rPr lang="es-ES" dirty="0" err="1">
                <a:latin typeface="Calibri"/>
                <a:ea typeface="Calibri"/>
                <a:cs typeface="Calibri"/>
              </a:rPr>
              <a:t>focuses</a:t>
            </a:r>
            <a:r>
              <a:rPr lang="es-ES" dirty="0">
                <a:latin typeface="Calibri"/>
                <a:ea typeface="Calibri"/>
                <a:cs typeface="Calibri"/>
              </a:rPr>
              <a:t> </a:t>
            </a:r>
            <a:r>
              <a:rPr lang="es-ES" dirty="0" err="1">
                <a:latin typeface="Calibri"/>
                <a:ea typeface="Calibri"/>
                <a:cs typeface="Calibri"/>
              </a:rPr>
              <a:t>on</a:t>
            </a:r>
            <a:r>
              <a:rPr lang="es-ES" dirty="0">
                <a:latin typeface="Calibri"/>
                <a:ea typeface="Calibri"/>
                <a:cs typeface="Calibri"/>
              </a:rPr>
              <a:t> </a:t>
            </a:r>
            <a:r>
              <a:rPr lang="es-ES" dirty="0" err="1">
                <a:latin typeface="Calibri"/>
                <a:ea typeface="Calibri"/>
                <a:cs typeface="Calibri"/>
              </a:rPr>
              <a:t>modelling</a:t>
            </a:r>
            <a:r>
              <a:rPr lang="es-ES" dirty="0">
                <a:latin typeface="Calibri"/>
                <a:ea typeface="Calibri"/>
                <a:cs typeface="Calibri"/>
              </a:rPr>
              <a:t> individual </a:t>
            </a:r>
            <a:r>
              <a:rPr lang="es-ES" dirty="0" err="1">
                <a:latin typeface="Calibri"/>
                <a:ea typeface="Calibri"/>
                <a:cs typeface="Calibri"/>
              </a:rPr>
              <a:t>travellers</a:t>
            </a:r>
            <a:r>
              <a:rPr lang="es-ES" dirty="0">
                <a:latin typeface="Calibri"/>
                <a:ea typeface="Calibri"/>
                <a:cs typeface="Calibri"/>
              </a:rPr>
              <a:t>’ </a:t>
            </a:r>
            <a:r>
              <a:rPr lang="es-ES" dirty="0" err="1">
                <a:latin typeface="Calibri"/>
                <a:ea typeface="Calibri"/>
                <a:cs typeface="Calibri"/>
              </a:rPr>
              <a:t>learning</a:t>
            </a:r>
            <a:r>
              <a:rPr lang="es-ES" dirty="0">
                <a:latin typeface="Calibri"/>
                <a:ea typeface="Calibri"/>
                <a:cs typeface="Calibri"/>
              </a:rPr>
              <a:t> and </a:t>
            </a:r>
            <a:r>
              <a:rPr lang="es-ES" dirty="0" err="1">
                <a:latin typeface="Calibri"/>
                <a:ea typeface="Calibri"/>
                <a:cs typeface="Calibri"/>
              </a:rPr>
              <a:t>adaptation</a:t>
            </a:r>
            <a:endParaRPr lang="es-ES">
              <a:ea typeface="Calibri"/>
              <a:cs typeface="Calibri"/>
            </a:endParaRPr>
          </a:p>
        </p:txBody>
      </p:sp>
      <p:pic>
        <p:nvPicPr>
          <p:cNvPr id="9" name="Imagen 8">
            <a:extLst>
              <a:ext uri="{FF2B5EF4-FFF2-40B4-BE49-F238E27FC236}">
                <a16:creationId xmlns:a16="http://schemas.microsoft.com/office/drawing/2014/main" id="{2AB7E332-7D26-6D87-B47E-EE6606581152}"/>
              </a:ext>
            </a:extLst>
          </p:cNvPr>
          <p:cNvPicPr>
            <a:picLocks noChangeAspect="1"/>
          </p:cNvPicPr>
          <p:nvPr/>
        </p:nvPicPr>
        <p:blipFill>
          <a:blip r:embed="rId2"/>
          <a:stretch>
            <a:fillRect/>
          </a:stretch>
        </p:blipFill>
        <p:spPr>
          <a:xfrm>
            <a:off x="61975" y="2740028"/>
            <a:ext cx="3583847" cy="1271564"/>
          </a:xfrm>
          <a:prstGeom prst="rect">
            <a:avLst/>
          </a:prstGeom>
        </p:spPr>
      </p:pic>
      <p:sp>
        <p:nvSpPr>
          <p:cNvPr id="11" name="CuadroTexto 10">
            <a:extLst>
              <a:ext uri="{FF2B5EF4-FFF2-40B4-BE49-F238E27FC236}">
                <a16:creationId xmlns:a16="http://schemas.microsoft.com/office/drawing/2014/main" id="{BD5135DD-41F4-ADBF-9657-C47C3A8B4027}"/>
              </a:ext>
            </a:extLst>
          </p:cNvPr>
          <p:cNvSpPr txBox="1"/>
          <p:nvPr/>
        </p:nvSpPr>
        <p:spPr>
          <a:xfrm>
            <a:off x="252538" y="4066532"/>
            <a:ext cx="280836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000" i="1" dirty="0">
                <a:solidFill>
                  <a:schemeClr val="tx1"/>
                </a:solidFill>
                <a:latin typeface="Calibri"/>
                <a:ea typeface="Calibri"/>
                <a:cs typeface="Calibri"/>
              </a:rPr>
              <a:t>Source: </a:t>
            </a:r>
            <a:r>
              <a:rPr lang="es-ES" sz="1000" i="1" dirty="0" err="1">
                <a:solidFill>
                  <a:schemeClr val="tx1"/>
                </a:solidFill>
                <a:latin typeface="Calibri"/>
                <a:ea typeface="Calibri"/>
                <a:cs typeface="Calibri"/>
              </a:rPr>
              <a:t>Adapted</a:t>
            </a:r>
            <a:r>
              <a:rPr lang="es-ES" sz="1000" i="1" dirty="0">
                <a:solidFill>
                  <a:schemeClr val="tx1"/>
                </a:solidFill>
                <a:latin typeface="Calibri"/>
                <a:ea typeface="Calibri"/>
                <a:cs typeface="Calibri"/>
              </a:rPr>
              <a:t> </a:t>
            </a:r>
            <a:r>
              <a:rPr lang="es-ES" sz="1000" i="1" dirty="0" err="1">
                <a:solidFill>
                  <a:schemeClr val="tx1"/>
                </a:solidFill>
                <a:latin typeface="Calibri"/>
                <a:ea typeface="Calibri"/>
                <a:cs typeface="Calibri"/>
              </a:rPr>
              <a:t>from</a:t>
            </a:r>
            <a:r>
              <a:rPr lang="es-ES" sz="1000" i="1" dirty="0">
                <a:solidFill>
                  <a:schemeClr val="tx1"/>
                </a:solidFill>
                <a:latin typeface="Calibri"/>
                <a:ea typeface="Calibri"/>
                <a:cs typeface="Calibri"/>
              </a:rPr>
              <a:t> Boyles et al. [8]</a:t>
            </a:r>
          </a:p>
        </p:txBody>
      </p:sp>
      <p:pic>
        <p:nvPicPr>
          <p:cNvPr id="13" name="Imagen 12">
            <a:extLst>
              <a:ext uri="{FF2B5EF4-FFF2-40B4-BE49-F238E27FC236}">
                <a16:creationId xmlns:a16="http://schemas.microsoft.com/office/drawing/2014/main" id="{171EFA2B-F1FA-B3AB-B5D3-92A96A9FE396}"/>
              </a:ext>
            </a:extLst>
          </p:cNvPr>
          <p:cNvPicPr>
            <a:picLocks noChangeAspect="1"/>
          </p:cNvPicPr>
          <p:nvPr/>
        </p:nvPicPr>
        <p:blipFill>
          <a:blip r:embed="rId3"/>
          <a:srcRect l="-352" r="-783" b="5930"/>
          <a:stretch>
            <a:fillRect/>
          </a:stretch>
        </p:blipFill>
        <p:spPr>
          <a:xfrm>
            <a:off x="3755013" y="1377199"/>
            <a:ext cx="5220411" cy="2945236"/>
          </a:xfrm>
          <a:prstGeom prst="rect">
            <a:avLst/>
          </a:prstGeom>
          <a:ln w="28575">
            <a:noFill/>
            <a:prstDash val="sysDot"/>
          </a:ln>
        </p:spPr>
      </p:pic>
      <p:sp>
        <p:nvSpPr>
          <p:cNvPr id="15" name="Marcador de texto 1">
            <a:extLst>
              <a:ext uri="{FF2B5EF4-FFF2-40B4-BE49-F238E27FC236}">
                <a16:creationId xmlns:a16="http://schemas.microsoft.com/office/drawing/2014/main" id="{3DC09A8E-A2AA-66C5-E193-A8752422C4B3}"/>
              </a:ext>
            </a:extLst>
          </p:cNvPr>
          <p:cNvSpPr txBox="1">
            <a:spLocks/>
          </p:cNvSpPr>
          <p:nvPr/>
        </p:nvSpPr>
        <p:spPr>
          <a:xfrm>
            <a:off x="898706" y="2425429"/>
            <a:ext cx="1915648" cy="276999"/>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1800" dirty="0">
                <a:latin typeface="Calibri"/>
              </a:rPr>
              <a:t>General </a:t>
            </a:r>
            <a:r>
              <a:rPr lang="es-ES" sz="1800" dirty="0" err="1">
                <a:latin typeface="Calibri"/>
              </a:rPr>
              <a:t>structure</a:t>
            </a:r>
            <a:endParaRPr lang="es-ES" sz="1800"/>
          </a:p>
        </p:txBody>
      </p:sp>
      <p:sp>
        <p:nvSpPr>
          <p:cNvPr id="2" name="Marcador de número de diapositiva 1">
            <a:extLst>
              <a:ext uri="{FF2B5EF4-FFF2-40B4-BE49-F238E27FC236}">
                <a16:creationId xmlns:a16="http://schemas.microsoft.com/office/drawing/2014/main" id="{6F58E40D-1773-F0DF-1A94-1E0AC9EA8EB8}"/>
              </a:ext>
            </a:extLst>
          </p:cNvPr>
          <p:cNvSpPr>
            <a:spLocks noGrp="1"/>
          </p:cNvSpPr>
          <p:nvPr>
            <p:ph type="sldNum" sz="quarter" idx="4"/>
          </p:nvPr>
        </p:nvSpPr>
        <p:spPr/>
        <p:txBody>
          <a:bodyPr/>
          <a:lstStyle/>
          <a:p>
            <a:fld id="{F577E53E-616C-4B80-8F3C-B6584B31683E}" type="slidenum">
              <a:rPr lang="en-US" smtClean="0"/>
              <a:pPr/>
              <a:t>10</a:t>
            </a:fld>
            <a:endParaRPr lang="es-ES"/>
          </a:p>
        </p:txBody>
      </p:sp>
      <p:sp>
        <p:nvSpPr>
          <p:cNvPr id="4" name="CuadroTexto 3">
            <a:extLst>
              <a:ext uri="{FF2B5EF4-FFF2-40B4-BE49-F238E27FC236}">
                <a16:creationId xmlns:a16="http://schemas.microsoft.com/office/drawing/2014/main" id="{BE1B61C4-B51C-32C1-7779-C35D0A7D9FDF}"/>
              </a:ext>
            </a:extLst>
          </p:cNvPr>
          <p:cNvSpPr txBox="1"/>
          <p:nvPr/>
        </p:nvSpPr>
        <p:spPr>
          <a:xfrm>
            <a:off x="4120158" y="4493418"/>
            <a:ext cx="1519968" cy="246221"/>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s-ES" sz="1000" i="1" dirty="0">
                <a:latin typeface="Calibri"/>
                <a:ea typeface="Calibri"/>
                <a:cs typeface="Calibri"/>
              </a:rPr>
              <a:t>Manuel Elimadi et al. [16]</a:t>
            </a:r>
          </a:p>
        </p:txBody>
      </p:sp>
      <p:sp>
        <p:nvSpPr>
          <p:cNvPr id="5" name="CuadroTexto 4">
            <a:extLst>
              <a:ext uri="{FF2B5EF4-FFF2-40B4-BE49-F238E27FC236}">
                <a16:creationId xmlns:a16="http://schemas.microsoft.com/office/drawing/2014/main" id="{3DFA8605-D806-744E-7411-472E28803A98}"/>
              </a:ext>
            </a:extLst>
          </p:cNvPr>
          <p:cNvSpPr txBox="1"/>
          <p:nvPr/>
        </p:nvSpPr>
        <p:spPr>
          <a:xfrm>
            <a:off x="6784774" y="4493417"/>
            <a:ext cx="131360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000" i="1" dirty="0">
                <a:latin typeface="Calibri"/>
                <a:ea typeface="Calibri"/>
                <a:cs typeface="Calibri"/>
              </a:rPr>
              <a:t>Wei et al. [52]</a:t>
            </a:r>
          </a:p>
          <a:p>
            <a:r>
              <a:rPr lang="es-ES" sz="1000" i="1" dirty="0">
                <a:latin typeface="Calibri"/>
                <a:ea typeface="Calibri"/>
                <a:cs typeface="Calibri"/>
              </a:rPr>
              <a:t>Ramos et al. [37]</a:t>
            </a:r>
          </a:p>
          <a:p>
            <a:endParaRPr lang="es-ES" sz="2000" b="1" dirty="0">
              <a:latin typeface="Calibri"/>
            </a:endParaRPr>
          </a:p>
        </p:txBody>
      </p:sp>
      <p:sp>
        <p:nvSpPr>
          <p:cNvPr id="6" name="Rectángulo 5">
            <a:extLst>
              <a:ext uri="{FF2B5EF4-FFF2-40B4-BE49-F238E27FC236}">
                <a16:creationId xmlns:a16="http://schemas.microsoft.com/office/drawing/2014/main" id="{39172577-F0B0-4781-F219-7114E5038B99}"/>
              </a:ext>
            </a:extLst>
          </p:cNvPr>
          <p:cNvSpPr/>
          <p:nvPr/>
        </p:nvSpPr>
        <p:spPr>
          <a:xfrm>
            <a:off x="3750469" y="1160859"/>
            <a:ext cx="5232796" cy="3830835"/>
          </a:xfrm>
          <a:prstGeom prst="rect">
            <a:avLst/>
          </a:prstGeom>
          <a:noFill/>
          <a:ln w="2857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0875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637A-D180-89E7-0C2C-F8FBA8292FD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88BEEFE-1EC3-08F4-1C95-B4C4A209E519}"/>
              </a:ext>
            </a:extLst>
          </p:cNvPr>
          <p:cNvSpPr>
            <a:spLocks noGrp="1"/>
          </p:cNvSpPr>
          <p:nvPr>
            <p:ph type="body" sz="quarter" idx="14"/>
          </p:nvPr>
        </p:nvSpPr>
        <p:spPr>
          <a:xfrm>
            <a:off x="223847" y="1016692"/>
            <a:ext cx="8160056" cy="1846659"/>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solidFill>
                <a:latin typeface="Calibri"/>
              </a:rPr>
              <a:t>Thesis</a:t>
            </a:r>
            <a:r>
              <a:rPr lang="es-ES" dirty="0">
                <a:solidFill>
                  <a:schemeClr val="tx1"/>
                </a:solidFill>
                <a:latin typeface="Calibri"/>
              </a:rPr>
              <a:t> </a:t>
            </a:r>
            <a:r>
              <a:rPr lang="es-ES" dirty="0" err="1">
                <a:solidFill>
                  <a:schemeClr val="tx1"/>
                </a:solidFill>
                <a:latin typeface="Calibri"/>
              </a:rPr>
              <a:t>objectives</a:t>
            </a:r>
            <a:endParaRPr lang="es-ES" dirty="0" err="1">
              <a:solidFill>
                <a:schemeClr val="tx1"/>
              </a:solidFill>
            </a:endParaRPr>
          </a:p>
          <a:p>
            <a:endParaRPr lang="es-ES" dirty="0"/>
          </a:p>
          <a:p>
            <a:pPr marL="457200" indent="-457200">
              <a:buAutoNum type="arabicPeriod"/>
            </a:pPr>
            <a:endParaRPr lang="es-ES" dirty="0"/>
          </a:p>
        </p:txBody>
      </p:sp>
      <p:sp>
        <p:nvSpPr>
          <p:cNvPr id="11" name="Título 2">
            <a:extLst>
              <a:ext uri="{FF2B5EF4-FFF2-40B4-BE49-F238E27FC236}">
                <a16:creationId xmlns:a16="http://schemas.microsoft.com/office/drawing/2014/main" id="{30CE26B1-4D28-2F0F-9334-10FE8DA933B5}"/>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FEAA5C71-BC38-004B-605B-687D246BD91B}"/>
              </a:ext>
            </a:extLst>
          </p:cNvPr>
          <p:cNvSpPr>
            <a:spLocks noGrp="1"/>
          </p:cNvSpPr>
          <p:nvPr>
            <p:ph type="sldNum" sz="quarter" idx="4"/>
          </p:nvPr>
        </p:nvSpPr>
        <p:spPr/>
        <p:txBody>
          <a:bodyPr/>
          <a:lstStyle/>
          <a:p>
            <a:fld id="{F577E53E-616C-4B80-8F3C-B6584B31683E}" type="slidenum">
              <a:rPr lang="en-US" smtClean="0"/>
              <a:pPr/>
              <a:t>11</a:t>
            </a:fld>
            <a:endParaRPr lang="es-ES"/>
          </a:p>
        </p:txBody>
      </p:sp>
    </p:spTree>
    <p:extLst>
      <p:ext uri="{BB962C8B-B14F-4D97-AF65-F5344CB8AC3E}">
        <p14:creationId xmlns:p14="http://schemas.microsoft.com/office/powerpoint/2010/main" val="1140041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EFA763D-F0C2-8A3C-561C-D7FBE4DED431}"/>
              </a:ext>
            </a:extLst>
          </p:cNvPr>
          <p:cNvSpPr>
            <a:spLocks noGrp="1"/>
          </p:cNvSpPr>
          <p:nvPr>
            <p:ph type="body" sz="quarter" idx="14"/>
          </p:nvPr>
        </p:nvSpPr>
        <p:spPr>
          <a:xfrm>
            <a:off x="208788" y="1342022"/>
            <a:ext cx="6283558" cy="4185761"/>
          </a:xfrm>
        </p:spPr>
        <p:txBody>
          <a:bodyPr wrap="square" lIns="0" tIns="0" rIns="0" bIns="0" anchor="t">
            <a:spAutoFit/>
          </a:bodyPr>
          <a:lstStyle/>
          <a:p>
            <a:pPr marL="457200" indent="-457200">
              <a:buAutoNum type="arabicPeriod"/>
            </a:pPr>
            <a:r>
              <a:rPr lang="es-ES" b="0" dirty="0">
                <a:latin typeface="Calibri"/>
              </a:rPr>
              <a:t>Study </a:t>
            </a:r>
            <a:r>
              <a:rPr lang="es-ES" b="0" dirty="0" err="1">
                <a:latin typeface="Calibri"/>
              </a:rPr>
              <a:t>whether</a:t>
            </a:r>
            <a:r>
              <a:rPr lang="es-ES" b="0" dirty="0">
                <a:latin typeface="Calibri"/>
              </a:rPr>
              <a:t> a DUE </a:t>
            </a:r>
            <a:r>
              <a:rPr lang="es-ES" b="0" dirty="0" err="1">
                <a:latin typeface="Calibri"/>
              </a:rPr>
              <a:t>would</a:t>
            </a:r>
            <a:r>
              <a:rPr lang="es-ES" b="0" dirty="0">
                <a:latin typeface="Calibri"/>
              </a:rPr>
              <a:t> emerge </a:t>
            </a:r>
            <a:r>
              <a:rPr lang="es-ES" b="0" dirty="0" err="1">
                <a:latin typeface="Calibri"/>
              </a:rPr>
              <a:t>from</a:t>
            </a:r>
            <a:r>
              <a:rPr lang="es-ES" b="0" dirty="0">
                <a:latin typeface="Calibri"/>
              </a:rPr>
              <a:t> </a:t>
            </a:r>
            <a:r>
              <a:rPr lang="es-ES" b="0" dirty="0" err="1">
                <a:latin typeface="Calibri"/>
              </a:rPr>
              <a:t>the</a:t>
            </a:r>
            <a:r>
              <a:rPr lang="es-ES" b="0" dirty="0">
                <a:latin typeface="Calibri"/>
              </a:rPr>
              <a:t> </a:t>
            </a:r>
            <a:r>
              <a:rPr lang="es-ES" b="0" dirty="0" err="1">
                <a:latin typeface="Calibri"/>
              </a:rPr>
              <a:t>learning</a:t>
            </a:r>
            <a:r>
              <a:rPr lang="es-ES" b="0" dirty="0">
                <a:latin typeface="Calibri"/>
              </a:rPr>
              <a:t> </a:t>
            </a:r>
            <a:r>
              <a:rPr lang="es-ES" b="0" dirty="0" err="1">
                <a:latin typeface="Calibri"/>
              </a:rPr>
              <a:t>process</a:t>
            </a:r>
            <a:r>
              <a:rPr lang="es-ES" b="0" dirty="0">
                <a:latin typeface="Calibri"/>
              </a:rPr>
              <a:t> </a:t>
            </a:r>
            <a:r>
              <a:rPr lang="es-ES" b="0" dirty="0" err="1">
                <a:latin typeface="Calibri"/>
              </a:rPr>
              <a:t>of</a:t>
            </a:r>
            <a:r>
              <a:rPr lang="es-ES" b="0" dirty="0">
                <a:latin typeface="Calibri"/>
              </a:rPr>
              <a:t> </a:t>
            </a:r>
            <a:r>
              <a:rPr lang="es-ES" dirty="0" err="1">
                <a:latin typeface="Calibri"/>
              </a:rPr>
              <a:t>rational</a:t>
            </a:r>
            <a:r>
              <a:rPr lang="es-ES" dirty="0">
                <a:latin typeface="Calibri"/>
              </a:rPr>
              <a:t> </a:t>
            </a:r>
            <a:r>
              <a:rPr lang="es-ES" b="0" dirty="0" err="1">
                <a:latin typeface="Calibri"/>
              </a:rPr>
              <a:t>agents</a:t>
            </a:r>
            <a:endParaRPr lang="es-ES" b="0"/>
          </a:p>
          <a:p>
            <a:pPr marL="914400" lvl="1" indent="-457200">
              <a:buFont typeface="Arial"/>
              <a:buChar char="•"/>
            </a:pPr>
            <a:endParaRPr lang="es-ES" sz="1800" dirty="0">
              <a:latin typeface="Calibri"/>
              <a:ea typeface="Calibri"/>
              <a:cs typeface="Calibri"/>
            </a:endParaRPr>
          </a:p>
          <a:p>
            <a:pPr marL="457200" indent="-457200">
              <a:buAutoNum type="arabicPeriod"/>
            </a:pPr>
            <a:endParaRPr lang="es-ES" dirty="0">
              <a:latin typeface="Calibri"/>
            </a:endParaRPr>
          </a:p>
          <a:p>
            <a:pPr marL="457200" indent="-457200">
              <a:buAutoNum type="arabicPeriod"/>
            </a:pPr>
            <a:r>
              <a:rPr lang="es-ES" b="0" dirty="0">
                <a:latin typeface="Calibri"/>
              </a:rPr>
              <a:t>Study </a:t>
            </a:r>
            <a:r>
              <a:rPr lang="es-ES" b="0" dirty="0" err="1">
                <a:latin typeface="Calibri"/>
              </a:rPr>
              <a:t>whether</a:t>
            </a:r>
            <a:r>
              <a:rPr lang="es-ES" b="0" dirty="0">
                <a:latin typeface="Calibri"/>
              </a:rPr>
              <a:t> a DUE </a:t>
            </a:r>
            <a:r>
              <a:rPr lang="es-ES" b="0" dirty="0" err="1">
                <a:latin typeface="Calibri"/>
              </a:rPr>
              <a:t>would</a:t>
            </a:r>
            <a:r>
              <a:rPr lang="es-ES" b="0" dirty="0">
                <a:latin typeface="Calibri"/>
              </a:rPr>
              <a:t> emerge </a:t>
            </a:r>
            <a:r>
              <a:rPr lang="es-ES" b="0" dirty="0" err="1">
                <a:latin typeface="Calibri"/>
              </a:rPr>
              <a:t>from</a:t>
            </a:r>
            <a:r>
              <a:rPr lang="es-ES" b="0" dirty="0">
                <a:latin typeface="Calibri"/>
              </a:rPr>
              <a:t> </a:t>
            </a:r>
            <a:r>
              <a:rPr lang="es-ES" b="0" dirty="0" err="1">
                <a:latin typeface="Calibri"/>
              </a:rPr>
              <a:t>the</a:t>
            </a:r>
            <a:r>
              <a:rPr lang="es-ES" b="0" dirty="0">
                <a:latin typeface="Calibri"/>
              </a:rPr>
              <a:t> </a:t>
            </a:r>
            <a:r>
              <a:rPr lang="es-ES" b="0" dirty="0" err="1">
                <a:latin typeface="Calibri"/>
              </a:rPr>
              <a:t>learning</a:t>
            </a:r>
            <a:r>
              <a:rPr lang="es-ES" b="0" dirty="0">
                <a:latin typeface="Calibri"/>
              </a:rPr>
              <a:t> </a:t>
            </a:r>
            <a:r>
              <a:rPr lang="es-ES" b="0" dirty="0" err="1">
                <a:latin typeface="Calibri"/>
              </a:rPr>
              <a:t>process</a:t>
            </a:r>
            <a:r>
              <a:rPr lang="es-ES" b="0" dirty="0">
                <a:latin typeface="Calibri"/>
              </a:rPr>
              <a:t> </a:t>
            </a:r>
            <a:r>
              <a:rPr lang="es-ES" b="0" dirty="0" err="1">
                <a:latin typeface="Calibri"/>
              </a:rPr>
              <a:t>of</a:t>
            </a:r>
            <a:r>
              <a:rPr lang="es-ES" b="0" dirty="0">
                <a:latin typeface="Calibri"/>
              </a:rPr>
              <a:t> </a:t>
            </a:r>
            <a:r>
              <a:rPr lang="es-ES" dirty="0" err="1">
                <a:latin typeface="Calibri"/>
              </a:rPr>
              <a:t>irrational</a:t>
            </a:r>
            <a:r>
              <a:rPr lang="es-ES" dirty="0">
                <a:latin typeface="Calibri"/>
              </a:rPr>
              <a:t> </a:t>
            </a:r>
            <a:r>
              <a:rPr lang="es-ES" b="0" dirty="0" err="1">
                <a:latin typeface="Calibri"/>
              </a:rPr>
              <a:t>agents</a:t>
            </a:r>
            <a:endParaRPr lang="es-ES" b="0" dirty="0" err="1"/>
          </a:p>
          <a:p>
            <a:pPr marL="914400" lvl="1" indent="-457200">
              <a:buFont typeface="Arial"/>
              <a:buChar char="•"/>
            </a:pPr>
            <a:endParaRPr lang="es-ES" dirty="0">
              <a:ea typeface="Calibri"/>
            </a:endParaRPr>
          </a:p>
          <a:p>
            <a:pPr marL="914400" lvl="1" indent="-457200">
              <a:buFont typeface="Arial"/>
              <a:buChar char="•"/>
            </a:pPr>
            <a:r>
              <a:rPr lang="es-ES" sz="1800" dirty="0">
                <a:latin typeface="Calibri"/>
                <a:ea typeface="Calibri"/>
                <a:cs typeface="Calibri"/>
              </a:rPr>
              <a:t>Non-</a:t>
            </a:r>
            <a:r>
              <a:rPr lang="es-ES" sz="1800" dirty="0" err="1">
                <a:latin typeface="Calibri"/>
                <a:ea typeface="Calibri"/>
                <a:cs typeface="Calibri"/>
              </a:rPr>
              <a:t>perfect</a:t>
            </a:r>
            <a:r>
              <a:rPr lang="es-ES" sz="1800">
                <a:latin typeface="Calibri"/>
                <a:ea typeface="Calibri"/>
                <a:cs typeface="Calibri"/>
              </a:rPr>
              <a:t> memory</a:t>
            </a:r>
            <a:endParaRPr lang="es-ES" sz="1800" dirty="0">
              <a:latin typeface="Calibri"/>
              <a:ea typeface="Calibri"/>
              <a:cs typeface="Calibri"/>
            </a:endParaRPr>
          </a:p>
          <a:p>
            <a:pPr marL="914400" lvl="1" indent="-457200">
              <a:buFont typeface="Arial"/>
              <a:buChar char="•"/>
            </a:pPr>
            <a:r>
              <a:rPr lang="es-ES" sz="1800" dirty="0">
                <a:latin typeface="Calibri"/>
                <a:ea typeface="Calibri"/>
                <a:cs typeface="Calibri"/>
              </a:rPr>
              <a:t>Risk-</a:t>
            </a:r>
            <a:r>
              <a:rPr lang="es-ES" sz="1800" dirty="0" err="1">
                <a:latin typeface="Calibri"/>
                <a:ea typeface="Calibri"/>
                <a:cs typeface="Calibri"/>
              </a:rPr>
              <a:t>aversion</a:t>
            </a:r>
          </a:p>
          <a:p>
            <a:pPr marL="914400" lvl="1" indent="-457200">
              <a:buFont typeface="Arial"/>
              <a:buChar char="•"/>
            </a:pPr>
            <a:r>
              <a:rPr lang="es-ES" sz="1800" dirty="0" err="1">
                <a:latin typeface="Calibri"/>
                <a:ea typeface="Calibri"/>
                <a:cs typeface="Calibri"/>
              </a:rPr>
              <a:t>Waiting</a:t>
            </a:r>
            <a:r>
              <a:rPr lang="es-ES" sz="1800" dirty="0">
                <a:latin typeface="Calibri"/>
                <a:ea typeface="Calibri"/>
                <a:cs typeface="Calibri"/>
              </a:rPr>
              <a:t>-time-</a:t>
            </a:r>
            <a:r>
              <a:rPr lang="es-ES" sz="1800" dirty="0" err="1">
                <a:latin typeface="Calibri"/>
                <a:ea typeface="Calibri"/>
                <a:cs typeface="Calibri"/>
              </a:rPr>
              <a:t>aversion</a:t>
            </a:r>
            <a:endParaRPr lang="es-ES" sz="1800" dirty="0">
              <a:latin typeface="Calibri"/>
              <a:ea typeface="Calibri"/>
              <a:cs typeface="Calibri"/>
            </a:endParaRPr>
          </a:p>
          <a:p>
            <a:pPr marL="914400" lvl="1" indent="-457200">
              <a:buFont typeface="Arial"/>
              <a:buChar char="•"/>
            </a:pPr>
            <a:r>
              <a:rPr lang="es-ES" sz="1800" dirty="0" err="1">
                <a:latin typeface="Calibri"/>
                <a:ea typeface="Calibri"/>
                <a:cs typeface="Calibri"/>
              </a:rPr>
              <a:t>Nonlinear</a:t>
            </a:r>
            <a:r>
              <a:rPr lang="es-ES" sz="1800" dirty="0">
                <a:latin typeface="Calibri"/>
                <a:ea typeface="Calibri"/>
                <a:cs typeface="Calibri"/>
              </a:rPr>
              <a:t> response</a:t>
            </a:r>
          </a:p>
          <a:p>
            <a:pPr marL="457200" indent="-457200">
              <a:buAutoNum type="arabicPeriod"/>
            </a:pPr>
            <a:endParaRPr lang="es-ES" dirty="0"/>
          </a:p>
          <a:p>
            <a:pPr marL="457200" indent="-457200">
              <a:buAutoNum type="arabicPeriod"/>
            </a:pPr>
            <a:endParaRPr lang="es-ES" dirty="0"/>
          </a:p>
        </p:txBody>
      </p:sp>
      <p:sp>
        <p:nvSpPr>
          <p:cNvPr id="3" name="Título 2">
            <a:extLst>
              <a:ext uri="{FF2B5EF4-FFF2-40B4-BE49-F238E27FC236}">
                <a16:creationId xmlns:a16="http://schemas.microsoft.com/office/drawing/2014/main" id="{9538F1FC-84A9-59ED-AFFC-664FB3AB95B4}"/>
              </a:ext>
            </a:extLst>
          </p:cNvPr>
          <p:cNvSpPr>
            <a:spLocks noGrp="1"/>
          </p:cNvSpPr>
          <p:nvPr>
            <p:ph type="title"/>
          </p:nvPr>
        </p:nvSpPr>
        <p:spPr/>
        <p:txBody>
          <a:bodyPr wrap="square" lIns="0" tIns="0" rIns="0" bIns="0" anchor="t">
            <a:spAutoFit/>
          </a:bodyPr>
          <a:lstStyle/>
          <a:p>
            <a:r>
              <a:rPr lang="es-ES" dirty="0" err="1">
                <a:latin typeface="Calibri"/>
              </a:rPr>
              <a:t>Thesis</a:t>
            </a:r>
            <a:r>
              <a:rPr lang="es-ES" dirty="0">
                <a:latin typeface="Calibri"/>
              </a:rPr>
              <a:t> </a:t>
            </a:r>
            <a:r>
              <a:rPr lang="es-ES" dirty="0" err="1">
                <a:latin typeface="Calibri"/>
              </a:rPr>
              <a:t>Objectives</a:t>
            </a:r>
            <a:endParaRPr lang="es-ES" dirty="0" err="1"/>
          </a:p>
        </p:txBody>
      </p:sp>
      <p:sp>
        <p:nvSpPr>
          <p:cNvPr id="4" name="Marcador de número de diapositiva 3">
            <a:extLst>
              <a:ext uri="{FF2B5EF4-FFF2-40B4-BE49-F238E27FC236}">
                <a16:creationId xmlns:a16="http://schemas.microsoft.com/office/drawing/2014/main" id="{B500C2C5-EFF8-3D38-F814-36B766D6BAC5}"/>
              </a:ext>
            </a:extLst>
          </p:cNvPr>
          <p:cNvSpPr>
            <a:spLocks noGrp="1"/>
          </p:cNvSpPr>
          <p:nvPr>
            <p:ph type="sldNum" sz="quarter" idx="4"/>
          </p:nvPr>
        </p:nvSpPr>
        <p:spPr/>
        <p:txBody>
          <a:bodyPr/>
          <a:lstStyle/>
          <a:p>
            <a:fld id="{F577E53E-616C-4B80-8F3C-B6584B31683E}" type="slidenum">
              <a:rPr lang="en-US" smtClean="0"/>
              <a:pPr/>
              <a:t>12</a:t>
            </a:fld>
            <a:endParaRPr lang="es-ES"/>
          </a:p>
        </p:txBody>
      </p:sp>
    </p:spTree>
    <p:extLst>
      <p:ext uri="{BB962C8B-B14F-4D97-AF65-F5344CB8AC3E}">
        <p14:creationId xmlns:p14="http://schemas.microsoft.com/office/powerpoint/2010/main" val="1274887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4BA12-53CD-6224-B162-035BF3D2F52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7244D1C-3647-10F0-F3EE-725FDC6BC824}"/>
              </a:ext>
            </a:extLst>
          </p:cNvPr>
          <p:cNvSpPr>
            <a:spLocks noGrp="1"/>
          </p:cNvSpPr>
          <p:nvPr>
            <p:ph type="body" sz="quarter" idx="14"/>
          </p:nvPr>
        </p:nvSpPr>
        <p:spPr>
          <a:xfrm>
            <a:off x="223847" y="1016692"/>
            <a:ext cx="8160056" cy="1846659"/>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Thesis</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objectives</a:t>
            </a:r>
            <a:endParaRPr lang="es-ES" dirty="0" err="1">
              <a:solidFill>
                <a:schemeClr val="tx1">
                  <a:lumMod val="49000"/>
                  <a:lumOff val="51000"/>
                </a:schemeClr>
              </a:solidFill>
            </a:endParaRPr>
          </a:p>
          <a:p>
            <a:pPr marL="457200" indent="-457200">
              <a:buAutoNum type="arabicPeriod"/>
            </a:pPr>
            <a:r>
              <a:rPr lang="es-ES" dirty="0" err="1">
                <a:solidFill>
                  <a:schemeClr val="tx1"/>
                </a:solidFill>
                <a:latin typeface="Calibri"/>
              </a:rPr>
              <a:t>Methods</a:t>
            </a:r>
            <a:endParaRPr lang="es-ES" dirty="0" err="1">
              <a:solidFill>
                <a:schemeClr val="tx1"/>
              </a:solidFill>
            </a:endParaRPr>
          </a:p>
          <a:p>
            <a:pPr marL="457200" indent="-457200">
              <a:buAutoNum type="arabicPeriod"/>
            </a:pPr>
            <a:endParaRPr lang="es-ES" dirty="0"/>
          </a:p>
        </p:txBody>
      </p:sp>
      <p:sp>
        <p:nvSpPr>
          <p:cNvPr id="11" name="Título 2">
            <a:extLst>
              <a:ext uri="{FF2B5EF4-FFF2-40B4-BE49-F238E27FC236}">
                <a16:creationId xmlns:a16="http://schemas.microsoft.com/office/drawing/2014/main" id="{DC2B5DC3-D5B6-AB0A-CEC6-B977CE86DDC4}"/>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1DCA16F4-DA25-0974-DB71-3B5B8CC773F9}"/>
              </a:ext>
            </a:extLst>
          </p:cNvPr>
          <p:cNvSpPr>
            <a:spLocks noGrp="1"/>
          </p:cNvSpPr>
          <p:nvPr>
            <p:ph type="sldNum" sz="quarter" idx="4"/>
          </p:nvPr>
        </p:nvSpPr>
        <p:spPr/>
        <p:txBody>
          <a:bodyPr/>
          <a:lstStyle/>
          <a:p>
            <a:fld id="{F577E53E-616C-4B80-8F3C-B6584B31683E}" type="slidenum">
              <a:rPr lang="en-US" smtClean="0"/>
              <a:pPr/>
              <a:t>13</a:t>
            </a:fld>
            <a:endParaRPr lang="es-ES"/>
          </a:p>
        </p:txBody>
      </p:sp>
    </p:spTree>
    <p:extLst>
      <p:ext uri="{BB962C8B-B14F-4D97-AF65-F5344CB8AC3E}">
        <p14:creationId xmlns:p14="http://schemas.microsoft.com/office/powerpoint/2010/main" val="3037342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A17EA-DCDF-6143-017C-AD0E9A565B7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E5723DB7-5016-A551-5720-69537508C9B0}"/>
              </a:ext>
            </a:extLst>
          </p:cNvPr>
          <p:cNvSpPr>
            <a:spLocks noGrp="1"/>
          </p:cNvSpPr>
          <p:nvPr>
            <p:ph type="body" sz="quarter" idx="14"/>
          </p:nvPr>
        </p:nvSpPr>
        <p:spPr>
          <a:xfrm>
            <a:off x="223847" y="1016692"/>
            <a:ext cx="8160056" cy="2492990"/>
          </a:xfrm>
        </p:spPr>
        <p:txBody>
          <a:bodyPr wrap="square" lIns="0" tIns="0" rIns="0" bIns="0" anchor="t">
            <a:spAutoFit/>
          </a:bodyPr>
          <a:lstStyle/>
          <a:p>
            <a:pPr marL="457200" indent="-457200">
              <a:buAutoNum type="arabicPeriod"/>
            </a:pPr>
            <a:r>
              <a:rPr lang="es-ES" dirty="0">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of the art</a:t>
            </a:r>
            <a:endParaRPr lang="es-ES">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Thesis objectives</a:t>
            </a:r>
            <a:endParaRPr lang="es-ES" dirty="0">
              <a:solidFill>
                <a:schemeClr val="tx1">
                  <a:lumMod val="49000"/>
                  <a:lumOff val="51000"/>
                </a:schemeClr>
              </a:solidFill>
            </a:endParaRPr>
          </a:p>
          <a:p>
            <a:pPr marL="457200" indent="-457200">
              <a:buAutoNum type="arabicPeriod"/>
            </a:pPr>
            <a:r>
              <a:rPr lang="es-ES" dirty="0">
                <a:solidFill>
                  <a:schemeClr val="tx1"/>
                </a:solidFill>
                <a:latin typeface="Calibri"/>
                <a:ea typeface="Calibri"/>
                <a:cs typeface="Calibri"/>
              </a:rPr>
              <a:t>Methods</a:t>
            </a:r>
            <a:endParaRPr lang="es-ES">
              <a:solidFill>
                <a:schemeClr val="tx1"/>
              </a:solidFill>
              <a:ea typeface="Calibri"/>
              <a:cs typeface="Calibri"/>
            </a:endParaRPr>
          </a:p>
          <a:p>
            <a:pPr marL="914400" lvl="1" indent="-457200">
              <a:buFont typeface="Arial"/>
              <a:buChar char="•"/>
            </a:pPr>
            <a:r>
              <a:rPr lang="es-ES" sz="1800" b="1" dirty="0" err="1">
                <a:solidFill>
                  <a:schemeClr val="tx1"/>
                </a:solidFill>
                <a:latin typeface="Calibri"/>
                <a:ea typeface="Calibri"/>
                <a:cs typeface="Calibri"/>
              </a:rPr>
              <a:t>Traffic</a:t>
            </a:r>
            <a:r>
              <a:rPr lang="es-ES" sz="1800" b="1" dirty="0">
                <a:solidFill>
                  <a:schemeClr val="tx1"/>
                </a:solidFill>
                <a:latin typeface="Calibri"/>
                <a:ea typeface="Calibri"/>
                <a:cs typeface="Calibri"/>
              </a:rPr>
              <a:t> </a:t>
            </a:r>
            <a:r>
              <a:rPr lang="es-ES" sz="1800" b="1" dirty="0" err="1">
                <a:solidFill>
                  <a:schemeClr val="tx1"/>
                </a:solidFill>
                <a:latin typeface="Calibri"/>
                <a:ea typeface="Calibri"/>
                <a:cs typeface="Calibri"/>
              </a:rPr>
              <a:t>flow</a:t>
            </a:r>
            <a:r>
              <a:rPr lang="es-ES" sz="1800" b="1" dirty="0">
                <a:solidFill>
                  <a:schemeClr val="tx1"/>
                </a:solidFill>
                <a:latin typeface="Calibri"/>
                <a:ea typeface="Calibri"/>
                <a:cs typeface="Calibri"/>
              </a:rPr>
              <a:t> </a:t>
            </a:r>
            <a:r>
              <a:rPr lang="es-ES" sz="1800" b="1" dirty="0" err="1">
                <a:solidFill>
                  <a:schemeClr val="tx1"/>
                </a:solidFill>
                <a:latin typeface="Calibri"/>
                <a:ea typeface="Calibri"/>
                <a:cs typeface="Calibri"/>
              </a:rPr>
              <a:t>model</a:t>
            </a:r>
          </a:p>
          <a:p>
            <a:endParaRPr lang="es-ES" b="1" dirty="0">
              <a:ea typeface="Calibri"/>
            </a:endParaRPr>
          </a:p>
          <a:p>
            <a:pPr marL="457200" indent="-457200">
              <a:buAutoNum type="arabicPeriod"/>
            </a:pPr>
            <a:endParaRPr lang="es-ES" dirty="0">
              <a:ea typeface="Calibri"/>
            </a:endParaRPr>
          </a:p>
        </p:txBody>
      </p:sp>
      <p:sp>
        <p:nvSpPr>
          <p:cNvPr id="11" name="Título 2">
            <a:extLst>
              <a:ext uri="{FF2B5EF4-FFF2-40B4-BE49-F238E27FC236}">
                <a16:creationId xmlns:a16="http://schemas.microsoft.com/office/drawing/2014/main" id="{EC9FBF88-1207-0152-8704-22989A696D80}"/>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pic>
        <p:nvPicPr>
          <p:cNvPr id="4" name="Imagen 3">
            <a:extLst>
              <a:ext uri="{FF2B5EF4-FFF2-40B4-BE49-F238E27FC236}">
                <a16:creationId xmlns:a16="http://schemas.microsoft.com/office/drawing/2014/main" id="{581E9B9F-0564-4444-F3AB-4F7904E5B39A}"/>
              </a:ext>
            </a:extLst>
          </p:cNvPr>
          <p:cNvPicPr>
            <a:picLocks noChangeAspect="1"/>
          </p:cNvPicPr>
          <p:nvPr/>
        </p:nvPicPr>
        <p:blipFill>
          <a:blip r:embed="rId2"/>
          <a:stretch>
            <a:fillRect/>
          </a:stretch>
        </p:blipFill>
        <p:spPr>
          <a:xfrm>
            <a:off x="5538788" y="750094"/>
            <a:ext cx="2845594" cy="3307557"/>
          </a:xfrm>
          <a:prstGeom prst="rect">
            <a:avLst/>
          </a:prstGeom>
        </p:spPr>
      </p:pic>
      <p:sp>
        <p:nvSpPr>
          <p:cNvPr id="3" name="Marcador de número de diapositiva 2">
            <a:extLst>
              <a:ext uri="{FF2B5EF4-FFF2-40B4-BE49-F238E27FC236}">
                <a16:creationId xmlns:a16="http://schemas.microsoft.com/office/drawing/2014/main" id="{5DDD21BC-54B6-4D23-4827-61A72617A14D}"/>
              </a:ext>
            </a:extLst>
          </p:cNvPr>
          <p:cNvSpPr>
            <a:spLocks noGrp="1"/>
          </p:cNvSpPr>
          <p:nvPr>
            <p:ph type="sldNum" sz="quarter" idx="4"/>
          </p:nvPr>
        </p:nvSpPr>
        <p:spPr/>
        <p:txBody>
          <a:bodyPr/>
          <a:lstStyle/>
          <a:p>
            <a:fld id="{F577E53E-616C-4B80-8F3C-B6584B31683E}" type="slidenum">
              <a:rPr lang="en-US" smtClean="0"/>
              <a:pPr/>
              <a:t>14</a:t>
            </a:fld>
            <a:endParaRPr lang="es-ES"/>
          </a:p>
        </p:txBody>
      </p:sp>
    </p:spTree>
    <p:extLst>
      <p:ext uri="{BB962C8B-B14F-4D97-AF65-F5344CB8AC3E}">
        <p14:creationId xmlns:p14="http://schemas.microsoft.com/office/powerpoint/2010/main" val="3693114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9" name="Shape 49"/>
          <p:cNvSpPr txBox="1"/>
          <p:nvPr/>
        </p:nvSpPr>
        <p:spPr>
          <a:xfrm>
            <a:off x="91645" y="57150"/>
            <a:ext cx="9052869" cy="861774"/>
          </a:xfrm>
          <a:prstGeom prst="rect">
            <a:avLst/>
          </a:prstGeom>
          <a:noFill/>
          <a:ln>
            <a:noFill/>
          </a:ln>
        </p:spPr>
        <p:txBody>
          <a:bodyPr wrap="square" lIns="0" tIns="0" rIns="0" bIns="0" anchor="t" anchorCtr="0">
            <a:spAutoFit/>
          </a:bodyPr>
          <a:lstStyle/>
          <a:p>
            <a:r>
              <a:rPr lang="en-US" sz="2800" b="1" dirty="0">
                <a:latin typeface="Calibri"/>
                <a:ea typeface="Calibri"/>
                <a:cs typeface="Calibri"/>
                <a:sym typeface="Calibri"/>
              </a:rPr>
              <a:t>Traffic dynamics are simulated using SUMO, an open-source microscopic simulator</a:t>
            </a:r>
            <a:endParaRPr lang="es-ES" dirty="0"/>
          </a:p>
        </p:txBody>
      </p:sp>
      <p:pic>
        <p:nvPicPr>
          <p:cNvPr id="2" name="Imagen 1" descr="Diagrama&#10;&#10;El contenido generado por IA puede ser incorrecto.">
            <a:extLst>
              <a:ext uri="{FF2B5EF4-FFF2-40B4-BE49-F238E27FC236}">
                <a16:creationId xmlns:a16="http://schemas.microsoft.com/office/drawing/2014/main" id="{707C4330-027E-C6A7-A7A3-C45120596D3A}"/>
              </a:ext>
            </a:extLst>
          </p:cNvPr>
          <p:cNvPicPr>
            <a:picLocks noChangeAspect="1"/>
          </p:cNvPicPr>
          <p:nvPr/>
        </p:nvPicPr>
        <p:blipFill>
          <a:blip r:embed="rId3"/>
          <a:stretch>
            <a:fillRect/>
          </a:stretch>
        </p:blipFill>
        <p:spPr>
          <a:xfrm>
            <a:off x="5749478" y="671897"/>
            <a:ext cx="2329026" cy="3884656"/>
          </a:xfrm>
          <a:prstGeom prst="rect">
            <a:avLst/>
          </a:prstGeom>
        </p:spPr>
      </p:pic>
      <p:pic>
        <p:nvPicPr>
          <p:cNvPr id="3" name="Imagen 2" descr="Imagen que contiene Diagrama&#10;&#10;El contenido generado por IA puede ser incorrecto.">
            <a:extLst>
              <a:ext uri="{FF2B5EF4-FFF2-40B4-BE49-F238E27FC236}">
                <a16:creationId xmlns:a16="http://schemas.microsoft.com/office/drawing/2014/main" id="{537D08CB-0797-98CF-4DE3-224A6B90642C}"/>
              </a:ext>
            </a:extLst>
          </p:cNvPr>
          <p:cNvPicPr>
            <a:picLocks noChangeAspect="1"/>
          </p:cNvPicPr>
          <p:nvPr/>
        </p:nvPicPr>
        <p:blipFill>
          <a:blip r:embed="rId4"/>
          <a:stretch>
            <a:fillRect/>
          </a:stretch>
        </p:blipFill>
        <p:spPr>
          <a:xfrm>
            <a:off x="370918" y="1183352"/>
            <a:ext cx="3559474" cy="2236382"/>
          </a:xfrm>
          <a:prstGeom prst="rect">
            <a:avLst/>
          </a:prstGeom>
        </p:spPr>
      </p:pic>
      <p:sp>
        <p:nvSpPr>
          <p:cNvPr id="4" name="CuadroTexto 3">
            <a:extLst>
              <a:ext uri="{FF2B5EF4-FFF2-40B4-BE49-F238E27FC236}">
                <a16:creationId xmlns:a16="http://schemas.microsoft.com/office/drawing/2014/main" id="{4061F2B1-8707-012A-8B9C-13C8FCC59E96}"/>
              </a:ext>
            </a:extLst>
          </p:cNvPr>
          <p:cNvSpPr txBox="1"/>
          <p:nvPr/>
        </p:nvSpPr>
        <p:spPr>
          <a:xfrm>
            <a:off x="1532816" y="3534998"/>
            <a:ext cx="1231427"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s-ES" sz="1800" dirty="0">
                <a:latin typeface="Calibri"/>
              </a:rPr>
              <a:t>SUMO-GUI</a:t>
            </a:r>
            <a:endParaRPr lang="es-ES" sz="1800">
              <a:latin typeface="Calibri" panose="020F0502020204030204" pitchFamily="34" charset="0"/>
            </a:endParaRPr>
          </a:p>
        </p:txBody>
      </p:sp>
      <p:sp>
        <p:nvSpPr>
          <p:cNvPr id="5" name="CuadroTexto 4">
            <a:extLst>
              <a:ext uri="{FF2B5EF4-FFF2-40B4-BE49-F238E27FC236}">
                <a16:creationId xmlns:a16="http://schemas.microsoft.com/office/drawing/2014/main" id="{073EB96C-590F-7A72-5CF6-916E07E73620}"/>
              </a:ext>
            </a:extLst>
          </p:cNvPr>
          <p:cNvSpPr txBox="1"/>
          <p:nvPr/>
        </p:nvSpPr>
        <p:spPr>
          <a:xfrm>
            <a:off x="5917726" y="4556554"/>
            <a:ext cx="1989647"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s-ES" sz="1800" dirty="0">
                <a:latin typeface="Calibri"/>
              </a:rPr>
              <a:t>Sioux Falls </a:t>
            </a:r>
            <a:r>
              <a:rPr lang="es-ES" sz="1800" dirty="0" err="1">
                <a:latin typeface="Calibri"/>
              </a:rPr>
              <a:t>network</a:t>
            </a:r>
            <a:endParaRPr lang="es-ES" sz="1800" dirty="0" err="1">
              <a:latin typeface="Calibri" panose="020F0502020204030204" pitchFamily="34" charset="0"/>
            </a:endParaRPr>
          </a:p>
        </p:txBody>
      </p:sp>
      <p:sp>
        <p:nvSpPr>
          <p:cNvPr id="6" name="Marcador de número de diapositiva 5">
            <a:extLst>
              <a:ext uri="{FF2B5EF4-FFF2-40B4-BE49-F238E27FC236}">
                <a16:creationId xmlns:a16="http://schemas.microsoft.com/office/drawing/2014/main" id="{901C3525-197E-BC17-F185-C884BBE0CD22}"/>
              </a:ext>
            </a:extLst>
          </p:cNvPr>
          <p:cNvSpPr>
            <a:spLocks noGrp="1"/>
          </p:cNvSpPr>
          <p:nvPr>
            <p:ph type="sldNum" sz="quarter" idx="4"/>
          </p:nvPr>
        </p:nvSpPr>
        <p:spPr/>
        <p:txBody>
          <a:bodyPr/>
          <a:lstStyle/>
          <a:p>
            <a:fld id="{F577E53E-616C-4B80-8F3C-B6584B31683E}" type="slidenum">
              <a:rPr lang="en-US" smtClean="0"/>
              <a:pPr/>
              <a:t>15</a:t>
            </a:fld>
            <a:endParaRPr lang="es-ES"/>
          </a:p>
        </p:txBody>
      </p:sp>
      <p:sp>
        <p:nvSpPr>
          <p:cNvPr id="7" name="CuadroTexto 6">
            <a:extLst>
              <a:ext uri="{FF2B5EF4-FFF2-40B4-BE49-F238E27FC236}">
                <a16:creationId xmlns:a16="http://schemas.microsoft.com/office/drawing/2014/main" id="{0D1F5452-8425-4E55-9739-6864BB0DFBD2}"/>
              </a:ext>
            </a:extLst>
          </p:cNvPr>
          <p:cNvSpPr txBox="1"/>
          <p:nvPr/>
        </p:nvSpPr>
        <p:spPr>
          <a:xfrm>
            <a:off x="292894" y="3907631"/>
            <a:ext cx="5202494" cy="14388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2664"/>
              </a:lnSpc>
              <a:buFont typeface="Arial"/>
              <a:buChar char="•"/>
            </a:pPr>
            <a:r>
              <a:rPr lang="es-ES" sz="1800" i="0" u="none" strike="noStrike" baseline="0" dirty="0">
                <a:solidFill>
                  <a:srgbClr val="000000"/>
                </a:solidFill>
                <a:latin typeface="Calibri"/>
              </a:rPr>
              <a:t>Drivers: 2000</a:t>
            </a:r>
            <a:endParaRPr lang="es-ES" sz="1800" dirty="0">
              <a:latin typeface="Calibri"/>
            </a:endParaRPr>
          </a:p>
          <a:p>
            <a:pPr marL="285750" indent="-285750" algn="l" rtl="0">
              <a:lnSpc>
                <a:spcPts val="2664"/>
              </a:lnSpc>
              <a:buFont typeface="Arial"/>
              <a:buChar char="•"/>
            </a:pPr>
            <a:r>
              <a:rPr lang="es-ES" sz="1800" i="0" u="none" strike="noStrike" baseline="0" dirty="0" err="1">
                <a:solidFill>
                  <a:srgbClr val="000000"/>
                </a:solidFill>
                <a:latin typeface="Calibri"/>
              </a:rPr>
              <a:t>Simulation</a:t>
            </a:r>
            <a:r>
              <a:rPr lang="es-ES" sz="1800" i="0" u="none" strike="noStrike" baseline="0" dirty="0">
                <a:solidFill>
                  <a:srgbClr val="000000"/>
                </a:solidFill>
                <a:latin typeface="Calibri"/>
              </a:rPr>
              <a:t> time: 1 </a:t>
            </a:r>
            <a:r>
              <a:rPr lang="es-ES" sz="1800" i="0" u="none" strike="noStrike" baseline="0" dirty="0" err="1">
                <a:solidFill>
                  <a:srgbClr val="000000"/>
                </a:solidFill>
                <a:latin typeface="Calibri"/>
              </a:rPr>
              <a:t>hour</a:t>
            </a:r>
            <a:r>
              <a:rPr lang="es-ES" sz="1800" b="0" i="0" dirty="0">
                <a:latin typeface="Calibri"/>
              </a:rPr>
              <a:t>​</a:t>
            </a:r>
          </a:p>
          <a:p>
            <a:pPr marL="285750" indent="-285750">
              <a:lnSpc>
                <a:spcPts val="2664"/>
              </a:lnSpc>
              <a:buFont typeface="Arial"/>
              <a:buChar char="•"/>
            </a:pPr>
            <a:r>
              <a:rPr lang="es-ES" sz="1800" dirty="0" err="1">
                <a:latin typeface="Calibri"/>
              </a:rPr>
              <a:t>Robustness</a:t>
            </a:r>
            <a:r>
              <a:rPr lang="es-ES" sz="1800" dirty="0">
                <a:latin typeface="Calibri"/>
              </a:rPr>
              <a:t> and </a:t>
            </a:r>
            <a:r>
              <a:rPr lang="es-ES" sz="1800" dirty="0" err="1">
                <a:latin typeface="Calibri"/>
              </a:rPr>
              <a:t>reproducibity</a:t>
            </a:r>
            <a:r>
              <a:rPr lang="es-ES" sz="1800" dirty="0">
                <a:latin typeface="Calibri"/>
              </a:rPr>
              <a:t>: Seeds</a:t>
            </a:r>
          </a:p>
          <a:p>
            <a:pPr algn="ctr"/>
            <a:endParaRPr lang="es-ES" sz="2000" b="1" dirty="0">
              <a:latin typeface="Calibri" panose="020F0502020204030204" pitchFamily="34" charset="0"/>
            </a:endParaRP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A0F21-EF54-A8C4-D862-D7D177F9CC0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F2A1187-AEBB-057E-16B2-D00F4B32DD85}"/>
              </a:ext>
            </a:extLst>
          </p:cNvPr>
          <p:cNvSpPr>
            <a:spLocks noGrp="1"/>
          </p:cNvSpPr>
          <p:nvPr>
            <p:ph type="body" sz="quarter" idx="14"/>
          </p:nvPr>
        </p:nvSpPr>
        <p:spPr>
          <a:xfrm>
            <a:off x="223847" y="1016692"/>
            <a:ext cx="8160056" cy="2769989"/>
          </a:xfrm>
        </p:spPr>
        <p:txBody>
          <a:bodyPr wrap="square" lIns="0" tIns="0" rIns="0" bIns="0" anchor="t">
            <a:spAutoFit/>
          </a:bodyPr>
          <a:lstStyle/>
          <a:p>
            <a:pPr marL="457200" indent="-457200">
              <a:buAutoNum type="arabicPeriod"/>
            </a:pPr>
            <a:r>
              <a:rPr lang="es-ES" dirty="0">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of the art</a:t>
            </a:r>
            <a:endParaRPr lang="es-ES">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Thesis objectives</a:t>
            </a:r>
            <a:endParaRPr lang="es-ES" dirty="0">
              <a:solidFill>
                <a:schemeClr val="tx1">
                  <a:lumMod val="49000"/>
                  <a:lumOff val="51000"/>
                </a:schemeClr>
              </a:solidFill>
            </a:endParaRPr>
          </a:p>
          <a:p>
            <a:pPr marL="457200" indent="-457200">
              <a:buAutoNum type="arabicPeriod"/>
            </a:pPr>
            <a:r>
              <a:rPr lang="es-ES" dirty="0">
                <a:solidFill>
                  <a:schemeClr val="tx1"/>
                </a:solidFill>
                <a:latin typeface="Calibri"/>
              </a:rPr>
              <a:t>Methods</a:t>
            </a:r>
            <a:endParaRPr lang="es-ES">
              <a:solidFill>
                <a:schemeClr val="tx1"/>
              </a:solidFill>
            </a:endParaRPr>
          </a:p>
          <a:p>
            <a:pPr marL="914400" lvl="1" indent="-457200">
              <a:buFont typeface="Arial"/>
              <a:buChar char="•"/>
            </a:pPr>
            <a:r>
              <a:rPr lang="es-ES" sz="1800" b="1" dirty="0" err="1">
                <a:solidFill>
                  <a:schemeClr val="tx1">
                    <a:lumMod val="49000"/>
                    <a:lumOff val="51000"/>
                  </a:schemeClr>
                </a:solidFill>
                <a:latin typeface="Calibri"/>
              </a:rPr>
              <a:t>Traffic</a:t>
            </a:r>
            <a:r>
              <a:rPr lang="es-ES" sz="1800" b="1" dirty="0">
                <a:solidFill>
                  <a:schemeClr val="tx1">
                    <a:lumMod val="49000"/>
                    <a:lumOff val="51000"/>
                  </a:schemeClr>
                </a:solidFill>
                <a:latin typeface="Calibri"/>
              </a:rPr>
              <a:t> </a:t>
            </a:r>
            <a:r>
              <a:rPr lang="es-ES" sz="1800" b="1" dirty="0" err="1">
                <a:solidFill>
                  <a:schemeClr val="tx1">
                    <a:lumMod val="49000"/>
                    <a:lumOff val="51000"/>
                  </a:schemeClr>
                </a:solidFill>
                <a:latin typeface="Calibri"/>
              </a:rPr>
              <a:t>flow</a:t>
            </a:r>
            <a:r>
              <a:rPr lang="es-ES" sz="1800" b="1" dirty="0">
                <a:solidFill>
                  <a:schemeClr val="tx1">
                    <a:lumMod val="49000"/>
                    <a:lumOff val="51000"/>
                  </a:schemeClr>
                </a:solidFill>
                <a:latin typeface="Calibri"/>
              </a:rPr>
              <a:t> </a:t>
            </a:r>
            <a:r>
              <a:rPr lang="es-ES" sz="1800" b="1" dirty="0" err="1">
                <a:solidFill>
                  <a:schemeClr val="tx1">
                    <a:lumMod val="49000"/>
                    <a:lumOff val="51000"/>
                  </a:schemeClr>
                </a:solidFill>
                <a:latin typeface="Calibri"/>
              </a:rPr>
              <a:t>model</a:t>
            </a:r>
          </a:p>
          <a:p>
            <a:pPr marL="914400" lvl="1" indent="-457200">
              <a:buFont typeface="Arial"/>
              <a:buChar char="•"/>
            </a:pPr>
            <a:r>
              <a:rPr lang="es-ES" sz="1800" b="1" dirty="0">
                <a:solidFill>
                  <a:schemeClr val="tx1"/>
                </a:solidFill>
                <a:latin typeface="Calibri"/>
                <a:ea typeface="Calibri"/>
                <a:cs typeface="Calibri"/>
              </a:rPr>
              <a:t>Route choice model</a:t>
            </a:r>
          </a:p>
          <a:p>
            <a:endParaRPr lang="es-ES" dirty="0"/>
          </a:p>
          <a:p>
            <a:pPr marL="457200" indent="-457200">
              <a:buAutoNum type="arabicPeriod"/>
            </a:pPr>
            <a:endParaRPr lang="es-ES" dirty="0"/>
          </a:p>
        </p:txBody>
      </p:sp>
      <p:sp>
        <p:nvSpPr>
          <p:cNvPr id="11" name="Título 2">
            <a:extLst>
              <a:ext uri="{FF2B5EF4-FFF2-40B4-BE49-F238E27FC236}">
                <a16:creationId xmlns:a16="http://schemas.microsoft.com/office/drawing/2014/main" id="{8290C8CF-E78C-3D01-B69B-43D2CC85C198}"/>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pic>
        <p:nvPicPr>
          <p:cNvPr id="3" name="Imagen 2">
            <a:extLst>
              <a:ext uri="{FF2B5EF4-FFF2-40B4-BE49-F238E27FC236}">
                <a16:creationId xmlns:a16="http://schemas.microsoft.com/office/drawing/2014/main" id="{188343AE-2862-34D4-F02A-BC791FFD5D28}"/>
              </a:ext>
            </a:extLst>
          </p:cNvPr>
          <p:cNvPicPr>
            <a:picLocks noChangeAspect="1"/>
          </p:cNvPicPr>
          <p:nvPr/>
        </p:nvPicPr>
        <p:blipFill>
          <a:blip r:embed="rId2"/>
          <a:stretch>
            <a:fillRect/>
          </a:stretch>
        </p:blipFill>
        <p:spPr>
          <a:xfrm>
            <a:off x="5448429" y="888914"/>
            <a:ext cx="2934988" cy="3365672"/>
          </a:xfrm>
          <a:prstGeom prst="rect">
            <a:avLst/>
          </a:prstGeom>
        </p:spPr>
      </p:pic>
      <p:sp>
        <p:nvSpPr>
          <p:cNvPr id="4" name="Marcador de número de diapositiva 3">
            <a:extLst>
              <a:ext uri="{FF2B5EF4-FFF2-40B4-BE49-F238E27FC236}">
                <a16:creationId xmlns:a16="http://schemas.microsoft.com/office/drawing/2014/main" id="{B4E8F18F-8A86-9861-BED5-37B49DF4AC05}"/>
              </a:ext>
            </a:extLst>
          </p:cNvPr>
          <p:cNvSpPr>
            <a:spLocks noGrp="1"/>
          </p:cNvSpPr>
          <p:nvPr>
            <p:ph type="sldNum" sz="quarter" idx="4"/>
          </p:nvPr>
        </p:nvSpPr>
        <p:spPr/>
        <p:txBody>
          <a:bodyPr/>
          <a:lstStyle/>
          <a:p>
            <a:fld id="{F577E53E-616C-4B80-8F3C-B6584B31683E}" type="slidenum">
              <a:rPr lang="en-US" smtClean="0"/>
              <a:pPr/>
              <a:t>16</a:t>
            </a:fld>
            <a:endParaRPr lang="es-ES"/>
          </a:p>
        </p:txBody>
      </p:sp>
    </p:spTree>
    <p:extLst>
      <p:ext uri="{BB962C8B-B14F-4D97-AF65-F5344CB8AC3E}">
        <p14:creationId xmlns:p14="http://schemas.microsoft.com/office/powerpoint/2010/main" val="4249279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8E7D9BA-A22E-C2E6-141C-F5CE104CA9A9}"/>
            </a:ext>
          </a:extLst>
        </p:cNvPr>
        <p:cNvGrpSpPr/>
        <p:nvPr/>
      </p:nvGrpSpPr>
      <p:grpSpPr>
        <a:xfrm>
          <a:off x="0" y="0"/>
          <a:ext cx="0" cy="0"/>
          <a:chOff x="0" y="0"/>
          <a:chExt cx="0" cy="0"/>
        </a:xfrm>
      </p:grpSpPr>
      <p:sp>
        <p:nvSpPr>
          <p:cNvPr id="125" name="Shape 125">
            <a:extLst>
              <a:ext uri="{FF2B5EF4-FFF2-40B4-BE49-F238E27FC236}">
                <a16:creationId xmlns:a16="http://schemas.microsoft.com/office/drawing/2014/main" id="{CAB7D917-724D-DCB2-D57F-553514CAFDB5}"/>
              </a:ext>
            </a:extLst>
          </p:cNvPr>
          <p:cNvSpPr txBox="1"/>
          <p:nvPr/>
        </p:nvSpPr>
        <p:spPr>
          <a:xfrm>
            <a:off x="1447800" y="1828800"/>
            <a:ext cx="1219199" cy="2751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sp>
        <p:nvSpPr>
          <p:cNvPr id="163" name="Shape 163">
            <a:extLst>
              <a:ext uri="{FF2B5EF4-FFF2-40B4-BE49-F238E27FC236}">
                <a16:creationId xmlns:a16="http://schemas.microsoft.com/office/drawing/2014/main" id="{36C85B1C-407C-C01E-9192-722914950BE7}"/>
              </a:ext>
            </a:extLst>
          </p:cNvPr>
          <p:cNvSpPr txBox="1"/>
          <p:nvPr/>
        </p:nvSpPr>
        <p:spPr>
          <a:xfrm>
            <a:off x="76200" y="57150"/>
            <a:ext cx="9021899" cy="738664"/>
          </a:xfrm>
          <a:prstGeom prst="rect">
            <a:avLst/>
          </a:prstGeom>
          <a:noFill/>
          <a:ln>
            <a:noFill/>
          </a:ln>
        </p:spPr>
        <p:txBody>
          <a:bodyPr lIns="0" tIns="0" rIns="0" bIns="0" anchor="t" anchorCtr="0">
            <a:spAutoFit/>
          </a:bodyPr>
          <a:lstStyle/>
          <a:p>
            <a:r>
              <a:rPr lang="en-US" sz="2400" b="1" dirty="0">
                <a:latin typeface="Calibri"/>
                <a:ea typeface="Calibri"/>
                <a:cs typeface="Calibri"/>
                <a:sym typeface="Calibri"/>
              </a:rPr>
              <a:t>Each driver is modelled as a Bush–Mosteller RL agent that learns over time to take better decisions by using its own past experiences</a:t>
            </a:r>
            <a:endParaRPr lang="en-US" sz="2400" b="1" dirty="0">
              <a:latin typeface="Calibri"/>
              <a:ea typeface="Calibri"/>
              <a:cs typeface="Calibri"/>
            </a:endParaRPr>
          </a:p>
        </p:txBody>
      </p:sp>
      <p:sp>
        <p:nvSpPr>
          <p:cNvPr id="3" name="Marcador de número de diapositiva 2">
            <a:extLst>
              <a:ext uri="{FF2B5EF4-FFF2-40B4-BE49-F238E27FC236}">
                <a16:creationId xmlns:a16="http://schemas.microsoft.com/office/drawing/2014/main" id="{B8580807-4E21-1048-3EA4-4DB9D80ACD44}"/>
              </a:ext>
            </a:extLst>
          </p:cNvPr>
          <p:cNvSpPr>
            <a:spLocks noGrp="1"/>
          </p:cNvSpPr>
          <p:nvPr>
            <p:ph type="sldNum" sz="quarter" idx="4"/>
          </p:nvPr>
        </p:nvSpPr>
        <p:spPr/>
        <p:txBody>
          <a:bodyPr/>
          <a:lstStyle/>
          <a:p>
            <a:fld id="{F577E53E-616C-4B80-8F3C-B6584B31683E}" type="slidenum">
              <a:rPr lang="en-US" smtClean="0"/>
              <a:pPr/>
              <a:t>17</a:t>
            </a:fld>
            <a:endParaRPr lang="es-ES"/>
          </a:p>
        </p:txBody>
      </p:sp>
      <p:sp>
        <p:nvSpPr>
          <p:cNvPr id="15" name="Shape 159">
            <a:extLst>
              <a:ext uri="{FF2B5EF4-FFF2-40B4-BE49-F238E27FC236}">
                <a16:creationId xmlns:a16="http://schemas.microsoft.com/office/drawing/2014/main" id="{1EEA6036-4234-3626-DC42-CDE783D05180}"/>
              </a:ext>
            </a:extLst>
          </p:cNvPr>
          <p:cNvSpPr txBox="1"/>
          <p:nvPr/>
        </p:nvSpPr>
        <p:spPr>
          <a:xfrm>
            <a:off x="295738" y="2659788"/>
            <a:ext cx="8430273" cy="455129"/>
          </a:xfrm>
          <a:prstGeom prst="rect">
            <a:avLst/>
          </a:prstGeom>
          <a:noFill/>
          <a:ln>
            <a:noFill/>
          </a:ln>
        </p:spPr>
        <p:txBody>
          <a:bodyPr lIns="91425" tIns="45700" rIns="91425" bIns="45700" anchor="t" anchorCtr="0">
            <a:noAutofit/>
          </a:bodyPr>
          <a:lstStyle/>
          <a:p>
            <a:r>
              <a:rPr lang="en-US" sz="1800" b="1" dirty="0">
                <a:solidFill>
                  <a:srgbClr val="262626"/>
                </a:solidFill>
                <a:latin typeface="Calibri"/>
                <a:ea typeface="Calibri"/>
                <a:cs typeface="Calibri"/>
              </a:rPr>
              <a:t>At day t, if the chosen route resulted in a positive stimulus             , it will be reinforced</a:t>
            </a:r>
          </a:p>
        </p:txBody>
      </p:sp>
      <p:sp>
        <p:nvSpPr>
          <p:cNvPr id="16" name="Shape 159">
            <a:extLst>
              <a:ext uri="{FF2B5EF4-FFF2-40B4-BE49-F238E27FC236}">
                <a16:creationId xmlns:a16="http://schemas.microsoft.com/office/drawing/2014/main" id="{4C59CA3B-70F3-9BCB-8E4B-2E34DCDFF811}"/>
              </a:ext>
            </a:extLst>
          </p:cNvPr>
          <p:cNvSpPr txBox="1"/>
          <p:nvPr/>
        </p:nvSpPr>
        <p:spPr>
          <a:xfrm>
            <a:off x="288594" y="1225247"/>
            <a:ext cx="8111315" cy="3148322"/>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342900" indent="-342900">
              <a:buAutoNum type="arabicPeriod"/>
            </a:pPr>
            <a:r>
              <a:rPr lang="en-US" sz="1800" b="1" dirty="0">
                <a:solidFill>
                  <a:srgbClr val="262626"/>
                </a:solidFill>
                <a:latin typeface="Calibri"/>
                <a:ea typeface="Calibri"/>
                <a:cs typeface="Calibri"/>
              </a:rPr>
              <a:t>Basic concepts</a:t>
            </a:r>
            <a:endParaRPr lang="es-ES" dirty="0"/>
          </a:p>
          <a:p>
            <a:r>
              <a:rPr lang="en-US" sz="1800" b="1" dirty="0">
                <a:solidFill>
                  <a:srgbClr val="262626"/>
                </a:solidFill>
                <a:latin typeface="Calibri"/>
                <a:ea typeface="Calibri"/>
                <a:cs typeface="Calibri"/>
              </a:rPr>
              <a:t>An agent </a:t>
            </a:r>
            <a:r>
              <a:rPr lang="en-US" sz="1800" b="1" i="1" dirty="0" err="1">
                <a:solidFill>
                  <a:srgbClr val="262626"/>
                </a:solidFill>
                <a:latin typeface="Calibri"/>
                <a:ea typeface="Calibri"/>
                <a:cs typeface="Calibri"/>
              </a:rPr>
              <a:t>i</a:t>
            </a:r>
            <a:r>
              <a:rPr lang="en-US" sz="1800" b="1" dirty="0">
                <a:solidFill>
                  <a:srgbClr val="262626"/>
                </a:solidFill>
                <a:latin typeface="Calibri"/>
                <a:ea typeface="Calibri"/>
                <a:cs typeface="Calibri"/>
              </a:rPr>
              <a:t> has assigned a particular origin and destination, a set of feasible routes, a probability distribution over routes.</a:t>
            </a:r>
          </a:p>
          <a:p>
            <a:endParaRPr lang="en-US" sz="1800" b="1" dirty="0">
              <a:solidFill>
                <a:srgbClr val="262626"/>
              </a:solidFill>
              <a:latin typeface="Calibri"/>
              <a:ea typeface="Calibri"/>
              <a:cs typeface="Calibri"/>
            </a:endParaRPr>
          </a:p>
          <a:p>
            <a:r>
              <a:rPr lang="en-US" sz="1800" b="1" dirty="0">
                <a:solidFill>
                  <a:srgbClr val="262626"/>
                </a:solidFill>
                <a:latin typeface="Calibri"/>
                <a:ea typeface="Calibri"/>
                <a:cs typeface="Calibri"/>
              </a:rPr>
              <a:t>2. </a:t>
            </a:r>
            <a:r>
              <a:rPr lang="en-US" sz="1800" b="1" dirty="0">
                <a:solidFill>
                  <a:srgbClr val="262626"/>
                </a:solidFill>
                <a:latin typeface="Calibri"/>
                <a:ea typeface="Calibri"/>
                <a:cs typeface="Calibri"/>
                <a:sym typeface="Calibri"/>
              </a:rPr>
              <a:t>  Probability update</a:t>
            </a:r>
            <a:endParaRPr lang="en-US" sz="1800" b="1" dirty="0">
              <a:solidFill>
                <a:srgbClr val="262626"/>
              </a:solidFill>
              <a:latin typeface="Calibri"/>
              <a:ea typeface="Calibri"/>
              <a:cs typeface="Calibri"/>
            </a:endParaRPr>
          </a:p>
          <a:p>
            <a:pPr marL="342900" indent="-342900">
              <a:buAutoNum type="arabicPeriod"/>
            </a:pPr>
            <a:endParaRPr lang="en-US" sz="1800" b="1" dirty="0">
              <a:solidFill>
                <a:srgbClr val="262626"/>
              </a:solidFill>
              <a:latin typeface="Calibri"/>
              <a:ea typeface="Calibri"/>
              <a:cs typeface="Calibri"/>
            </a:endParaRPr>
          </a:p>
          <a:p>
            <a:pPr marL="342900" indent="-342900">
              <a:buAutoNum type="arabicPeriod"/>
            </a:pPr>
            <a:endParaRPr lang="en-US" sz="1800" b="1" dirty="0">
              <a:solidFill>
                <a:srgbClr val="262626"/>
              </a:solidFill>
              <a:latin typeface="Calibri"/>
              <a:ea typeface="Calibri"/>
              <a:cs typeface="Calibri"/>
            </a:endParaRPr>
          </a:p>
          <a:p>
            <a:r>
              <a:rPr lang="en-US" sz="1800" b="1" dirty="0">
                <a:solidFill>
                  <a:srgbClr val="262626"/>
                </a:solidFill>
                <a:latin typeface="Calibri"/>
                <a:ea typeface="Calibri"/>
                <a:cs typeface="Calibri"/>
              </a:rPr>
              <a:t>3.   Stimulus</a:t>
            </a:r>
          </a:p>
          <a:p>
            <a:pPr marL="342900" indent="-342900">
              <a:buAutoNum type="arabicPeriod"/>
            </a:pPr>
            <a:endParaRPr lang="en-US" sz="1800" b="1" dirty="0">
              <a:solidFill>
                <a:srgbClr val="262626"/>
              </a:solidFill>
              <a:latin typeface="Calibri"/>
              <a:ea typeface="Calibri"/>
              <a:cs typeface="Calibri"/>
            </a:endParaRPr>
          </a:p>
          <a:p>
            <a:pPr marL="342900" indent="-342900">
              <a:buAutoNum type="arabicPeriod"/>
            </a:pPr>
            <a:endParaRPr lang="en-US" sz="1800" b="1" dirty="0">
              <a:solidFill>
                <a:srgbClr val="262626"/>
              </a:solidFill>
              <a:latin typeface="Calibri"/>
              <a:ea typeface="Calibri"/>
              <a:cs typeface="Calibri"/>
            </a:endParaRPr>
          </a:p>
        </p:txBody>
      </p:sp>
      <p:sp>
        <p:nvSpPr>
          <p:cNvPr id="19" name="Shape 159">
            <a:extLst>
              <a:ext uri="{FF2B5EF4-FFF2-40B4-BE49-F238E27FC236}">
                <a16:creationId xmlns:a16="http://schemas.microsoft.com/office/drawing/2014/main" id="{FA88DAF3-E8CD-796F-6A39-C57FF87354FC}"/>
              </a:ext>
            </a:extLst>
          </p:cNvPr>
          <p:cNvSpPr txBox="1"/>
          <p:nvPr/>
        </p:nvSpPr>
        <p:spPr>
          <a:xfrm>
            <a:off x="293806" y="3450233"/>
            <a:ext cx="8592068" cy="1009638"/>
          </a:xfrm>
          <a:prstGeom prst="rect">
            <a:avLst/>
          </a:prstGeom>
          <a:noFill/>
          <a:ln>
            <a:noFill/>
          </a:ln>
        </p:spPr>
        <p:txBody>
          <a:bodyPr lIns="91425" tIns="45700" rIns="91425" bIns="45700" anchor="t" anchorCtr="0">
            <a:noAutofit/>
          </a:bodyPr>
          <a:lstStyle/>
          <a:p>
            <a:r>
              <a:rPr lang="en-US" sz="1800" b="1" dirty="0">
                <a:solidFill>
                  <a:srgbClr val="262626"/>
                </a:solidFill>
                <a:latin typeface="Calibri"/>
                <a:ea typeface="Calibri"/>
                <a:cs typeface="Calibri"/>
              </a:rPr>
              <a:t>It is a normalized version of the difference between the baseline       and the perceived travel time of the chosen route           </a:t>
            </a:r>
            <a:endParaRPr lang="en-US" sz="1800" dirty="0">
              <a:solidFill>
                <a:srgbClr val="262626"/>
              </a:solidFill>
              <a:latin typeface="Calibri"/>
              <a:ea typeface="Calibri"/>
              <a:cs typeface="Calibri"/>
            </a:endParaRPr>
          </a:p>
        </p:txBody>
      </p:sp>
      <p:pic>
        <p:nvPicPr>
          <p:cNvPr id="20" name="Imagen 19">
            <a:extLst>
              <a:ext uri="{FF2B5EF4-FFF2-40B4-BE49-F238E27FC236}">
                <a16:creationId xmlns:a16="http://schemas.microsoft.com/office/drawing/2014/main" id="{D161EC5C-4295-4FFC-DADF-3DEA7EC67B2E}"/>
              </a:ext>
            </a:extLst>
          </p:cNvPr>
          <p:cNvPicPr>
            <a:picLocks noChangeAspect="1"/>
          </p:cNvPicPr>
          <p:nvPr/>
        </p:nvPicPr>
        <p:blipFill>
          <a:blip r:embed="rId3"/>
          <a:stretch>
            <a:fillRect/>
          </a:stretch>
        </p:blipFill>
        <p:spPr>
          <a:xfrm>
            <a:off x="4433889" y="3824286"/>
            <a:ext cx="3426621" cy="1266826"/>
          </a:xfrm>
          <a:prstGeom prst="rect">
            <a:avLst/>
          </a:prstGeom>
        </p:spPr>
      </p:pic>
      <p:pic>
        <p:nvPicPr>
          <p:cNvPr id="21" name="Imagen 20">
            <a:extLst>
              <a:ext uri="{FF2B5EF4-FFF2-40B4-BE49-F238E27FC236}">
                <a16:creationId xmlns:a16="http://schemas.microsoft.com/office/drawing/2014/main" id="{5B40BDC8-F84B-95D3-ABFD-0DF8A86DDB2E}"/>
              </a:ext>
            </a:extLst>
          </p:cNvPr>
          <p:cNvPicPr>
            <a:picLocks noChangeAspect="1"/>
          </p:cNvPicPr>
          <p:nvPr/>
        </p:nvPicPr>
        <p:blipFill>
          <a:blip r:embed="rId4"/>
          <a:srcRect l="16483" r="1099"/>
          <a:stretch>
            <a:fillRect/>
          </a:stretch>
        </p:blipFill>
        <p:spPr>
          <a:xfrm>
            <a:off x="6026944" y="2536031"/>
            <a:ext cx="505245" cy="700088"/>
          </a:xfrm>
          <a:prstGeom prst="rect">
            <a:avLst/>
          </a:prstGeom>
        </p:spPr>
      </p:pic>
      <p:pic>
        <p:nvPicPr>
          <p:cNvPr id="22" name="Imagen 21">
            <a:extLst>
              <a:ext uri="{FF2B5EF4-FFF2-40B4-BE49-F238E27FC236}">
                <a16:creationId xmlns:a16="http://schemas.microsoft.com/office/drawing/2014/main" id="{78A95FC9-6882-2318-2366-384270303CC2}"/>
              </a:ext>
            </a:extLst>
          </p:cNvPr>
          <p:cNvPicPr>
            <a:picLocks noChangeAspect="1"/>
          </p:cNvPicPr>
          <p:nvPr/>
        </p:nvPicPr>
        <p:blipFill>
          <a:blip r:embed="rId3"/>
          <a:srcRect l="66622" t="15206" r="27419" b="55755"/>
          <a:stretch>
            <a:fillRect/>
          </a:stretch>
        </p:blipFill>
        <p:spPr>
          <a:xfrm>
            <a:off x="6527396" y="3486804"/>
            <a:ext cx="263795" cy="461229"/>
          </a:xfrm>
          <a:prstGeom prst="rect">
            <a:avLst/>
          </a:prstGeom>
        </p:spPr>
      </p:pic>
      <p:pic>
        <p:nvPicPr>
          <p:cNvPr id="23" name="Imagen 22">
            <a:extLst>
              <a:ext uri="{FF2B5EF4-FFF2-40B4-BE49-F238E27FC236}">
                <a16:creationId xmlns:a16="http://schemas.microsoft.com/office/drawing/2014/main" id="{491E7FF5-0338-F353-C2B1-56767110F884}"/>
              </a:ext>
            </a:extLst>
          </p:cNvPr>
          <p:cNvPicPr>
            <a:picLocks noChangeAspect="1"/>
          </p:cNvPicPr>
          <p:nvPr/>
        </p:nvPicPr>
        <p:blipFill>
          <a:blip r:embed="rId3"/>
          <a:srcRect l="76575" t="12613" r="13086" b="60360"/>
          <a:stretch>
            <a:fillRect/>
          </a:stretch>
        </p:blipFill>
        <p:spPr>
          <a:xfrm>
            <a:off x="3448050" y="3738564"/>
            <a:ext cx="457700" cy="429277"/>
          </a:xfrm>
          <a:prstGeom prst="rect">
            <a:avLst/>
          </a:prstGeom>
        </p:spPr>
      </p:pic>
    </p:spTree>
    <p:extLst>
      <p:ext uri="{BB962C8B-B14F-4D97-AF65-F5344CB8AC3E}">
        <p14:creationId xmlns:p14="http://schemas.microsoft.com/office/powerpoint/2010/main" val="2375659520"/>
      </p:ext>
    </p:extLst>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59">
            <a:extLst>
              <a:ext uri="{FF2B5EF4-FFF2-40B4-BE49-F238E27FC236}">
                <a16:creationId xmlns:a16="http://schemas.microsoft.com/office/drawing/2014/main" id="{E60ECE5F-3376-444A-D79B-0E37DFA1EF06}"/>
              </a:ext>
            </a:extLst>
          </p:cNvPr>
          <p:cNvSpPr txBox="1"/>
          <p:nvPr/>
        </p:nvSpPr>
        <p:spPr>
          <a:xfrm>
            <a:off x="72350" y="1738053"/>
            <a:ext cx="4259868" cy="2169629"/>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sz="1800" b="1" dirty="0">
                <a:solidFill>
                  <a:schemeClr val="tx1">
                    <a:lumMod val="85000"/>
                    <a:lumOff val="15000"/>
                  </a:schemeClr>
                </a:solidFill>
                <a:latin typeface="Calibri"/>
                <a:ea typeface="Calibri"/>
                <a:cs typeface="Calibri"/>
              </a:rPr>
              <a:t>4.1 Baseline travel time (route-agnostic)</a:t>
            </a: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r>
              <a:rPr lang="en-US" sz="1800" b="1" dirty="0">
                <a:solidFill>
                  <a:schemeClr val="tx1">
                    <a:lumMod val="85000"/>
                    <a:lumOff val="15000"/>
                  </a:schemeClr>
                </a:solidFill>
                <a:latin typeface="Calibri"/>
                <a:ea typeface="Calibri"/>
                <a:cs typeface="Calibri"/>
              </a:rPr>
              <a:t>4.2 Perceived travel time (route-specific)</a:t>
            </a:r>
          </a:p>
        </p:txBody>
      </p:sp>
      <p:sp>
        <p:nvSpPr>
          <p:cNvPr id="17" name="Shape 159">
            <a:extLst>
              <a:ext uri="{FF2B5EF4-FFF2-40B4-BE49-F238E27FC236}">
                <a16:creationId xmlns:a16="http://schemas.microsoft.com/office/drawing/2014/main" id="{1AC7A691-22F8-87A8-2E65-F5CD0C2E1A9B}"/>
              </a:ext>
            </a:extLst>
          </p:cNvPr>
          <p:cNvSpPr txBox="1"/>
          <p:nvPr/>
        </p:nvSpPr>
        <p:spPr>
          <a:xfrm>
            <a:off x="4836457" y="1807557"/>
            <a:ext cx="3796490" cy="2169629"/>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sz="1800" b="1" dirty="0">
                <a:solidFill>
                  <a:schemeClr val="tx1">
                    <a:lumMod val="85000"/>
                    <a:lumOff val="15000"/>
                  </a:schemeClr>
                </a:solidFill>
                <a:latin typeface="Calibri"/>
                <a:ea typeface="Calibri"/>
                <a:cs typeface="Calibri"/>
              </a:rPr>
              <a:t>5.1 Baseline cost</a:t>
            </a:r>
            <a:endParaRPr lang="es-ES" dirty="0">
              <a:solidFill>
                <a:schemeClr val="tx1">
                  <a:lumMod val="85000"/>
                  <a:lumOff val="15000"/>
                </a:schemeClr>
              </a:solidFill>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r>
              <a:rPr lang="en-US" sz="1800" b="1" dirty="0">
                <a:solidFill>
                  <a:schemeClr val="tx1">
                    <a:lumMod val="85000"/>
                    <a:lumOff val="15000"/>
                  </a:schemeClr>
                </a:solidFill>
                <a:latin typeface="Calibri"/>
                <a:ea typeface="Calibri"/>
                <a:cs typeface="Calibri"/>
              </a:rPr>
              <a:t>5.2 Perceived cost</a:t>
            </a:r>
          </a:p>
        </p:txBody>
      </p:sp>
      <p:sp>
        <p:nvSpPr>
          <p:cNvPr id="18" name="Shape 159">
            <a:extLst>
              <a:ext uri="{FF2B5EF4-FFF2-40B4-BE49-F238E27FC236}">
                <a16:creationId xmlns:a16="http://schemas.microsoft.com/office/drawing/2014/main" id="{256F9C47-70F2-A5A5-286B-B04D9299FB2F}"/>
              </a:ext>
            </a:extLst>
          </p:cNvPr>
          <p:cNvSpPr txBox="1"/>
          <p:nvPr/>
        </p:nvSpPr>
        <p:spPr>
          <a:xfrm>
            <a:off x="4227551" y="1133246"/>
            <a:ext cx="4754620" cy="2564705"/>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sz="1800" b="1" dirty="0">
                <a:solidFill>
                  <a:schemeClr val="tx1">
                    <a:lumMod val="85000"/>
                    <a:lumOff val="15000"/>
                  </a:schemeClr>
                </a:solidFill>
                <a:latin typeface="Calibri"/>
                <a:ea typeface="Calibri"/>
                <a:cs typeface="Calibri"/>
              </a:rPr>
              <a:t>5. Proposed extensions of the Bush-Mosteller Model (risk-aversion and waiting-time aversion)</a:t>
            </a:r>
            <a:endParaRPr lang="en-US" dirty="0">
              <a:solidFill>
                <a:schemeClr val="tx1">
                  <a:lumMod val="85000"/>
                  <a:lumOff val="15000"/>
                </a:schemeClr>
              </a:solidFill>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p:txBody>
      </p:sp>
      <p:sp>
        <p:nvSpPr>
          <p:cNvPr id="3" name="Título 2">
            <a:extLst>
              <a:ext uri="{FF2B5EF4-FFF2-40B4-BE49-F238E27FC236}">
                <a16:creationId xmlns:a16="http://schemas.microsoft.com/office/drawing/2014/main" id="{A99ABDF3-A1E0-6E55-0F47-D5DC5D2CE074}"/>
              </a:ext>
            </a:extLst>
          </p:cNvPr>
          <p:cNvSpPr>
            <a:spLocks noGrp="1"/>
          </p:cNvSpPr>
          <p:nvPr>
            <p:ph type="title"/>
          </p:nvPr>
        </p:nvSpPr>
        <p:spPr>
          <a:xfrm>
            <a:off x="73152" y="73152"/>
            <a:ext cx="8863030" cy="861774"/>
          </a:xfrm>
        </p:spPr>
        <p:txBody>
          <a:bodyPr wrap="square" lIns="0" tIns="0" rIns="0" bIns="0" anchor="t">
            <a:spAutoFit/>
          </a:bodyPr>
          <a:lstStyle/>
          <a:p>
            <a:r>
              <a:rPr lang="en-US" dirty="0">
                <a:latin typeface="Calibri"/>
                <a:ea typeface="Calibri"/>
                <a:cs typeface="Calibri"/>
              </a:rPr>
              <a:t>The original Bush–Mosteller model can be extended to represent "irrational" drivers</a:t>
            </a:r>
            <a:endParaRPr lang="es-ES" dirty="0">
              <a:ea typeface="Calibri"/>
              <a:cs typeface="Calibri"/>
            </a:endParaRPr>
          </a:p>
        </p:txBody>
      </p:sp>
      <p:pic>
        <p:nvPicPr>
          <p:cNvPr id="8" name="Imagen 7" descr="Imagen que contiene objeto, naranja, reloj&#10;&#10;El contenido generado por IA puede ser incorrecto.">
            <a:extLst>
              <a:ext uri="{FF2B5EF4-FFF2-40B4-BE49-F238E27FC236}">
                <a16:creationId xmlns:a16="http://schemas.microsoft.com/office/drawing/2014/main" id="{E9EDC7D8-479A-6A3E-1E81-7CF32ABBC049}"/>
              </a:ext>
            </a:extLst>
          </p:cNvPr>
          <p:cNvPicPr>
            <a:picLocks noChangeAspect="1"/>
          </p:cNvPicPr>
          <p:nvPr/>
        </p:nvPicPr>
        <p:blipFill>
          <a:blip r:embed="rId2"/>
          <a:srcRect l="6793" t="13605" r="10962" b="4150"/>
          <a:stretch>
            <a:fillRect/>
          </a:stretch>
        </p:blipFill>
        <p:spPr>
          <a:xfrm>
            <a:off x="535330" y="2159730"/>
            <a:ext cx="2341449" cy="931799"/>
          </a:xfrm>
          <a:prstGeom prst="rect">
            <a:avLst/>
          </a:prstGeom>
        </p:spPr>
      </p:pic>
      <p:pic>
        <p:nvPicPr>
          <p:cNvPr id="10" name="Imagen 9" descr="Texto, Carta">
            <a:extLst>
              <a:ext uri="{FF2B5EF4-FFF2-40B4-BE49-F238E27FC236}">
                <a16:creationId xmlns:a16="http://schemas.microsoft.com/office/drawing/2014/main" id="{4CD2D422-5074-0463-FF8D-07BBC50C1526}"/>
              </a:ext>
            </a:extLst>
          </p:cNvPr>
          <p:cNvPicPr>
            <a:picLocks noChangeAspect="1"/>
          </p:cNvPicPr>
          <p:nvPr/>
        </p:nvPicPr>
        <p:blipFill>
          <a:blip r:embed="rId3"/>
          <a:srcRect l="4146" t="13488" r="13962" b="15296"/>
          <a:stretch>
            <a:fillRect/>
          </a:stretch>
        </p:blipFill>
        <p:spPr>
          <a:xfrm>
            <a:off x="535330" y="3518195"/>
            <a:ext cx="2339505" cy="791811"/>
          </a:xfrm>
          <a:prstGeom prst="rect">
            <a:avLst/>
          </a:prstGeom>
        </p:spPr>
      </p:pic>
      <p:pic>
        <p:nvPicPr>
          <p:cNvPr id="15" name="Imagen 14">
            <a:extLst>
              <a:ext uri="{FF2B5EF4-FFF2-40B4-BE49-F238E27FC236}">
                <a16:creationId xmlns:a16="http://schemas.microsoft.com/office/drawing/2014/main" id="{B4A64B35-DCB6-5597-0A7A-F025D01DE4E4}"/>
              </a:ext>
            </a:extLst>
          </p:cNvPr>
          <p:cNvPicPr>
            <a:picLocks noChangeAspect="1"/>
          </p:cNvPicPr>
          <p:nvPr/>
        </p:nvPicPr>
        <p:blipFill>
          <a:blip r:embed="rId4"/>
          <a:stretch>
            <a:fillRect/>
          </a:stretch>
        </p:blipFill>
        <p:spPr>
          <a:xfrm>
            <a:off x="4832072" y="2248898"/>
            <a:ext cx="3138616" cy="538548"/>
          </a:xfrm>
          <a:prstGeom prst="rect">
            <a:avLst/>
          </a:prstGeom>
        </p:spPr>
      </p:pic>
      <p:pic>
        <p:nvPicPr>
          <p:cNvPr id="16" name="Imagen 15">
            <a:extLst>
              <a:ext uri="{FF2B5EF4-FFF2-40B4-BE49-F238E27FC236}">
                <a16:creationId xmlns:a16="http://schemas.microsoft.com/office/drawing/2014/main" id="{2E31F581-CA6C-4A6F-2265-14C9FBF90D01}"/>
              </a:ext>
            </a:extLst>
          </p:cNvPr>
          <p:cNvPicPr>
            <a:picLocks noChangeAspect="1"/>
          </p:cNvPicPr>
          <p:nvPr/>
        </p:nvPicPr>
        <p:blipFill>
          <a:blip r:embed="rId5"/>
          <a:stretch>
            <a:fillRect/>
          </a:stretch>
        </p:blipFill>
        <p:spPr>
          <a:xfrm>
            <a:off x="4900708" y="3429531"/>
            <a:ext cx="3413554" cy="531340"/>
          </a:xfrm>
          <a:prstGeom prst="rect">
            <a:avLst/>
          </a:prstGeom>
        </p:spPr>
      </p:pic>
      <p:sp>
        <p:nvSpPr>
          <p:cNvPr id="19" name="Rectángulo 18">
            <a:extLst>
              <a:ext uri="{FF2B5EF4-FFF2-40B4-BE49-F238E27FC236}">
                <a16:creationId xmlns:a16="http://schemas.microsoft.com/office/drawing/2014/main" id="{290E00B1-CBEA-AABA-09EA-C57001320F99}"/>
              </a:ext>
            </a:extLst>
          </p:cNvPr>
          <p:cNvSpPr/>
          <p:nvPr/>
        </p:nvSpPr>
        <p:spPr>
          <a:xfrm>
            <a:off x="4269355" y="1043567"/>
            <a:ext cx="4669261" cy="3373247"/>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Shape 159">
            <a:extLst>
              <a:ext uri="{FF2B5EF4-FFF2-40B4-BE49-F238E27FC236}">
                <a16:creationId xmlns:a16="http://schemas.microsoft.com/office/drawing/2014/main" id="{8F16BE38-3BE3-E774-6F18-A94CC5F8A164}"/>
              </a:ext>
            </a:extLst>
          </p:cNvPr>
          <p:cNvSpPr txBox="1"/>
          <p:nvPr/>
        </p:nvSpPr>
        <p:spPr>
          <a:xfrm>
            <a:off x="72349" y="1405962"/>
            <a:ext cx="4522449" cy="2555776"/>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sz="1800" b="1" dirty="0">
                <a:solidFill>
                  <a:schemeClr val="tx1">
                    <a:lumMod val="85000"/>
                    <a:lumOff val="15000"/>
                  </a:schemeClr>
                </a:solidFill>
                <a:latin typeface="Calibri"/>
                <a:ea typeface="Calibri"/>
                <a:cs typeface="Calibri"/>
              </a:rPr>
              <a:t>4. Original Bush-Mosteller Model</a:t>
            </a: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a:p>
            <a:endParaRPr lang="en-US" sz="1800" b="1" dirty="0">
              <a:solidFill>
                <a:schemeClr val="tx1">
                  <a:lumMod val="85000"/>
                  <a:lumOff val="15000"/>
                </a:schemeClr>
              </a:solidFill>
              <a:latin typeface="Calibri"/>
              <a:ea typeface="Calibri"/>
              <a:cs typeface="Calibri"/>
            </a:endParaRPr>
          </a:p>
        </p:txBody>
      </p:sp>
      <p:sp>
        <p:nvSpPr>
          <p:cNvPr id="2" name="Marcador de número de diapositiva 1">
            <a:extLst>
              <a:ext uri="{FF2B5EF4-FFF2-40B4-BE49-F238E27FC236}">
                <a16:creationId xmlns:a16="http://schemas.microsoft.com/office/drawing/2014/main" id="{5A67B3E7-7938-09E8-ED17-E1B62011D43E}"/>
              </a:ext>
            </a:extLst>
          </p:cNvPr>
          <p:cNvSpPr>
            <a:spLocks noGrp="1"/>
          </p:cNvSpPr>
          <p:nvPr>
            <p:ph type="sldNum" sz="quarter" idx="4"/>
          </p:nvPr>
        </p:nvSpPr>
        <p:spPr/>
        <p:txBody>
          <a:bodyPr/>
          <a:lstStyle/>
          <a:p>
            <a:fld id="{F577E53E-616C-4B80-8F3C-B6584B31683E}" type="slidenum">
              <a:rPr lang="en-US" smtClean="0"/>
              <a:pPr/>
              <a:t>18</a:t>
            </a:fld>
            <a:endParaRPr lang="es-ES"/>
          </a:p>
        </p:txBody>
      </p:sp>
    </p:spTree>
    <p:extLst>
      <p:ext uri="{BB962C8B-B14F-4D97-AF65-F5344CB8AC3E}">
        <p14:creationId xmlns:p14="http://schemas.microsoft.com/office/powerpoint/2010/main" val="20625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689EF26-EB7A-62B3-49D9-3BB6A1A50027}"/>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ea typeface="Calibri"/>
                <a:cs typeface="Calibri"/>
              </a:rPr>
              <a:t>The </a:t>
            </a:r>
            <a:r>
              <a:rPr lang="es-ES" dirty="0" err="1">
                <a:latin typeface="Calibri"/>
                <a:ea typeface="Calibri"/>
                <a:cs typeface="Calibri"/>
              </a:rPr>
              <a:t>nonlinear</a:t>
            </a:r>
            <a:r>
              <a:rPr lang="es-ES" dirty="0">
                <a:latin typeface="Calibri"/>
                <a:ea typeface="Calibri"/>
                <a:cs typeface="Calibri"/>
              </a:rPr>
              <a:t> response introduces a </a:t>
            </a:r>
            <a:r>
              <a:rPr lang="es-ES" dirty="0" err="1">
                <a:latin typeface="Calibri"/>
                <a:ea typeface="Calibri"/>
                <a:cs typeface="Calibri"/>
              </a:rPr>
              <a:t>threshold</a:t>
            </a:r>
            <a:r>
              <a:rPr lang="es-ES" dirty="0">
                <a:latin typeface="Calibri"/>
                <a:ea typeface="Calibri"/>
                <a:cs typeface="Calibri"/>
              </a:rPr>
              <a:t> </a:t>
            </a:r>
            <a:r>
              <a:rPr lang="es-ES" dirty="0" err="1">
                <a:latin typeface="Calibri"/>
                <a:ea typeface="Calibri"/>
                <a:cs typeface="Calibri"/>
              </a:rPr>
              <a:t>below</a:t>
            </a:r>
            <a:r>
              <a:rPr lang="es-ES" dirty="0">
                <a:latin typeface="Calibri"/>
                <a:ea typeface="Calibri"/>
                <a:cs typeface="Calibri"/>
              </a:rPr>
              <a:t> </a:t>
            </a:r>
            <a:r>
              <a:rPr lang="es-ES" dirty="0" err="1">
                <a:latin typeface="Calibri"/>
                <a:ea typeface="Calibri"/>
                <a:cs typeface="Calibri"/>
              </a:rPr>
              <a:t>which</a:t>
            </a:r>
            <a:r>
              <a:rPr lang="es-ES" dirty="0">
                <a:latin typeface="Calibri"/>
                <a:ea typeface="Calibri"/>
                <a:cs typeface="Calibri"/>
              </a:rPr>
              <a:t> drivers do </a:t>
            </a:r>
            <a:r>
              <a:rPr lang="es-ES" dirty="0" err="1">
                <a:latin typeface="Calibri"/>
                <a:ea typeface="Calibri"/>
                <a:cs typeface="Calibri"/>
              </a:rPr>
              <a:t>not</a:t>
            </a:r>
            <a:r>
              <a:rPr lang="es-ES" dirty="0">
                <a:latin typeface="Calibri"/>
                <a:ea typeface="Calibri"/>
                <a:cs typeface="Calibri"/>
              </a:rPr>
              <a:t> </a:t>
            </a:r>
            <a:r>
              <a:rPr lang="es-ES" dirty="0" err="1">
                <a:latin typeface="Calibri"/>
                <a:ea typeface="Calibri"/>
                <a:cs typeface="Calibri"/>
              </a:rPr>
              <a:t>react</a:t>
            </a:r>
            <a:endParaRPr lang="es-ES" dirty="0" err="1"/>
          </a:p>
        </p:txBody>
      </p:sp>
      <p:pic>
        <p:nvPicPr>
          <p:cNvPr id="5" name="Imagen 4" descr="Texto&#10;&#10;El contenido generado por IA puede ser incorrecto.">
            <a:extLst>
              <a:ext uri="{FF2B5EF4-FFF2-40B4-BE49-F238E27FC236}">
                <a16:creationId xmlns:a16="http://schemas.microsoft.com/office/drawing/2014/main" id="{2A693508-044F-87E7-EDFC-008DD5417ACB}"/>
              </a:ext>
            </a:extLst>
          </p:cNvPr>
          <p:cNvPicPr>
            <a:picLocks noChangeAspect="1"/>
          </p:cNvPicPr>
          <p:nvPr/>
        </p:nvPicPr>
        <p:blipFill>
          <a:blip r:embed="rId2"/>
          <a:stretch>
            <a:fillRect/>
          </a:stretch>
        </p:blipFill>
        <p:spPr>
          <a:xfrm>
            <a:off x="476252" y="2695575"/>
            <a:ext cx="5998369" cy="2152650"/>
          </a:xfrm>
          <a:prstGeom prst="rect">
            <a:avLst/>
          </a:prstGeom>
        </p:spPr>
      </p:pic>
      <p:sp>
        <p:nvSpPr>
          <p:cNvPr id="7" name="Marcador de texto 5">
            <a:extLst>
              <a:ext uri="{FF2B5EF4-FFF2-40B4-BE49-F238E27FC236}">
                <a16:creationId xmlns:a16="http://schemas.microsoft.com/office/drawing/2014/main" id="{E77EEEFC-B44A-8C65-3E36-DE7ABDB3AF3E}"/>
              </a:ext>
            </a:extLst>
          </p:cNvPr>
          <p:cNvSpPr>
            <a:spLocks noGrp="1"/>
          </p:cNvSpPr>
          <p:nvPr>
            <p:ph type="body" sz="quarter" idx="14"/>
          </p:nvPr>
        </p:nvSpPr>
        <p:spPr>
          <a:xfrm>
            <a:off x="473880" y="1559617"/>
            <a:ext cx="8302931" cy="276999"/>
          </a:xfrm>
        </p:spPr>
        <p:txBody>
          <a:bodyPr wrap="square" lIns="0" tIns="0" rIns="0" bIns="0" anchor="t">
            <a:spAutoFit/>
          </a:bodyPr>
          <a:lstStyle/>
          <a:p>
            <a:r>
              <a:rPr lang="en-US" sz="1800" dirty="0">
                <a:solidFill>
                  <a:schemeClr val="tx1">
                    <a:lumMod val="95000"/>
                    <a:lumOff val="5000"/>
                  </a:schemeClr>
                </a:solidFill>
                <a:latin typeface="Calibri"/>
                <a:ea typeface="Calibri"/>
                <a:cs typeface="Calibri"/>
              </a:rPr>
              <a:t>6. Proposed extension of the Bush-Mosteller Model (nonlinear response)</a:t>
            </a:r>
          </a:p>
        </p:txBody>
      </p:sp>
      <p:sp>
        <p:nvSpPr>
          <p:cNvPr id="9" name="Marcador de texto 5">
            <a:extLst>
              <a:ext uri="{FF2B5EF4-FFF2-40B4-BE49-F238E27FC236}">
                <a16:creationId xmlns:a16="http://schemas.microsoft.com/office/drawing/2014/main" id="{54E108EC-9739-059D-EC41-2B9A27ADF0F2}"/>
              </a:ext>
            </a:extLst>
          </p:cNvPr>
          <p:cNvSpPr txBox="1">
            <a:spLocks/>
          </p:cNvSpPr>
          <p:nvPr/>
        </p:nvSpPr>
        <p:spPr>
          <a:xfrm>
            <a:off x="704861" y="1926330"/>
            <a:ext cx="8302931" cy="83099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sz="1800" b="0" dirty="0">
                <a:solidFill>
                  <a:schemeClr val="tx1">
                    <a:lumMod val="95000"/>
                    <a:lumOff val="5000"/>
                  </a:schemeClr>
                </a:solidFill>
                <a:latin typeface="Calibri"/>
                <a:ea typeface="Calibri"/>
                <a:cs typeface="Calibri"/>
              </a:rPr>
              <a:t>Implemented using a nonlinear function and threshold       to the numerator of the original stimulus          .</a:t>
            </a:r>
            <a:endParaRPr lang="en-US" dirty="0">
              <a:solidFill>
                <a:schemeClr val="tx1">
                  <a:lumMod val="95000"/>
                  <a:lumOff val="5000"/>
                </a:schemeClr>
              </a:solidFill>
            </a:endParaRPr>
          </a:p>
          <a:p>
            <a:endParaRPr lang="en-US" sz="1800" b="0" dirty="0">
              <a:solidFill>
                <a:schemeClr val="tx1">
                  <a:lumMod val="95000"/>
                  <a:lumOff val="5000"/>
                </a:schemeClr>
              </a:solidFill>
              <a:ea typeface="Calibri"/>
              <a:cs typeface="Calibri"/>
            </a:endParaRPr>
          </a:p>
        </p:txBody>
      </p:sp>
      <p:pic>
        <p:nvPicPr>
          <p:cNvPr id="11" name="Imagen 10">
            <a:extLst>
              <a:ext uri="{FF2B5EF4-FFF2-40B4-BE49-F238E27FC236}">
                <a16:creationId xmlns:a16="http://schemas.microsoft.com/office/drawing/2014/main" id="{715DFD31-DCF3-76E0-F9B7-68DD76D00BB2}"/>
              </a:ext>
            </a:extLst>
          </p:cNvPr>
          <p:cNvPicPr>
            <a:picLocks noChangeAspect="1"/>
          </p:cNvPicPr>
          <p:nvPr/>
        </p:nvPicPr>
        <p:blipFill>
          <a:blip r:embed="rId3"/>
          <a:srcRect l="8219" t="4320" r="1370" b="14295"/>
          <a:stretch>
            <a:fillRect/>
          </a:stretch>
        </p:blipFill>
        <p:spPr>
          <a:xfrm>
            <a:off x="2285165" y="2209884"/>
            <a:ext cx="469337" cy="358527"/>
          </a:xfrm>
          <a:prstGeom prst="rect">
            <a:avLst/>
          </a:prstGeom>
        </p:spPr>
      </p:pic>
      <p:pic>
        <p:nvPicPr>
          <p:cNvPr id="2" name="Imagen 1">
            <a:extLst>
              <a:ext uri="{FF2B5EF4-FFF2-40B4-BE49-F238E27FC236}">
                <a16:creationId xmlns:a16="http://schemas.microsoft.com/office/drawing/2014/main" id="{F767B237-7C7D-ACBD-06DC-FCA53B177140}"/>
              </a:ext>
            </a:extLst>
          </p:cNvPr>
          <p:cNvPicPr>
            <a:picLocks noChangeAspect="1"/>
          </p:cNvPicPr>
          <p:nvPr/>
        </p:nvPicPr>
        <p:blipFill>
          <a:blip r:embed="rId4"/>
          <a:srcRect t="6818" r="12121" b="22727"/>
          <a:stretch>
            <a:fillRect/>
          </a:stretch>
        </p:blipFill>
        <p:spPr>
          <a:xfrm>
            <a:off x="5778779" y="1929151"/>
            <a:ext cx="271043" cy="283242"/>
          </a:xfrm>
          <a:prstGeom prst="rect">
            <a:avLst/>
          </a:prstGeom>
        </p:spPr>
      </p:pic>
      <p:sp>
        <p:nvSpPr>
          <p:cNvPr id="4" name="Marcador de número de diapositiva 3">
            <a:extLst>
              <a:ext uri="{FF2B5EF4-FFF2-40B4-BE49-F238E27FC236}">
                <a16:creationId xmlns:a16="http://schemas.microsoft.com/office/drawing/2014/main" id="{9BED730E-C78D-EB71-0732-2AFBF4D9E891}"/>
              </a:ext>
            </a:extLst>
          </p:cNvPr>
          <p:cNvSpPr>
            <a:spLocks noGrp="1"/>
          </p:cNvSpPr>
          <p:nvPr>
            <p:ph type="sldNum" sz="quarter" idx="4"/>
          </p:nvPr>
        </p:nvSpPr>
        <p:spPr/>
        <p:txBody>
          <a:bodyPr/>
          <a:lstStyle/>
          <a:p>
            <a:fld id="{F577E53E-616C-4B80-8F3C-B6584B31683E}" type="slidenum">
              <a:rPr lang="en-US" smtClean="0"/>
              <a:pPr/>
              <a:t>19</a:t>
            </a:fld>
            <a:endParaRPr lang="es-ES"/>
          </a:p>
        </p:txBody>
      </p:sp>
    </p:spTree>
    <p:extLst>
      <p:ext uri="{BB962C8B-B14F-4D97-AF65-F5344CB8AC3E}">
        <p14:creationId xmlns:p14="http://schemas.microsoft.com/office/powerpoint/2010/main" val="3156467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A028-7624-5991-DDB7-86A368F3E9C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6311217-5A61-0153-5A3A-50A0A459551D}"/>
              </a:ext>
            </a:extLst>
          </p:cNvPr>
          <p:cNvSpPr>
            <a:spLocks noGrp="1"/>
          </p:cNvSpPr>
          <p:nvPr>
            <p:ph type="body" sz="quarter" idx="14"/>
          </p:nvPr>
        </p:nvSpPr>
        <p:spPr>
          <a:xfrm>
            <a:off x="223847" y="1016692"/>
            <a:ext cx="8160056" cy="3046988"/>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Thesis</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objectives</a:t>
            </a:r>
            <a:endParaRPr lang="es-ES" dirty="0" err="1">
              <a:solidFill>
                <a:schemeClr val="tx1">
                  <a:lumMod val="49000"/>
                  <a:lumOff val="51000"/>
                </a:schemeClr>
              </a:solidFill>
            </a:endParaRPr>
          </a:p>
          <a:p>
            <a:pPr marL="457200" indent="-457200">
              <a:buAutoNum type="arabicPeriod"/>
            </a:pPr>
            <a:r>
              <a:rPr lang="es-ES" dirty="0" err="1">
                <a:solidFill>
                  <a:schemeClr val="tx1"/>
                </a:solidFill>
                <a:latin typeface="Calibri"/>
              </a:rPr>
              <a:t>Methods</a:t>
            </a:r>
            <a:endParaRPr lang="es-ES">
              <a:solidFill>
                <a:schemeClr val="tx1"/>
              </a:solidFill>
            </a:endParaRPr>
          </a:p>
          <a:p>
            <a:pPr marL="914400" lvl="1" indent="-457200">
              <a:buFont typeface="Arial"/>
              <a:buChar char="•"/>
            </a:pPr>
            <a:r>
              <a:rPr lang="es-ES" sz="1800" b="1" dirty="0" err="1">
                <a:solidFill>
                  <a:schemeClr val="tx1">
                    <a:lumMod val="49000"/>
                    <a:lumOff val="51000"/>
                  </a:schemeClr>
                </a:solidFill>
                <a:latin typeface="Calibri"/>
              </a:rPr>
              <a:t>Traffic</a:t>
            </a:r>
            <a:r>
              <a:rPr lang="es-ES" sz="1800" b="1" dirty="0">
                <a:solidFill>
                  <a:schemeClr val="tx1">
                    <a:lumMod val="49000"/>
                    <a:lumOff val="51000"/>
                  </a:schemeClr>
                </a:solidFill>
                <a:latin typeface="Calibri"/>
              </a:rPr>
              <a:t> </a:t>
            </a:r>
            <a:r>
              <a:rPr lang="es-ES" sz="1800" b="1" dirty="0" err="1">
                <a:solidFill>
                  <a:schemeClr val="tx1">
                    <a:lumMod val="49000"/>
                    <a:lumOff val="51000"/>
                  </a:schemeClr>
                </a:solidFill>
                <a:latin typeface="Calibri"/>
              </a:rPr>
              <a:t>flow</a:t>
            </a:r>
            <a:r>
              <a:rPr lang="es-ES" sz="1800" b="1" dirty="0">
                <a:solidFill>
                  <a:schemeClr val="tx1">
                    <a:lumMod val="49000"/>
                    <a:lumOff val="51000"/>
                  </a:schemeClr>
                </a:solidFill>
                <a:latin typeface="Calibri"/>
              </a:rPr>
              <a:t> </a:t>
            </a:r>
            <a:r>
              <a:rPr lang="es-ES" sz="1800" b="1" dirty="0" err="1">
                <a:solidFill>
                  <a:schemeClr val="tx1">
                    <a:lumMod val="49000"/>
                    <a:lumOff val="51000"/>
                  </a:schemeClr>
                </a:solidFill>
                <a:latin typeface="Calibri"/>
              </a:rPr>
              <a:t>model</a:t>
            </a:r>
            <a:endParaRPr lang="es-ES" sz="1800" b="1">
              <a:solidFill>
                <a:schemeClr val="tx1">
                  <a:lumMod val="49000"/>
                  <a:lumOff val="51000"/>
                </a:schemeClr>
              </a:solidFill>
              <a:latin typeface="Calibri"/>
            </a:endParaRPr>
          </a:p>
          <a:p>
            <a:pPr marL="914400" lvl="1" indent="-457200">
              <a:buFont typeface="Arial"/>
              <a:buChar char="•"/>
            </a:pPr>
            <a:r>
              <a:rPr lang="es-ES" sz="1800" b="1" dirty="0">
                <a:solidFill>
                  <a:schemeClr val="tx1">
                    <a:lumMod val="49000"/>
                    <a:lumOff val="51000"/>
                  </a:schemeClr>
                </a:solidFill>
                <a:latin typeface="Calibri"/>
                <a:ea typeface="Calibri"/>
                <a:cs typeface="Calibri"/>
              </a:rPr>
              <a:t>Route </a:t>
            </a:r>
            <a:r>
              <a:rPr lang="es-ES" sz="1800" b="1" dirty="0" err="1">
                <a:solidFill>
                  <a:schemeClr val="tx1">
                    <a:lumMod val="49000"/>
                    <a:lumOff val="51000"/>
                  </a:schemeClr>
                </a:solidFill>
                <a:latin typeface="Calibri"/>
                <a:ea typeface="Calibri"/>
                <a:cs typeface="Calibri"/>
              </a:rPr>
              <a:t>choice</a:t>
            </a:r>
            <a:r>
              <a:rPr lang="es-ES" sz="1800" b="1" dirty="0">
                <a:solidFill>
                  <a:schemeClr val="tx1">
                    <a:lumMod val="49000"/>
                    <a:lumOff val="51000"/>
                  </a:schemeClr>
                </a:solidFill>
                <a:latin typeface="Calibri"/>
                <a:ea typeface="Calibri"/>
                <a:cs typeface="Calibri"/>
              </a:rPr>
              <a:t> </a:t>
            </a:r>
            <a:r>
              <a:rPr lang="es-ES" sz="1800" b="1" dirty="0" err="1">
                <a:solidFill>
                  <a:schemeClr val="tx1">
                    <a:lumMod val="49000"/>
                    <a:lumOff val="51000"/>
                  </a:schemeClr>
                </a:solidFill>
                <a:latin typeface="Calibri"/>
                <a:ea typeface="Calibri"/>
                <a:cs typeface="Calibri"/>
              </a:rPr>
              <a:t>model</a:t>
            </a:r>
            <a:endParaRPr lang="es-ES" sz="1800" b="1" dirty="0">
              <a:solidFill>
                <a:schemeClr val="tx1">
                  <a:lumMod val="49000"/>
                  <a:lumOff val="51000"/>
                </a:schemeClr>
              </a:solidFill>
              <a:latin typeface="Calibri"/>
              <a:ea typeface="Calibri"/>
              <a:cs typeface="Calibri"/>
            </a:endParaRPr>
          </a:p>
          <a:p>
            <a:pPr marL="914400" lvl="1" indent="-457200">
              <a:buFont typeface="Arial"/>
              <a:buChar char="•"/>
            </a:pPr>
            <a:r>
              <a:rPr lang="es-ES" sz="1800" b="1" dirty="0" err="1">
                <a:solidFill>
                  <a:schemeClr val="tx1">
                    <a:lumMod val="95000"/>
                    <a:lumOff val="5000"/>
                  </a:schemeClr>
                </a:solidFill>
                <a:latin typeface="Calibri"/>
                <a:ea typeface="Calibri"/>
                <a:cs typeface="Calibri"/>
              </a:rPr>
              <a:t>Evaluation</a:t>
            </a:r>
            <a:r>
              <a:rPr lang="es-ES" sz="1800" b="1" dirty="0">
                <a:solidFill>
                  <a:schemeClr val="tx1">
                    <a:lumMod val="95000"/>
                    <a:lumOff val="5000"/>
                  </a:schemeClr>
                </a:solidFill>
                <a:latin typeface="Calibri"/>
                <a:ea typeface="Calibri"/>
                <a:cs typeface="Calibri"/>
              </a:rPr>
              <a:t> </a:t>
            </a:r>
            <a:r>
              <a:rPr lang="es-ES" sz="1800" b="1" dirty="0" err="1">
                <a:solidFill>
                  <a:schemeClr val="tx1">
                    <a:lumMod val="95000"/>
                    <a:lumOff val="5000"/>
                  </a:schemeClr>
                </a:solidFill>
                <a:latin typeface="Calibri"/>
                <a:ea typeface="Calibri"/>
                <a:cs typeface="Calibri"/>
              </a:rPr>
              <a:t>metric</a:t>
            </a:r>
            <a:r>
              <a:rPr lang="es-ES" sz="1800" b="1" dirty="0">
                <a:solidFill>
                  <a:schemeClr val="tx1">
                    <a:lumMod val="95000"/>
                    <a:lumOff val="5000"/>
                  </a:schemeClr>
                </a:solidFill>
                <a:latin typeface="Calibri"/>
                <a:ea typeface="Calibri"/>
                <a:cs typeface="Calibri"/>
              </a:rPr>
              <a:t>: R-gap</a:t>
            </a:r>
          </a:p>
          <a:p>
            <a:endParaRPr lang="es-ES" dirty="0"/>
          </a:p>
          <a:p>
            <a:pPr marL="457200" indent="-457200">
              <a:buAutoNum type="arabicPeriod"/>
            </a:pPr>
            <a:endParaRPr lang="es-ES" dirty="0"/>
          </a:p>
        </p:txBody>
      </p:sp>
      <p:sp>
        <p:nvSpPr>
          <p:cNvPr id="11" name="Título 2">
            <a:extLst>
              <a:ext uri="{FF2B5EF4-FFF2-40B4-BE49-F238E27FC236}">
                <a16:creationId xmlns:a16="http://schemas.microsoft.com/office/drawing/2014/main" id="{D694B97D-F34A-B116-5394-272C3315054C}"/>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4" name="Marcador de número de diapositiva 3">
            <a:extLst>
              <a:ext uri="{FF2B5EF4-FFF2-40B4-BE49-F238E27FC236}">
                <a16:creationId xmlns:a16="http://schemas.microsoft.com/office/drawing/2014/main" id="{44DB64E6-30BD-5A46-5461-C77825C27E5A}"/>
              </a:ext>
            </a:extLst>
          </p:cNvPr>
          <p:cNvSpPr>
            <a:spLocks noGrp="1"/>
          </p:cNvSpPr>
          <p:nvPr>
            <p:ph type="sldNum" sz="quarter" idx="4"/>
          </p:nvPr>
        </p:nvSpPr>
        <p:spPr/>
        <p:txBody>
          <a:bodyPr/>
          <a:lstStyle/>
          <a:p>
            <a:fld id="{F577E53E-616C-4B80-8F3C-B6584B31683E}" type="slidenum">
              <a:rPr lang="en-US" smtClean="0"/>
              <a:pPr/>
              <a:t>20</a:t>
            </a:fld>
            <a:endParaRPr lang="es-ES"/>
          </a:p>
        </p:txBody>
      </p:sp>
    </p:spTree>
    <p:extLst>
      <p:ext uri="{BB962C8B-B14F-4D97-AF65-F5344CB8AC3E}">
        <p14:creationId xmlns:p14="http://schemas.microsoft.com/office/powerpoint/2010/main" val="487884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B73E1BD-B075-0AB5-5794-C276858B4FB5}"/>
              </a:ext>
            </a:extLst>
          </p:cNvPr>
          <p:cNvSpPr>
            <a:spLocks noGrp="1"/>
          </p:cNvSpPr>
          <p:nvPr>
            <p:ph type="body" sz="quarter" idx="14"/>
          </p:nvPr>
        </p:nvSpPr>
        <p:spPr>
          <a:xfrm>
            <a:off x="373866" y="1288154"/>
            <a:ext cx="8388657" cy="2031325"/>
          </a:xfrm>
        </p:spPr>
        <p:txBody>
          <a:bodyPr wrap="square" lIns="0" tIns="0" rIns="0" bIns="0" anchor="t">
            <a:spAutoFit/>
          </a:bodyPr>
          <a:lstStyle/>
          <a:p>
            <a:pPr marL="342900" indent="-342900">
              <a:lnSpc>
                <a:spcPts val="3256"/>
              </a:lnSpc>
              <a:buFont typeface="Arial,Sans-Serif"/>
              <a:buChar char="•"/>
            </a:pPr>
            <a:r>
              <a:rPr lang="es-ES" sz="2200" dirty="0">
                <a:latin typeface="Calibri"/>
                <a:ea typeface="Calibri"/>
                <a:cs typeface="Calibri"/>
              </a:rPr>
              <a:t>R-gap</a:t>
            </a:r>
            <a:r>
              <a:rPr lang="es-ES" sz="2200" b="0" dirty="0">
                <a:latin typeface="Calibri"/>
                <a:ea typeface="Calibri"/>
                <a:cs typeface="Calibri"/>
              </a:rPr>
              <a:t>: </a:t>
            </a:r>
            <a:r>
              <a:rPr lang="es-ES" sz="2200" b="0" dirty="0" err="1">
                <a:solidFill>
                  <a:srgbClr val="0D0D0D"/>
                </a:solidFill>
                <a:latin typeface="Calibri"/>
                <a:ea typeface="Calibri"/>
                <a:cs typeface="Calibri"/>
              </a:rPr>
              <a:t>Additional</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travel</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cost</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experienced</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by</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travelers</a:t>
            </a:r>
            <a:r>
              <a:rPr lang="es-ES" sz="2200" b="0" dirty="0">
                <a:solidFill>
                  <a:srgbClr val="0D0D0D"/>
                </a:solidFill>
                <a:latin typeface="Calibri"/>
                <a:ea typeface="Calibri"/>
                <a:cs typeface="Calibri"/>
              </a:rPr>
              <a:t> relative </a:t>
            </a:r>
            <a:r>
              <a:rPr lang="es-ES" sz="2200" b="0" dirty="0" err="1">
                <a:solidFill>
                  <a:srgbClr val="0D0D0D"/>
                </a:solidFill>
                <a:latin typeface="Calibri"/>
                <a:ea typeface="Calibri"/>
                <a:cs typeface="Calibri"/>
              </a:rPr>
              <a:t>to</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the</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cost</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that</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would</a:t>
            </a:r>
            <a:r>
              <a:rPr lang="es-ES" sz="2200" b="0" dirty="0">
                <a:solidFill>
                  <a:srgbClr val="0D0D0D"/>
                </a:solidFill>
                <a:latin typeface="Calibri"/>
                <a:ea typeface="Calibri"/>
                <a:cs typeface="Calibri"/>
              </a:rPr>
              <a:t> be </a:t>
            </a:r>
            <a:r>
              <a:rPr lang="es-ES" sz="2200" b="0" dirty="0" err="1">
                <a:solidFill>
                  <a:srgbClr val="0D0D0D"/>
                </a:solidFill>
                <a:latin typeface="Calibri"/>
                <a:ea typeface="Calibri"/>
                <a:cs typeface="Calibri"/>
              </a:rPr>
              <a:t>incurred</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if</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they</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used</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their</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corresponding</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shortest</a:t>
            </a:r>
            <a:r>
              <a:rPr lang="es-ES" sz="2200" b="0" dirty="0">
                <a:solidFill>
                  <a:srgbClr val="0D0D0D"/>
                </a:solidFill>
                <a:latin typeface="Calibri"/>
                <a:ea typeface="Calibri"/>
                <a:cs typeface="Calibri"/>
              </a:rPr>
              <a:t> </a:t>
            </a:r>
            <a:r>
              <a:rPr lang="es-ES" sz="2200" b="0" dirty="0" err="1">
                <a:solidFill>
                  <a:srgbClr val="0D0D0D"/>
                </a:solidFill>
                <a:latin typeface="Calibri"/>
                <a:ea typeface="Calibri"/>
                <a:cs typeface="Calibri"/>
              </a:rPr>
              <a:t>paths</a:t>
            </a:r>
            <a:r>
              <a:rPr lang="es-ES" sz="2200" b="0" dirty="0">
                <a:solidFill>
                  <a:srgbClr val="0D0D0D"/>
                </a:solidFill>
                <a:latin typeface="Calibri"/>
                <a:ea typeface="Calibri"/>
                <a:cs typeface="Calibri"/>
              </a:rPr>
              <a:t>.</a:t>
            </a:r>
            <a:r>
              <a:rPr lang="en-US" sz="2200" b="0" dirty="0">
                <a:latin typeface="Calibri"/>
                <a:ea typeface="Calibri"/>
                <a:cs typeface="Calibri"/>
              </a:rPr>
              <a:t> </a:t>
            </a:r>
            <a:endParaRPr lang="en-US" sz="2200" b="0">
              <a:solidFill>
                <a:srgbClr val="0D0D0D"/>
              </a:solidFill>
              <a:latin typeface="Calibri"/>
              <a:ea typeface="Calibri"/>
              <a:cs typeface="Calibri"/>
            </a:endParaRPr>
          </a:p>
          <a:p>
            <a:pPr marL="800100" lvl="1" indent="-342900">
              <a:lnSpc>
                <a:spcPts val="3256"/>
              </a:lnSpc>
              <a:buFont typeface="Courier New"/>
              <a:buChar char="o"/>
            </a:pPr>
            <a:r>
              <a:rPr lang="es-ES" sz="1800" dirty="0" err="1">
                <a:solidFill>
                  <a:srgbClr val="0D0D0D"/>
                </a:solidFill>
                <a:latin typeface="Calibri"/>
                <a:ea typeface="Calibri"/>
                <a:cs typeface="Calibri"/>
              </a:rPr>
              <a:t>Convergence</a:t>
            </a:r>
            <a:r>
              <a:rPr lang="es-ES" sz="1800" dirty="0">
                <a:solidFill>
                  <a:srgbClr val="0D0D0D"/>
                </a:solidFill>
                <a:latin typeface="Calibri"/>
                <a:ea typeface="Calibri"/>
                <a:cs typeface="Calibri"/>
              </a:rPr>
              <a:t> </a:t>
            </a:r>
            <a:r>
              <a:rPr lang="es-ES" sz="1800" dirty="0" err="1">
                <a:solidFill>
                  <a:srgbClr val="0D0D0D"/>
                </a:solidFill>
                <a:latin typeface="Calibri"/>
                <a:ea typeface="Calibri"/>
                <a:cs typeface="Calibri"/>
              </a:rPr>
              <a:t>threshold</a:t>
            </a:r>
            <a:r>
              <a:rPr lang="es-ES" sz="1800" dirty="0">
                <a:solidFill>
                  <a:srgbClr val="0D0D0D"/>
                </a:solidFill>
                <a:latin typeface="Calibri"/>
                <a:ea typeface="Calibri"/>
                <a:cs typeface="Calibri"/>
              </a:rPr>
              <a:t>: 5%</a:t>
            </a:r>
            <a:r>
              <a:rPr lang="en-US" sz="1800" dirty="0">
                <a:latin typeface="Calibri"/>
                <a:ea typeface="Calibri"/>
                <a:cs typeface="Calibri"/>
              </a:rPr>
              <a:t> </a:t>
            </a:r>
            <a:endParaRPr lang="en-US" sz="1800" b="0" dirty="0">
              <a:latin typeface="Calibri"/>
              <a:ea typeface="Calibri"/>
              <a:cs typeface="Calibri"/>
            </a:endParaRPr>
          </a:p>
          <a:p>
            <a:pPr marL="342900" indent="-342900">
              <a:buFont typeface="Arial"/>
              <a:buChar char="•"/>
            </a:pPr>
            <a:endParaRPr lang="es-ES" sz="2200" b="0" dirty="0">
              <a:solidFill>
                <a:srgbClr val="0D0D0D"/>
              </a:solidFill>
              <a:latin typeface="Calibri"/>
              <a:ea typeface="Calibri"/>
              <a:cs typeface="Calibri"/>
            </a:endParaRPr>
          </a:p>
        </p:txBody>
      </p:sp>
      <p:sp>
        <p:nvSpPr>
          <p:cNvPr id="3" name="Título 2">
            <a:extLst>
              <a:ext uri="{FF2B5EF4-FFF2-40B4-BE49-F238E27FC236}">
                <a16:creationId xmlns:a16="http://schemas.microsoft.com/office/drawing/2014/main" id="{D965BC22-FE08-6517-28F3-C6B682E6F3AD}"/>
              </a:ext>
            </a:extLst>
          </p:cNvPr>
          <p:cNvSpPr>
            <a:spLocks noGrp="1"/>
          </p:cNvSpPr>
          <p:nvPr>
            <p:ph type="title"/>
          </p:nvPr>
        </p:nvSpPr>
        <p:spPr>
          <a:xfrm>
            <a:off x="73152" y="73152"/>
            <a:ext cx="8863030" cy="861774"/>
          </a:xfrm>
        </p:spPr>
        <p:txBody>
          <a:bodyPr wrap="square" lIns="0" tIns="0" rIns="0" bIns="0" anchor="t">
            <a:spAutoFit/>
          </a:bodyPr>
          <a:lstStyle/>
          <a:p>
            <a:r>
              <a:rPr lang="es-ES" sz="2800" b="1" i="0" u="none" strike="noStrike" baseline="0" dirty="0">
                <a:solidFill>
                  <a:srgbClr val="000000"/>
                </a:solidFill>
                <a:latin typeface="Calibri"/>
              </a:rPr>
              <a:t>R-gap </a:t>
            </a:r>
            <a:r>
              <a:rPr lang="es-ES" sz="2800" b="1" i="0" u="none" strike="noStrike" baseline="0" dirty="0" err="1">
                <a:solidFill>
                  <a:srgbClr val="000000"/>
                </a:solidFill>
                <a:latin typeface="Calibri"/>
              </a:rPr>
              <a:t>measures</a:t>
            </a:r>
            <a:r>
              <a:rPr lang="es-ES" sz="2800" b="1" i="0" u="none" strike="noStrike" baseline="0" dirty="0">
                <a:solidFill>
                  <a:srgbClr val="000000"/>
                </a:solidFill>
                <a:latin typeface="Calibri"/>
              </a:rPr>
              <a:t> </a:t>
            </a:r>
            <a:r>
              <a:rPr lang="es-ES" sz="2800" b="1" i="0" u="none" strike="noStrike" baseline="0" dirty="0" err="1">
                <a:solidFill>
                  <a:srgbClr val="000000"/>
                </a:solidFill>
                <a:latin typeface="Calibri"/>
              </a:rPr>
              <a:t>convergence</a:t>
            </a:r>
            <a:r>
              <a:rPr lang="es-ES" sz="2800" b="1" i="0" u="none" strike="noStrike" baseline="0" dirty="0">
                <a:solidFill>
                  <a:srgbClr val="000000"/>
                </a:solidFill>
                <a:latin typeface="Calibri"/>
              </a:rPr>
              <a:t> </a:t>
            </a:r>
            <a:r>
              <a:rPr lang="es-ES" sz="2800" b="1" i="0" u="none" strike="noStrike" baseline="0" dirty="0" err="1">
                <a:solidFill>
                  <a:srgbClr val="000000"/>
                </a:solidFill>
                <a:latin typeface="Calibri"/>
              </a:rPr>
              <a:t>towards</a:t>
            </a:r>
            <a:r>
              <a:rPr lang="es-ES" sz="2800" b="1" i="0" u="none" strike="noStrike" baseline="0" dirty="0">
                <a:solidFill>
                  <a:srgbClr val="000000"/>
                </a:solidFill>
                <a:latin typeface="Calibri"/>
              </a:rPr>
              <a:t> Dynamic </a:t>
            </a:r>
            <a:r>
              <a:rPr lang="es-ES" sz="2800" b="1" i="0" u="none" strike="noStrike" baseline="0" dirty="0" err="1">
                <a:solidFill>
                  <a:srgbClr val="000000"/>
                </a:solidFill>
                <a:latin typeface="Calibri"/>
              </a:rPr>
              <a:t>User</a:t>
            </a:r>
            <a:r>
              <a:rPr lang="es-ES" sz="2800" b="1" i="0" u="none" strike="noStrike" baseline="0" dirty="0">
                <a:solidFill>
                  <a:srgbClr val="000000"/>
                </a:solidFill>
                <a:latin typeface="Calibri"/>
              </a:rPr>
              <a:t> </a:t>
            </a:r>
            <a:r>
              <a:rPr lang="es-ES" sz="2800" b="1" i="0" u="none" strike="noStrike" baseline="0" dirty="0" err="1">
                <a:solidFill>
                  <a:srgbClr val="000000"/>
                </a:solidFill>
                <a:latin typeface="Calibri"/>
              </a:rPr>
              <a:t>Equilibrium</a:t>
            </a:r>
            <a:r>
              <a:rPr lang="es-ES" sz="2800" b="1" i="0" u="none" strike="noStrike" baseline="0" dirty="0">
                <a:solidFill>
                  <a:srgbClr val="000000"/>
                </a:solidFill>
                <a:latin typeface="Calibri"/>
              </a:rPr>
              <a:t> (DUE)</a:t>
            </a:r>
            <a:endParaRPr lang="es-ES" dirty="0"/>
          </a:p>
        </p:txBody>
      </p:sp>
      <p:pic>
        <p:nvPicPr>
          <p:cNvPr id="5" name="Imagen 4">
            <a:extLst>
              <a:ext uri="{FF2B5EF4-FFF2-40B4-BE49-F238E27FC236}">
                <a16:creationId xmlns:a16="http://schemas.microsoft.com/office/drawing/2014/main" id="{DC478311-67C6-1AD9-30F7-5B7B093B76E0}"/>
              </a:ext>
            </a:extLst>
          </p:cNvPr>
          <p:cNvPicPr>
            <a:picLocks noChangeAspect="1"/>
          </p:cNvPicPr>
          <p:nvPr/>
        </p:nvPicPr>
        <p:blipFill>
          <a:blip r:embed="rId2"/>
          <a:stretch>
            <a:fillRect/>
          </a:stretch>
        </p:blipFill>
        <p:spPr>
          <a:xfrm>
            <a:off x="3693319" y="2872650"/>
            <a:ext cx="5243513" cy="2269986"/>
          </a:xfrm>
          <a:prstGeom prst="rect">
            <a:avLst/>
          </a:prstGeom>
        </p:spPr>
      </p:pic>
      <p:sp>
        <p:nvSpPr>
          <p:cNvPr id="6" name="Marcador de número de diapositiva 5">
            <a:extLst>
              <a:ext uri="{FF2B5EF4-FFF2-40B4-BE49-F238E27FC236}">
                <a16:creationId xmlns:a16="http://schemas.microsoft.com/office/drawing/2014/main" id="{E90DFFEE-81FE-18D7-512D-A32826378B6D}"/>
              </a:ext>
            </a:extLst>
          </p:cNvPr>
          <p:cNvSpPr>
            <a:spLocks noGrp="1"/>
          </p:cNvSpPr>
          <p:nvPr>
            <p:ph type="sldNum" sz="quarter" idx="4"/>
          </p:nvPr>
        </p:nvSpPr>
        <p:spPr/>
        <p:txBody>
          <a:bodyPr/>
          <a:lstStyle/>
          <a:p>
            <a:fld id="{F577E53E-616C-4B80-8F3C-B6584B31683E}" type="slidenum">
              <a:rPr lang="en-US" smtClean="0"/>
              <a:pPr/>
              <a:t>21</a:t>
            </a:fld>
            <a:endParaRPr lang="es-ES"/>
          </a:p>
        </p:txBody>
      </p:sp>
    </p:spTree>
    <p:extLst>
      <p:ext uri="{BB962C8B-B14F-4D97-AF65-F5344CB8AC3E}">
        <p14:creationId xmlns:p14="http://schemas.microsoft.com/office/powerpoint/2010/main" val="4001461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C3A4D-FB14-4C40-6BB5-AE800D04E265}"/>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3CF33BC-ED63-533D-5938-E90292E390AD}"/>
              </a:ext>
            </a:extLst>
          </p:cNvPr>
          <p:cNvSpPr>
            <a:spLocks noGrp="1"/>
          </p:cNvSpPr>
          <p:nvPr>
            <p:ph type="body" sz="quarter" idx="14"/>
          </p:nvPr>
        </p:nvSpPr>
        <p:spPr>
          <a:xfrm>
            <a:off x="223847" y="1016692"/>
            <a:ext cx="8160056" cy="2585323"/>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Thesis</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objectives</a:t>
            </a:r>
            <a:endParaRPr lang="es-ES" dirty="0" err="1">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err="1">
                <a:solidFill>
                  <a:schemeClr val="tx1">
                    <a:lumMod val="95000"/>
                    <a:lumOff val="5000"/>
                  </a:schemeClr>
                </a:solidFill>
                <a:latin typeface="Calibri"/>
                <a:ea typeface="Calibri"/>
                <a:cs typeface="Calibri"/>
              </a:rPr>
              <a:t>Experiment</a:t>
            </a:r>
            <a:r>
              <a:rPr lang="es-ES" dirty="0">
                <a:solidFill>
                  <a:schemeClr val="tx1">
                    <a:lumMod val="95000"/>
                    <a:lumOff val="5000"/>
                  </a:schemeClr>
                </a:solidFill>
                <a:latin typeface="Calibri"/>
                <a:ea typeface="Calibri"/>
                <a:cs typeface="Calibri"/>
              </a:rPr>
              <a:t> and </a:t>
            </a:r>
            <a:r>
              <a:rPr lang="es-ES" dirty="0" err="1">
                <a:solidFill>
                  <a:schemeClr val="tx1">
                    <a:lumMod val="95000"/>
                    <a:lumOff val="5000"/>
                  </a:schemeClr>
                </a:solidFill>
                <a:latin typeface="Calibri"/>
                <a:ea typeface="Calibri"/>
                <a:cs typeface="Calibri"/>
              </a:rPr>
              <a:t>results</a:t>
            </a:r>
            <a:endParaRPr lang="es-ES" dirty="0">
              <a:solidFill>
                <a:schemeClr val="tx1">
                  <a:lumMod val="95000"/>
                  <a:lumOff val="5000"/>
                </a:schemeClr>
              </a:solidFill>
              <a:latin typeface="Calibri"/>
              <a:ea typeface="Calibri"/>
              <a:cs typeface="Calibri"/>
            </a:endParaRPr>
          </a:p>
          <a:p>
            <a:pPr marL="457200" indent="-457200">
              <a:buAutoNum type="arabicPeriod"/>
            </a:pPr>
            <a:endParaRPr lang="es-ES" dirty="0"/>
          </a:p>
          <a:p>
            <a:pPr marL="457200" indent="-457200">
              <a:buAutoNum type="arabicPeriod"/>
            </a:pPr>
            <a:endParaRPr lang="es-ES" dirty="0"/>
          </a:p>
        </p:txBody>
      </p:sp>
      <p:sp>
        <p:nvSpPr>
          <p:cNvPr id="11" name="Título 2">
            <a:extLst>
              <a:ext uri="{FF2B5EF4-FFF2-40B4-BE49-F238E27FC236}">
                <a16:creationId xmlns:a16="http://schemas.microsoft.com/office/drawing/2014/main" id="{706A4DB4-B0A8-D02D-E12B-9C4586ED6151}"/>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2BD1DA45-F515-E1AF-1EE3-A87DAE033B6F}"/>
              </a:ext>
            </a:extLst>
          </p:cNvPr>
          <p:cNvSpPr>
            <a:spLocks noGrp="1"/>
          </p:cNvSpPr>
          <p:nvPr>
            <p:ph type="sldNum" sz="quarter" idx="4"/>
          </p:nvPr>
        </p:nvSpPr>
        <p:spPr/>
        <p:txBody>
          <a:bodyPr/>
          <a:lstStyle/>
          <a:p>
            <a:fld id="{F577E53E-616C-4B80-8F3C-B6584B31683E}" type="slidenum">
              <a:rPr lang="en-US" smtClean="0"/>
              <a:pPr/>
              <a:t>22</a:t>
            </a:fld>
            <a:endParaRPr lang="es-ES"/>
          </a:p>
        </p:txBody>
      </p:sp>
    </p:spTree>
    <p:extLst>
      <p:ext uri="{BB962C8B-B14F-4D97-AF65-F5344CB8AC3E}">
        <p14:creationId xmlns:p14="http://schemas.microsoft.com/office/powerpoint/2010/main" val="4170634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1C666-2838-3CE6-6DD5-2A09F6AB767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CA18C5A-D0F7-CEFA-DCA4-F562FC850329}"/>
              </a:ext>
            </a:extLst>
          </p:cNvPr>
          <p:cNvSpPr>
            <a:spLocks noGrp="1"/>
          </p:cNvSpPr>
          <p:nvPr>
            <p:ph type="body" sz="quarter" idx="14"/>
          </p:nvPr>
        </p:nvSpPr>
        <p:spPr>
          <a:xfrm>
            <a:off x="223847" y="1016692"/>
            <a:ext cx="8160056" cy="2862322"/>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Thesis</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objectives</a:t>
            </a:r>
            <a:endParaRPr lang="es-ES" dirty="0" err="1">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err="1">
                <a:solidFill>
                  <a:schemeClr val="tx1">
                    <a:lumMod val="95000"/>
                    <a:lumOff val="5000"/>
                  </a:schemeClr>
                </a:solidFill>
                <a:latin typeface="Calibri"/>
                <a:ea typeface="Calibri"/>
                <a:cs typeface="Calibri"/>
              </a:rPr>
              <a:t>Experiment</a:t>
            </a:r>
            <a:r>
              <a:rPr lang="es-ES" dirty="0">
                <a:solidFill>
                  <a:schemeClr val="tx1">
                    <a:lumMod val="95000"/>
                    <a:lumOff val="5000"/>
                  </a:schemeClr>
                </a:solidFill>
                <a:latin typeface="Calibri"/>
                <a:ea typeface="Calibri"/>
                <a:cs typeface="Calibri"/>
              </a:rPr>
              <a:t> and </a:t>
            </a:r>
            <a:r>
              <a:rPr lang="es-ES" dirty="0" err="1">
                <a:solidFill>
                  <a:schemeClr val="tx1">
                    <a:lumMod val="95000"/>
                    <a:lumOff val="5000"/>
                  </a:schemeClr>
                </a:solidFill>
                <a:latin typeface="Calibri"/>
                <a:ea typeface="Calibri"/>
                <a:cs typeface="Calibri"/>
              </a:rPr>
              <a:t>results</a:t>
            </a:r>
            <a:endParaRPr lang="es-ES" dirty="0">
              <a:solidFill>
                <a:schemeClr val="tx1">
                  <a:lumMod val="95000"/>
                  <a:lumOff val="5000"/>
                </a:schemeClr>
              </a:solidFill>
              <a:latin typeface="Calibri"/>
              <a:ea typeface="Calibri"/>
              <a:cs typeface="Calibri"/>
            </a:endParaRPr>
          </a:p>
          <a:p>
            <a:pPr marL="914400" lvl="1" indent="-457200">
              <a:buFont typeface="Arial"/>
              <a:buChar char="•"/>
            </a:pPr>
            <a:r>
              <a:rPr lang="es-ES" sz="1800" b="1" dirty="0" err="1">
                <a:solidFill>
                  <a:schemeClr val="tx1">
                    <a:lumMod val="95000"/>
                    <a:lumOff val="5000"/>
                  </a:schemeClr>
                </a:solidFill>
                <a:latin typeface="Calibri"/>
                <a:ea typeface="Calibri"/>
                <a:cs typeface="Calibri"/>
              </a:rPr>
              <a:t>Rational</a:t>
            </a:r>
            <a:r>
              <a:rPr lang="es-ES" sz="1800" b="1" dirty="0">
                <a:solidFill>
                  <a:schemeClr val="tx1">
                    <a:lumMod val="95000"/>
                    <a:lumOff val="5000"/>
                  </a:schemeClr>
                </a:solidFill>
                <a:latin typeface="Calibri"/>
                <a:ea typeface="Calibri"/>
                <a:cs typeface="Calibri"/>
              </a:rPr>
              <a:t> </a:t>
            </a:r>
            <a:r>
              <a:rPr lang="es-ES" sz="1800" b="1" dirty="0" err="1">
                <a:solidFill>
                  <a:schemeClr val="tx1">
                    <a:lumMod val="95000"/>
                    <a:lumOff val="5000"/>
                  </a:schemeClr>
                </a:solidFill>
                <a:latin typeface="Calibri"/>
                <a:ea typeface="Calibri"/>
                <a:cs typeface="Calibri"/>
              </a:rPr>
              <a:t>agents</a:t>
            </a:r>
          </a:p>
          <a:p>
            <a:pPr marL="457200" indent="-457200">
              <a:buAutoNum type="arabicPeriod"/>
            </a:pPr>
            <a:endParaRPr lang="es-ES" dirty="0">
              <a:ea typeface="Calibri"/>
            </a:endParaRPr>
          </a:p>
          <a:p>
            <a:pPr marL="457200" indent="-457200">
              <a:buAutoNum type="arabicPeriod"/>
            </a:pPr>
            <a:endParaRPr lang="es-ES" dirty="0"/>
          </a:p>
        </p:txBody>
      </p:sp>
      <p:sp>
        <p:nvSpPr>
          <p:cNvPr id="11" name="Título 2">
            <a:extLst>
              <a:ext uri="{FF2B5EF4-FFF2-40B4-BE49-F238E27FC236}">
                <a16:creationId xmlns:a16="http://schemas.microsoft.com/office/drawing/2014/main" id="{D5259E65-B113-DCD5-C3F2-970A26383C53}"/>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7694B7AF-8F54-0944-52DD-FDBA00228DD2}"/>
              </a:ext>
            </a:extLst>
          </p:cNvPr>
          <p:cNvSpPr>
            <a:spLocks noGrp="1"/>
          </p:cNvSpPr>
          <p:nvPr>
            <p:ph type="sldNum" sz="quarter" idx="4"/>
          </p:nvPr>
        </p:nvSpPr>
        <p:spPr/>
        <p:txBody>
          <a:bodyPr/>
          <a:lstStyle/>
          <a:p>
            <a:fld id="{F577E53E-616C-4B80-8F3C-B6584B31683E}" type="slidenum">
              <a:rPr lang="en-US" smtClean="0"/>
              <a:pPr/>
              <a:t>23</a:t>
            </a:fld>
            <a:endParaRPr lang="es-ES"/>
          </a:p>
        </p:txBody>
      </p:sp>
    </p:spTree>
    <p:extLst>
      <p:ext uri="{BB962C8B-B14F-4D97-AF65-F5344CB8AC3E}">
        <p14:creationId xmlns:p14="http://schemas.microsoft.com/office/powerpoint/2010/main" val="1753481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F79BC56-F771-AF9F-69BC-796A4126165D}"/>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Rational</a:t>
            </a:r>
            <a:r>
              <a:rPr lang="es-ES" dirty="0">
                <a:latin typeface="Calibri"/>
              </a:rPr>
              <a:t> </a:t>
            </a:r>
            <a:r>
              <a:rPr lang="es-ES" dirty="0" err="1">
                <a:latin typeface="Calibri"/>
              </a:rPr>
              <a:t>agents</a:t>
            </a:r>
            <a:r>
              <a:rPr lang="es-ES" dirty="0">
                <a:latin typeface="Calibri"/>
              </a:rPr>
              <a:t> converge </a:t>
            </a:r>
            <a:r>
              <a:rPr lang="es-ES" dirty="0" err="1">
                <a:latin typeface="Calibri"/>
              </a:rPr>
              <a:t>towards</a:t>
            </a:r>
            <a:r>
              <a:rPr lang="es-ES" dirty="0">
                <a:latin typeface="Calibri"/>
              </a:rPr>
              <a:t> DUE</a:t>
            </a:r>
            <a:endParaRPr lang="es-ES" dirty="0"/>
          </a:p>
        </p:txBody>
      </p:sp>
      <p:pic>
        <p:nvPicPr>
          <p:cNvPr id="4" name="Imagen 3" descr="Gráfico, Histograma&#10;&#10;El contenido generado por IA puede ser incorrecto.">
            <a:extLst>
              <a:ext uri="{FF2B5EF4-FFF2-40B4-BE49-F238E27FC236}">
                <a16:creationId xmlns:a16="http://schemas.microsoft.com/office/drawing/2014/main" id="{C1A6F155-C4C3-AB2C-A254-4C088AF17A3F}"/>
              </a:ext>
            </a:extLst>
          </p:cNvPr>
          <p:cNvPicPr>
            <a:picLocks noChangeAspect="1"/>
          </p:cNvPicPr>
          <p:nvPr/>
        </p:nvPicPr>
        <p:blipFill>
          <a:blip r:embed="rId2"/>
          <a:stretch>
            <a:fillRect/>
          </a:stretch>
        </p:blipFill>
        <p:spPr>
          <a:xfrm>
            <a:off x="2707159" y="863430"/>
            <a:ext cx="3737403" cy="4065372"/>
          </a:xfrm>
          <a:prstGeom prst="rect">
            <a:avLst/>
          </a:prstGeom>
        </p:spPr>
      </p:pic>
      <p:sp>
        <p:nvSpPr>
          <p:cNvPr id="2" name="Marcador de número de diapositiva 1">
            <a:extLst>
              <a:ext uri="{FF2B5EF4-FFF2-40B4-BE49-F238E27FC236}">
                <a16:creationId xmlns:a16="http://schemas.microsoft.com/office/drawing/2014/main" id="{0FDEBCEE-68BC-39CE-9AF4-6E71CC2EE61B}"/>
              </a:ext>
            </a:extLst>
          </p:cNvPr>
          <p:cNvSpPr>
            <a:spLocks noGrp="1"/>
          </p:cNvSpPr>
          <p:nvPr>
            <p:ph type="sldNum" sz="quarter" idx="4"/>
          </p:nvPr>
        </p:nvSpPr>
        <p:spPr/>
        <p:txBody>
          <a:bodyPr/>
          <a:lstStyle/>
          <a:p>
            <a:fld id="{F577E53E-616C-4B80-8F3C-B6584B31683E}" type="slidenum">
              <a:rPr lang="en-US" smtClean="0"/>
              <a:pPr/>
              <a:t>24</a:t>
            </a:fld>
            <a:endParaRPr lang="es-ES"/>
          </a:p>
        </p:txBody>
      </p:sp>
    </p:spTree>
    <p:extLst>
      <p:ext uri="{BB962C8B-B14F-4D97-AF65-F5344CB8AC3E}">
        <p14:creationId xmlns:p14="http://schemas.microsoft.com/office/powerpoint/2010/main" val="2316605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3729F-4869-8DDD-BBC9-34E6350E320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172D9416-9661-FE7E-FE97-0055C20C48C9}"/>
              </a:ext>
            </a:extLst>
          </p:cNvPr>
          <p:cNvSpPr>
            <a:spLocks noGrp="1"/>
          </p:cNvSpPr>
          <p:nvPr>
            <p:ph type="body" sz="quarter" idx="14"/>
          </p:nvPr>
        </p:nvSpPr>
        <p:spPr>
          <a:xfrm>
            <a:off x="223847" y="1016692"/>
            <a:ext cx="8160056" cy="3139321"/>
          </a:xfrm>
        </p:spPr>
        <p:txBody>
          <a:bodyPr wrap="square" lIns="0" tIns="0" rIns="0" bIns="0" anchor="t">
            <a:spAutoFit/>
          </a:bodyPr>
          <a:lstStyle/>
          <a:p>
            <a:pPr marL="457200" indent="-457200">
              <a:buAutoNum type="arabicPeriod"/>
            </a:pPr>
            <a:r>
              <a:rPr lang="es-ES" dirty="0">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of the art</a:t>
            </a:r>
            <a:endParaRPr lang="es-ES">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Thesis objectives</a:t>
            </a:r>
            <a:endParaRPr lang="es-ES" dirty="0">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a:solidFill>
                  <a:schemeClr val="tx1">
                    <a:lumMod val="95000"/>
                    <a:lumOff val="5000"/>
                  </a:schemeClr>
                </a:solidFill>
                <a:latin typeface="Calibri"/>
                <a:ea typeface="Calibri"/>
                <a:cs typeface="Calibri"/>
              </a:rPr>
              <a:t>Experiment and results</a:t>
            </a:r>
          </a:p>
          <a:p>
            <a:pPr marL="914400" lvl="1" indent="-457200">
              <a:buFont typeface="Arial"/>
              <a:buChar char="•"/>
            </a:pPr>
            <a:r>
              <a:rPr lang="es-ES" sz="1800" b="1" dirty="0">
                <a:solidFill>
                  <a:schemeClr val="tx1">
                    <a:lumMod val="49000"/>
                    <a:lumOff val="51000"/>
                  </a:schemeClr>
                </a:solidFill>
                <a:latin typeface="Calibri"/>
                <a:ea typeface="Calibri"/>
                <a:cs typeface="Calibri"/>
              </a:rPr>
              <a:t>Rational agents</a:t>
            </a:r>
          </a:p>
          <a:p>
            <a:pPr marL="914400" lvl="1" indent="-457200">
              <a:buFont typeface="Arial"/>
              <a:buChar char="•"/>
            </a:pPr>
            <a:r>
              <a:rPr lang="es-ES" sz="1800" b="1" dirty="0">
                <a:solidFill>
                  <a:schemeClr val="tx1">
                    <a:lumMod val="95000"/>
                    <a:lumOff val="5000"/>
                  </a:schemeClr>
                </a:solidFill>
                <a:latin typeface="Calibri"/>
                <a:ea typeface="Calibri"/>
                <a:cs typeface="Calibri"/>
              </a:rPr>
              <a:t>Risk-averse agents</a:t>
            </a:r>
          </a:p>
          <a:p>
            <a:pPr marL="457200" indent="-457200">
              <a:buAutoNum type="arabicPeriod"/>
            </a:pPr>
            <a:endParaRPr lang="es-ES" dirty="0">
              <a:ea typeface="Calibri"/>
            </a:endParaRPr>
          </a:p>
          <a:p>
            <a:pPr marL="457200" indent="-457200">
              <a:buAutoNum type="arabicPeriod"/>
            </a:pPr>
            <a:endParaRPr lang="es-ES" dirty="0"/>
          </a:p>
        </p:txBody>
      </p:sp>
      <p:sp>
        <p:nvSpPr>
          <p:cNvPr id="11" name="Título 2">
            <a:extLst>
              <a:ext uri="{FF2B5EF4-FFF2-40B4-BE49-F238E27FC236}">
                <a16:creationId xmlns:a16="http://schemas.microsoft.com/office/drawing/2014/main" id="{B179E87F-8B0B-B1EF-D4D0-661790679DED}"/>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AD89DC67-54B8-6C77-2FE9-80E241C27546}"/>
              </a:ext>
            </a:extLst>
          </p:cNvPr>
          <p:cNvSpPr>
            <a:spLocks noGrp="1"/>
          </p:cNvSpPr>
          <p:nvPr>
            <p:ph type="sldNum" sz="quarter" idx="4"/>
          </p:nvPr>
        </p:nvSpPr>
        <p:spPr/>
        <p:txBody>
          <a:bodyPr/>
          <a:lstStyle/>
          <a:p>
            <a:fld id="{F577E53E-616C-4B80-8F3C-B6584B31683E}" type="slidenum">
              <a:rPr lang="en-US" smtClean="0"/>
              <a:pPr/>
              <a:t>25</a:t>
            </a:fld>
            <a:endParaRPr lang="es-ES"/>
          </a:p>
        </p:txBody>
      </p:sp>
    </p:spTree>
    <p:extLst>
      <p:ext uri="{BB962C8B-B14F-4D97-AF65-F5344CB8AC3E}">
        <p14:creationId xmlns:p14="http://schemas.microsoft.com/office/powerpoint/2010/main" val="352321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C6AF7C3-A519-1B36-FC50-92ACA1281FC8}"/>
              </a:ext>
            </a:extLst>
          </p:cNvPr>
          <p:cNvSpPr>
            <a:spLocks noGrp="1"/>
          </p:cNvSpPr>
          <p:nvPr>
            <p:ph type="title"/>
          </p:nvPr>
        </p:nvSpPr>
        <p:spPr/>
        <p:txBody>
          <a:bodyPr wrap="square" lIns="0" tIns="0" rIns="0" bIns="0" anchor="t">
            <a:spAutoFit/>
          </a:bodyPr>
          <a:lstStyle/>
          <a:p>
            <a:r>
              <a:rPr lang="es-ES" dirty="0">
                <a:latin typeface="Calibri"/>
              </a:rPr>
              <a:t>Risk-averse drivers </a:t>
            </a:r>
            <a:r>
              <a:rPr lang="es-ES" dirty="0" err="1">
                <a:latin typeface="Calibri"/>
              </a:rPr>
              <a:t>may</a:t>
            </a:r>
            <a:r>
              <a:rPr lang="es-ES" dirty="0">
                <a:latin typeface="Calibri"/>
              </a:rPr>
              <a:t> </a:t>
            </a:r>
            <a:r>
              <a:rPr lang="es-ES" dirty="0" err="1">
                <a:latin typeface="Calibri"/>
              </a:rPr>
              <a:t>prevent</a:t>
            </a:r>
            <a:r>
              <a:rPr lang="es-ES" dirty="0">
                <a:latin typeface="Calibri"/>
              </a:rPr>
              <a:t> </a:t>
            </a:r>
            <a:r>
              <a:rPr lang="es-ES" dirty="0" err="1">
                <a:latin typeface="Calibri"/>
              </a:rPr>
              <a:t>convergence</a:t>
            </a:r>
            <a:r>
              <a:rPr lang="es-ES" dirty="0">
                <a:latin typeface="Calibri"/>
              </a:rPr>
              <a:t> </a:t>
            </a:r>
            <a:r>
              <a:rPr lang="es-ES" dirty="0" err="1">
                <a:latin typeface="Calibri"/>
              </a:rPr>
              <a:t>towards</a:t>
            </a:r>
            <a:r>
              <a:rPr lang="es-ES" dirty="0">
                <a:latin typeface="Calibri"/>
              </a:rPr>
              <a:t> DUE</a:t>
            </a:r>
            <a:endParaRPr lang="es-ES" b="0" dirty="0">
              <a:latin typeface="Calibri"/>
              <a:ea typeface="Calibri"/>
              <a:cs typeface="Calibri"/>
            </a:endParaRPr>
          </a:p>
        </p:txBody>
      </p:sp>
      <p:pic>
        <p:nvPicPr>
          <p:cNvPr id="4" name="Imagen 3" descr="Imagen que contiene Interfaz de usuario gráfica&#10;&#10;El contenido generado por IA puede ser incorrecto.">
            <a:extLst>
              <a:ext uri="{FF2B5EF4-FFF2-40B4-BE49-F238E27FC236}">
                <a16:creationId xmlns:a16="http://schemas.microsoft.com/office/drawing/2014/main" id="{3D6FAE3B-EB71-16A8-ED6C-08C9D2DCCB64}"/>
              </a:ext>
            </a:extLst>
          </p:cNvPr>
          <p:cNvPicPr>
            <a:picLocks noChangeAspect="1"/>
          </p:cNvPicPr>
          <p:nvPr/>
        </p:nvPicPr>
        <p:blipFill>
          <a:blip r:embed="rId2"/>
          <a:stretch>
            <a:fillRect/>
          </a:stretch>
        </p:blipFill>
        <p:spPr>
          <a:xfrm>
            <a:off x="216244" y="1064176"/>
            <a:ext cx="8572500" cy="3733382"/>
          </a:xfrm>
          <a:prstGeom prst="rect">
            <a:avLst/>
          </a:prstGeom>
        </p:spPr>
      </p:pic>
      <p:sp>
        <p:nvSpPr>
          <p:cNvPr id="2" name="Marcador de número de diapositiva 1">
            <a:extLst>
              <a:ext uri="{FF2B5EF4-FFF2-40B4-BE49-F238E27FC236}">
                <a16:creationId xmlns:a16="http://schemas.microsoft.com/office/drawing/2014/main" id="{8C2ABB3B-79AB-26A5-CF83-FDAEB2C60D95}"/>
              </a:ext>
            </a:extLst>
          </p:cNvPr>
          <p:cNvSpPr>
            <a:spLocks noGrp="1"/>
          </p:cNvSpPr>
          <p:nvPr>
            <p:ph type="sldNum" sz="quarter" idx="4"/>
          </p:nvPr>
        </p:nvSpPr>
        <p:spPr/>
        <p:txBody>
          <a:bodyPr/>
          <a:lstStyle/>
          <a:p>
            <a:fld id="{F577E53E-616C-4B80-8F3C-B6584B31683E}" type="slidenum">
              <a:rPr lang="en-US" smtClean="0"/>
              <a:pPr/>
              <a:t>26</a:t>
            </a:fld>
            <a:endParaRPr lang="es-ES"/>
          </a:p>
        </p:txBody>
      </p:sp>
    </p:spTree>
    <p:extLst>
      <p:ext uri="{BB962C8B-B14F-4D97-AF65-F5344CB8AC3E}">
        <p14:creationId xmlns:p14="http://schemas.microsoft.com/office/powerpoint/2010/main" val="265035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2C33D55-CBAC-6F94-B0B2-B4223FA20A9E}"/>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ea typeface="Calibri"/>
                <a:cs typeface="Calibri"/>
              </a:rPr>
              <a:t>Risk-averse drivers </a:t>
            </a:r>
            <a:r>
              <a:rPr lang="es-ES" dirty="0" err="1">
                <a:latin typeface="Calibri"/>
                <a:ea typeface="Calibri"/>
                <a:cs typeface="Calibri"/>
              </a:rPr>
              <a:t>may</a:t>
            </a:r>
            <a:r>
              <a:rPr lang="es-ES" dirty="0">
                <a:latin typeface="Calibri"/>
                <a:ea typeface="Calibri"/>
                <a:cs typeface="Calibri"/>
              </a:rPr>
              <a:t> </a:t>
            </a:r>
            <a:r>
              <a:rPr lang="es-ES" dirty="0" err="1">
                <a:latin typeface="Calibri"/>
                <a:ea typeface="Calibri"/>
                <a:cs typeface="Calibri"/>
              </a:rPr>
              <a:t>prefer</a:t>
            </a:r>
            <a:r>
              <a:rPr lang="es-ES" dirty="0">
                <a:latin typeface="Calibri"/>
                <a:ea typeface="Calibri"/>
                <a:cs typeface="Calibri"/>
              </a:rPr>
              <a:t> </a:t>
            </a:r>
            <a:r>
              <a:rPr lang="es-ES" dirty="0" err="1">
                <a:latin typeface="Calibri"/>
                <a:ea typeface="Calibri"/>
                <a:cs typeface="Calibri"/>
              </a:rPr>
              <a:t>longer</a:t>
            </a:r>
            <a:r>
              <a:rPr lang="es-ES" dirty="0">
                <a:latin typeface="Calibri"/>
                <a:ea typeface="Calibri"/>
                <a:cs typeface="Calibri"/>
              </a:rPr>
              <a:t> </a:t>
            </a:r>
            <a:r>
              <a:rPr lang="es-ES" dirty="0" err="1">
                <a:latin typeface="Calibri"/>
                <a:ea typeface="Calibri"/>
                <a:cs typeface="Calibri"/>
              </a:rPr>
              <a:t>but</a:t>
            </a:r>
            <a:r>
              <a:rPr lang="es-ES" dirty="0">
                <a:latin typeface="Calibri"/>
                <a:ea typeface="Calibri"/>
                <a:cs typeface="Calibri"/>
              </a:rPr>
              <a:t> more </a:t>
            </a:r>
            <a:r>
              <a:rPr lang="es-ES" dirty="0" err="1">
                <a:latin typeface="Calibri"/>
                <a:ea typeface="Calibri"/>
                <a:cs typeface="Calibri"/>
              </a:rPr>
              <a:t>reliable</a:t>
            </a:r>
            <a:r>
              <a:rPr lang="es-ES" dirty="0">
                <a:latin typeface="Calibri"/>
                <a:ea typeface="Calibri"/>
                <a:cs typeface="Calibri"/>
              </a:rPr>
              <a:t> </a:t>
            </a:r>
            <a:r>
              <a:rPr lang="es-ES" dirty="0" err="1">
                <a:latin typeface="Calibri"/>
                <a:ea typeface="Calibri"/>
                <a:cs typeface="Calibri"/>
              </a:rPr>
              <a:t>routes</a:t>
            </a:r>
            <a:endParaRPr lang="es-ES">
              <a:ea typeface="Calibri"/>
              <a:cs typeface="Calibri"/>
            </a:endParaRPr>
          </a:p>
        </p:txBody>
      </p:sp>
      <p:pic>
        <p:nvPicPr>
          <p:cNvPr id="7" name="Imagen 6" descr="Una captura de pantalla de un celular con texto e imágenes&#10;&#10;El contenido generado por IA puede ser incorrecto.">
            <a:extLst>
              <a:ext uri="{FF2B5EF4-FFF2-40B4-BE49-F238E27FC236}">
                <a16:creationId xmlns:a16="http://schemas.microsoft.com/office/drawing/2014/main" id="{02AA42B1-F4B7-567E-2BF8-B54C3B42F17F}"/>
              </a:ext>
            </a:extLst>
          </p:cNvPr>
          <p:cNvPicPr>
            <a:picLocks noChangeAspect="1"/>
          </p:cNvPicPr>
          <p:nvPr/>
        </p:nvPicPr>
        <p:blipFill>
          <a:blip r:embed="rId2"/>
          <a:stretch>
            <a:fillRect/>
          </a:stretch>
        </p:blipFill>
        <p:spPr>
          <a:xfrm>
            <a:off x="702792" y="1703949"/>
            <a:ext cx="7738805" cy="3334836"/>
          </a:xfrm>
          <a:prstGeom prst="rect">
            <a:avLst/>
          </a:prstGeom>
        </p:spPr>
      </p:pic>
      <p:pic>
        <p:nvPicPr>
          <p:cNvPr id="10" name="Imagen 9" descr="Tabla&#10;&#10;El contenido generado por IA puede ser incorrecto.">
            <a:extLst>
              <a:ext uri="{FF2B5EF4-FFF2-40B4-BE49-F238E27FC236}">
                <a16:creationId xmlns:a16="http://schemas.microsoft.com/office/drawing/2014/main" id="{8E64354B-CE01-7F12-B1F9-DDB3EA64F665}"/>
              </a:ext>
            </a:extLst>
          </p:cNvPr>
          <p:cNvPicPr>
            <a:picLocks noChangeAspect="1"/>
          </p:cNvPicPr>
          <p:nvPr/>
        </p:nvPicPr>
        <p:blipFill>
          <a:blip r:embed="rId3"/>
          <a:srcRect r="54457" b="58515"/>
          <a:stretch>
            <a:fillRect/>
          </a:stretch>
        </p:blipFill>
        <p:spPr>
          <a:xfrm>
            <a:off x="2944384" y="851327"/>
            <a:ext cx="2524711" cy="735208"/>
          </a:xfrm>
          <a:prstGeom prst="rect">
            <a:avLst/>
          </a:prstGeom>
        </p:spPr>
      </p:pic>
      <p:sp>
        <p:nvSpPr>
          <p:cNvPr id="2" name="Marcador de número de diapositiva 1">
            <a:extLst>
              <a:ext uri="{FF2B5EF4-FFF2-40B4-BE49-F238E27FC236}">
                <a16:creationId xmlns:a16="http://schemas.microsoft.com/office/drawing/2014/main" id="{14959FFD-4EBA-F4A8-4A69-89BDF3806507}"/>
              </a:ext>
            </a:extLst>
          </p:cNvPr>
          <p:cNvSpPr>
            <a:spLocks noGrp="1"/>
          </p:cNvSpPr>
          <p:nvPr>
            <p:ph type="sldNum" sz="quarter" idx="4"/>
          </p:nvPr>
        </p:nvSpPr>
        <p:spPr/>
        <p:txBody>
          <a:bodyPr/>
          <a:lstStyle/>
          <a:p>
            <a:fld id="{F577E53E-616C-4B80-8F3C-B6584B31683E}" type="slidenum">
              <a:rPr lang="en-US" smtClean="0"/>
              <a:pPr/>
              <a:t>27</a:t>
            </a:fld>
            <a:endParaRPr lang="es-ES"/>
          </a:p>
        </p:txBody>
      </p:sp>
    </p:spTree>
    <p:extLst>
      <p:ext uri="{BB962C8B-B14F-4D97-AF65-F5344CB8AC3E}">
        <p14:creationId xmlns:p14="http://schemas.microsoft.com/office/powerpoint/2010/main" val="3808967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DF43F-8729-0E5B-487F-2B9D7237B0D1}"/>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1C1C945-BCEA-F434-B5BD-0435E76F9B18}"/>
              </a:ext>
            </a:extLst>
          </p:cNvPr>
          <p:cNvSpPr>
            <a:spLocks noGrp="1"/>
          </p:cNvSpPr>
          <p:nvPr>
            <p:ph type="body" sz="quarter" idx="14"/>
          </p:nvPr>
        </p:nvSpPr>
        <p:spPr>
          <a:xfrm>
            <a:off x="223847" y="1016692"/>
            <a:ext cx="8160056" cy="3416320"/>
          </a:xfrm>
        </p:spPr>
        <p:txBody>
          <a:bodyPr wrap="square" lIns="0" tIns="0" rIns="0" bIns="0" anchor="t">
            <a:spAutoFit/>
          </a:bodyPr>
          <a:lstStyle/>
          <a:p>
            <a:pPr marL="457200" indent="-457200">
              <a:buAutoNum type="arabicPeriod"/>
            </a:pPr>
            <a:r>
              <a:rPr lang="es-ES" dirty="0">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of the art</a:t>
            </a:r>
            <a:endParaRPr lang="es-ES">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Thesis objectives</a:t>
            </a:r>
            <a:endParaRPr lang="es-ES" dirty="0" err="1">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a:solidFill>
                  <a:schemeClr val="tx1">
                    <a:lumMod val="95000"/>
                    <a:lumOff val="5000"/>
                  </a:schemeClr>
                </a:solidFill>
                <a:latin typeface="Calibri"/>
                <a:ea typeface="Calibri"/>
                <a:cs typeface="Calibri"/>
              </a:rPr>
              <a:t>Experiment and results</a:t>
            </a:r>
          </a:p>
          <a:p>
            <a:pPr marL="914400" lvl="1" indent="-457200">
              <a:buFont typeface="Arial"/>
              <a:buChar char="•"/>
            </a:pPr>
            <a:r>
              <a:rPr lang="es-ES" sz="1800" b="1" dirty="0">
                <a:solidFill>
                  <a:schemeClr val="tx1">
                    <a:lumMod val="49000"/>
                    <a:lumOff val="51000"/>
                  </a:schemeClr>
                </a:solidFill>
                <a:latin typeface="Calibri"/>
                <a:ea typeface="Calibri"/>
                <a:cs typeface="Calibri"/>
              </a:rPr>
              <a:t>Rational agents</a:t>
            </a:r>
          </a:p>
          <a:p>
            <a:pPr marL="914400" lvl="1" indent="-457200">
              <a:buFont typeface="Arial"/>
              <a:buChar char="•"/>
            </a:pPr>
            <a:r>
              <a:rPr lang="es-ES" sz="1800" b="1" dirty="0">
                <a:solidFill>
                  <a:schemeClr val="tx1">
                    <a:lumMod val="49000"/>
                    <a:lumOff val="51000"/>
                  </a:schemeClr>
                </a:solidFill>
                <a:latin typeface="Calibri"/>
                <a:ea typeface="Calibri"/>
                <a:cs typeface="Calibri"/>
              </a:rPr>
              <a:t>Risk-averse agents</a:t>
            </a:r>
          </a:p>
          <a:p>
            <a:pPr marL="914400" lvl="1" indent="-457200">
              <a:buFont typeface="Arial"/>
              <a:buChar char="•"/>
            </a:pPr>
            <a:r>
              <a:rPr lang="es-ES" sz="1800" b="1" dirty="0">
                <a:solidFill>
                  <a:schemeClr val="tx1">
                    <a:lumMod val="95000"/>
                    <a:lumOff val="5000"/>
                  </a:schemeClr>
                </a:solidFill>
                <a:latin typeface="Calibri"/>
                <a:ea typeface="Calibri"/>
                <a:cs typeface="Calibri"/>
              </a:rPr>
              <a:t>Waiting-time-averse agents</a:t>
            </a:r>
          </a:p>
          <a:p>
            <a:pPr marL="457200" indent="-457200">
              <a:buAutoNum type="arabicPeriod"/>
            </a:pPr>
            <a:endParaRPr lang="es-ES" dirty="0">
              <a:ea typeface="Calibri"/>
            </a:endParaRPr>
          </a:p>
          <a:p>
            <a:pPr marL="457200" indent="-457200">
              <a:buAutoNum type="arabicPeriod"/>
            </a:pPr>
            <a:endParaRPr lang="es-ES" dirty="0"/>
          </a:p>
        </p:txBody>
      </p:sp>
      <p:sp>
        <p:nvSpPr>
          <p:cNvPr id="11" name="Título 2">
            <a:extLst>
              <a:ext uri="{FF2B5EF4-FFF2-40B4-BE49-F238E27FC236}">
                <a16:creationId xmlns:a16="http://schemas.microsoft.com/office/drawing/2014/main" id="{90F2D90A-1821-B7FD-9A07-E0D24DEF8D9D}"/>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CDD00AA0-67BD-14C9-15EB-4DF4A6B69515}"/>
              </a:ext>
            </a:extLst>
          </p:cNvPr>
          <p:cNvSpPr>
            <a:spLocks noGrp="1"/>
          </p:cNvSpPr>
          <p:nvPr>
            <p:ph type="sldNum" sz="quarter" idx="4"/>
          </p:nvPr>
        </p:nvSpPr>
        <p:spPr/>
        <p:txBody>
          <a:bodyPr/>
          <a:lstStyle/>
          <a:p>
            <a:fld id="{F577E53E-616C-4B80-8F3C-B6584B31683E}" type="slidenum">
              <a:rPr lang="en-US" smtClean="0"/>
              <a:pPr/>
              <a:t>28</a:t>
            </a:fld>
            <a:endParaRPr lang="es-ES"/>
          </a:p>
        </p:txBody>
      </p:sp>
    </p:spTree>
    <p:extLst>
      <p:ext uri="{BB962C8B-B14F-4D97-AF65-F5344CB8AC3E}">
        <p14:creationId xmlns:p14="http://schemas.microsoft.com/office/powerpoint/2010/main" val="3717804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B506A65E-7FAA-34DE-EFEA-BE2F12AB20FB}"/>
              </a:ext>
            </a:extLst>
          </p:cNvPr>
          <p:cNvSpPr>
            <a:spLocks noGrp="1"/>
          </p:cNvSpPr>
          <p:nvPr>
            <p:ph type="title"/>
          </p:nvPr>
        </p:nvSpPr>
        <p:spPr>
          <a:xfrm>
            <a:off x="73152" y="73152"/>
            <a:ext cx="8863030" cy="861774"/>
          </a:xfrm>
        </p:spPr>
        <p:txBody>
          <a:bodyPr wrap="square" lIns="0" tIns="0" rIns="0" bIns="0" anchor="t">
            <a:spAutoFit/>
          </a:bodyPr>
          <a:lstStyle/>
          <a:p>
            <a:r>
              <a:rPr lang="es-ES" dirty="0" err="1">
                <a:latin typeface="Calibri"/>
                <a:ea typeface="Calibri"/>
                <a:cs typeface="Calibri"/>
              </a:rPr>
              <a:t>Waiting</a:t>
            </a:r>
            <a:r>
              <a:rPr lang="es-ES" dirty="0">
                <a:latin typeface="Calibri"/>
                <a:ea typeface="Calibri"/>
                <a:cs typeface="Calibri"/>
              </a:rPr>
              <a:t>-time-averse drivers </a:t>
            </a:r>
            <a:r>
              <a:rPr lang="es-ES" dirty="0" err="1">
                <a:latin typeface="Calibri"/>
                <a:ea typeface="Calibri"/>
                <a:cs typeface="Calibri"/>
              </a:rPr>
              <a:t>may</a:t>
            </a:r>
            <a:r>
              <a:rPr lang="es-ES" dirty="0">
                <a:latin typeface="Calibri"/>
                <a:ea typeface="Calibri"/>
                <a:cs typeface="Calibri"/>
              </a:rPr>
              <a:t> </a:t>
            </a:r>
            <a:r>
              <a:rPr lang="es-ES" dirty="0" err="1">
                <a:latin typeface="Calibri"/>
                <a:ea typeface="Calibri"/>
                <a:cs typeface="Calibri"/>
              </a:rPr>
              <a:t>prevent</a:t>
            </a:r>
            <a:r>
              <a:rPr lang="es-ES" dirty="0">
                <a:latin typeface="Calibri"/>
                <a:ea typeface="Calibri"/>
                <a:cs typeface="Calibri"/>
              </a:rPr>
              <a:t> </a:t>
            </a:r>
            <a:r>
              <a:rPr lang="es-ES" dirty="0" err="1">
                <a:latin typeface="Calibri"/>
                <a:ea typeface="Calibri"/>
                <a:cs typeface="Calibri"/>
              </a:rPr>
              <a:t>convergence</a:t>
            </a:r>
            <a:r>
              <a:rPr lang="es-ES" dirty="0">
                <a:latin typeface="Calibri"/>
                <a:ea typeface="Calibri"/>
                <a:cs typeface="Calibri"/>
              </a:rPr>
              <a:t> </a:t>
            </a:r>
            <a:r>
              <a:rPr lang="es-ES" dirty="0" err="1">
                <a:latin typeface="Calibri"/>
                <a:ea typeface="Calibri"/>
                <a:cs typeface="Calibri"/>
              </a:rPr>
              <a:t>towards</a:t>
            </a:r>
            <a:r>
              <a:rPr lang="es-ES" dirty="0">
                <a:latin typeface="Calibri"/>
                <a:ea typeface="Calibri"/>
                <a:cs typeface="Calibri"/>
              </a:rPr>
              <a:t> DUE</a:t>
            </a:r>
            <a:endParaRPr lang="es-ES" dirty="0">
              <a:latin typeface="Calibri"/>
            </a:endParaRPr>
          </a:p>
        </p:txBody>
      </p:sp>
      <p:pic>
        <p:nvPicPr>
          <p:cNvPr id="4" name="Imagen 3" descr="Imagen que contiene Gráfico&#10;&#10;El contenido generado por IA puede ser incorrecto.">
            <a:extLst>
              <a:ext uri="{FF2B5EF4-FFF2-40B4-BE49-F238E27FC236}">
                <a16:creationId xmlns:a16="http://schemas.microsoft.com/office/drawing/2014/main" id="{85360F5B-5F5B-8A5B-A995-975B7F6299B3}"/>
              </a:ext>
            </a:extLst>
          </p:cNvPr>
          <p:cNvPicPr>
            <a:picLocks noChangeAspect="1"/>
          </p:cNvPicPr>
          <p:nvPr/>
        </p:nvPicPr>
        <p:blipFill>
          <a:blip r:embed="rId2"/>
          <a:stretch>
            <a:fillRect/>
          </a:stretch>
        </p:blipFill>
        <p:spPr>
          <a:xfrm>
            <a:off x="269081" y="1285875"/>
            <a:ext cx="8677275" cy="3664743"/>
          </a:xfrm>
          <a:prstGeom prst="rect">
            <a:avLst/>
          </a:prstGeom>
        </p:spPr>
      </p:pic>
      <p:sp>
        <p:nvSpPr>
          <p:cNvPr id="2" name="Marcador de número de diapositiva 1">
            <a:extLst>
              <a:ext uri="{FF2B5EF4-FFF2-40B4-BE49-F238E27FC236}">
                <a16:creationId xmlns:a16="http://schemas.microsoft.com/office/drawing/2014/main" id="{783A1F9A-B9EA-966E-FD30-C6570D30EFE9}"/>
              </a:ext>
            </a:extLst>
          </p:cNvPr>
          <p:cNvSpPr>
            <a:spLocks noGrp="1"/>
          </p:cNvSpPr>
          <p:nvPr>
            <p:ph type="sldNum" sz="quarter" idx="4"/>
          </p:nvPr>
        </p:nvSpPr>
        <p:spPr/>
        <p:txBody>
          <a:bodyPr/>
          <a:lstStyle/>
          <a:p>
            <a:fld id="{F577E53E-616C-4B80-8F3C-B6584B31683E}" type="slidenum">
              <a:rPr lang="en-US" smtClean="0"/>
              <a:pPr/>
              <a:t>29</a:t>
            </a:fld>
            <a:endParaRPr lang="es-ES"/>
          </a:p>
        </p:txBody>
      </p:sp>
    </p:spTree>
    <p:extLst>
      <p:ext uri="{BB962C8B-B14F-4D97-AF65-F5344CB8AC3E}">
        <p14:creationId xmlns:p14="http://schemas.microsoft.com/office/powerpoint/2010/main" val="2804735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485AF16-DED7-DD71-FD55-C2210D95580A}"/>
              </a:ext>
            </a:extLst>
          </p:cNvPr>
          <p:cNvSpPr>
            <a:spLocks noGrp="1"/>
          </p:cNvSpPr>
          <p:nvPr>
            <p:ph type="title"/>
          </p:nvPr>
        </p:nvSpPr>
        <p:spPr>
          <a:xfrm>
            <a:off x="73152" y="73152"/>
            <a:ext cx="8863030" cy="1292662"/>
          </a:xfrm>
        </p:spPr>
        <p:txBody>
          <a:bodyPr wrap="square" lIns="0" tIns="0" rIns="0" bIns="0" anchor="t">
            <a:spAutoFit/>
          </a:bodyPr>
          <a:lstStyle/>
          <a:p>
            <a:r>
              <a:rPr lang="es-ES" dirty="0" err="1">
                <a:latin typeface="Calibri"/>
                <a:ea typeface="Calibri"/>
                <a:cs typeface="Calibri"/>
              </a:rPr>
              <a:t>Waiting</a:t>
            </a:r>
            <a:r>
              <a:rPr lang="es-ES" dirty="0">
                <a:latin typeface="Calibri"/>
                <a:ea typeface="Calibri"/>
                <a:cs typeface="Calibri"/>
              </a:rPr>
              <a:t>-time-averse drivers </a:t>
            </a:r>
            <a:r>
              <a:rPr lang="es-ES" dirty="0" err="1">
                <a:latin typeface="Calibri"/>
                <a:ea typeface="Calibri"/>
                <a:cs typeface="Calibri"/>
              </a:rPr>
              <a:t>may</a:t>
            </a:r>
            <a:r>
              <a:rPr lang="es-ES" dirty="0">
                <a:latin typeface="Calibri"/>
                <a:ea typeface="Calibri"/>
                <a:cs typeface="Calibri"/>
              </a:rPr>
              <a:t> favor </a:t>
            </a:r>
            <a:r>
              <a:rPr lang="es-ES" dirty="0" err="1">
                <a:latin typeface="Calibri"/>
                <a:ea typeface="Calibri"/>
                <a:cs typeface="Calibri"/>
              </a:rPr>
              <a:t>longer</a:t>
            </a:r>
            <a:r>
              <a:rPr lang="es-ES" dirty="0">
                <a:latin typeface="Calibri"/>
                <a:ea typeface="Calibri"/>
                <a:cs typeface="Calibri"/>
              </a:rPr>
              <a:t> </a:t>
            </a:r>
            <a:r>
              <a:rPr lang="es-ES" dirty="0" err="1">
                <a:latin typeface="Calibri"/>
                <a:ea typeface="Calibri"/>
                <a:cs typeface="Calibri"/>
              </a:rPr>
              <a:t>routes</a:t>
            </a:r>
            <a:r>
              <a:rPr lang="es-ES" dirty="0">
                <a:latin typeface="Calibri"/>
                <a:ea typeface="Calibri"/>
                <a:cs typeface="Calibri"/>
              </a:rPr>
              <a:t> </a:t>
            </a:r>
            <a:r>
              <a:rPr lang="es-ES" dirty="0" err="1">
                <a:latin typeface="Calibri"/>
                <a:ea typeface="Calibri"/>
                <a:cs typeface="Calibri"/>
              </a:rPr>
              <a:t>to</a:t>
            </a:r>
            <a:r>
              <a:rPr lang="es-ES" dirty="0">
                <a:latin typeface="Calibri"/>
                <a:ea typeface="Calibri"/>
                <a:cs typeface="Calibri"/>
              </a:rPr>
              <a:t> reduce time </a:t>
            </a:r>
            <a:r>
              <a:rPr lang="es-ES" dirty="0" err="1">
                <a:latin typeface="Calibri"/>
                <a:ea typeface="Calibri"/>
                <a:cs typeface="Calibri"/>
              </a:rPr>
              <a:t>spent</a:t>
            </a:r>
            <a:r>
              <a:rPr lang="es-ES" dirty="0">
                <a:latin typeface="Calibri"/>
                <a:ea typeface="Calibri"/>
                <a:cs typeface="Calibri"/>
              </a:rPr>
              <a:t> </a:t>
            </a:r>
            <a:r>
              <a:rPr lang="es-ES" dirty="0" err="1">
                <a:latin typeface="Calibri"/>
                <a:ea typeface="Calibri"/>
                <a:cs typeface="Calibri"/>
              </a:rPr>
              <a:t>stopped</a:t>
            </a:r>
            <a:endParaRPr lang="es-ES" dirty="0" err="1">
              <a:ea typeface="Calibri"/>
              <a:cs typeface="Calibri"/>
            </a:endParaRPr>
          </a:p>
          <a:p>
            <a:endParaRPr lang="es-ES" dirty="0"/>
          </a:p>
        </p:txBody>
      </p:sp>
      <p:pic>
        <p:nvPicPr>
          <p:cNvPr id="4" name="Imagen 3" descr="Una captura de pantalla de un celular con texto e imagen&#10;&#10;El contenido generado por IA puede ser incorrecto.">
            <a:extLst>
              <a:ext uri="{FF2B5EF4-FFF2-40B4-BE49-F238E27FC236}">
                <a16:creationId xmlns:a16="http://schemas.microsoft.com/office/drawing/2014/main" id="{221A06DC-8125-5344-84C2-CB791E945D1F}"/>
              </a:ext>
            </a:extLst>
          </p:cNvPr>
          <p:cNvPicPr>
            <a:picLocks noChangeAspect="1"/>
          </p:cNvPicPr>
          <p:nvPr/>
        </p:nvPicPr>
        <p:blipFill>
          <a:blip r:embed="rId2"/>
          <a:stretch>
            <a:fillRect/>
          </a:stretch>
        </p:blipFill>
        <p:spPr>
          <a:xfrm>
            <a:off x="739346" y="1715916"/>
            <a:ext cx="7673031" cy="3410723"/>
          </a:xfrm>
          <a:prstGeom prst="rect">
            <a:avLst/>
          </a:prstGeom>
        </p:spPr>
      </p:pic>
      <p:pic>
        <p:nvPicPr>
          <p:cNvPr id="5" name="Imagen 4">
            <a:extLst>
              <a:ext uri="{FF2B5EF4-FFF2-40B4-BE49-F238E27FC236}">
                <a16:creationId xmlns:a16="http://schemas.microsoft.com/office/drawing/2014/main" id="{44E732F8-0DC0-12F4-8512-E30DD1A2F45D}"/>
              </a:ext>
            </a:extLst>
          </p:cNvPr>
          <p:cNvPicPr>
            <a:picLocks noChangeAspect="1"/>
          </p:cNvPicPr>
          <p:nvPr/>
        </p:nvPicPr>
        <p:blipFill>
          <a:blip r:embed="rId3"/>
          <a:srcRect r="52713" b="-1191"/>
          <a:stretch>
            <a:fillRect/>
          </a:stretch>
        </p:blipFill>
        <p:spPr>
          <a:xfrm>
            <a:off x="3235153" y="1044405"/>
            <a:ext cx="2416950" cy="652898"/>
          </a:xfrm>
          <a:prstGeom prst="rect">
            <a:avLst/>
          </a:prstGeom>
        </p:spPr>
      </p:pic>
      <p:sp>
        <p:nvSpPr>
          <p:cNvPr id="2" name="Marcador de número de diapositiva 1">
            <a:extLst>
              <a:ext uri="{FF2B5EF4-FFF2-40B4-BE49-F238E27FC236}">
                <a16:creationId xmlns:a16="http://schemas.microsoft.com/office/drawing/2014/main" id="{67230648-6003-2EE3-49F1-BEB1E8B5A3B4}"/>
              </a:ext>
            </a:extLst>
          </p:cNvPr>
          <p:cNvSpPr>
            <a:spLocks noGrp="1"/>
          </p:cNvSpPr>
          <p:nvPr>
            <p:ph type="sldNum" sz="quarter" idx="4"/>
          </p:nvPr>
        </p:nvSpPr>
        <p:spPr/>
        <p:txBody>
          <a:bodyPr/>
          <a:lstStyle/>
          <a:p>
            <a:fld id="{F577E53E-616C-4B80-8F3C-B6584B31683E}" type="slidenum">
              <a:rPr lang="en-US" smtClean="0"/>
              <a:pPr/>
              <a:t>30</a:t>
            </a:fld>
            <a:endParaRPr lang="es-ES"/>
          </a:p>
        </p:txBody>
      </p:sp>
    </p:spTree>
    <p:extLst>
      <p:ext uri="{BB962C8B-B14F-4D97-AF65-F5344CB8AC3E}">
        <p14:creationId xmlns:p14="http://schemas.microsoft.com/office/powerpoint/2010/main" val="136110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1ACB-1562-E642-ECB5-BD36BCE9AA2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EC5BA81-CFB9-1BCA-85A3-477F56E7353C}"/>
              </a:ext>
            </a:extLst>
          </p:cNvPr>
          <p:cNvSpPr>
            <a:spLocks noGrp="1"/>
          </p:cNvSpPr>
          <p:nvPr>
            <p:ph type="body" sz="quarter" idx="14"/>
          </p:nvPr>
        </p:nvSpPr>
        <p:spPr>
          <a:xfrm>
            <a:off x="223847" y="1016692"/>
            <a:ext cx="8160056" cy="3693319"/>
          </a:xfrm>
        </p:spPr>
        <p:txBody>
          <a:bodyPr wrap="square" lIns="0" tIns="0" rIns="0" bIns="0" anchor="t">
            <a:spAutoFit/>
          </a:bodyPr>
          <a:lstStyle/>
          <a:p>
            <a:pPr marL="457200" indent="-457200">
              <a:buAutoNum type="arabicPeriod"/>
            </a:pPr>
            <a:r>
              <a:rPr lang="es-ES" dirty="0">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of the art</a:t>
            </a:r>
            <a:endParaRPr lang="es-ES">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Thesis objectives</a:t>
            </a:r>
            <a:endParaRPr lang="es-ES" dirty="0">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a:solidFill>
                  <a:schemeClr val="tx1">
                    <a:lumMod val="95000"/>
                    <a:lumOff val="5000"/>
                  </a:schemeClr>
                </a:solidFill>
                <a:latin typeface="Calibri"/>
                <a:ea typeface="Calibri"/>
                <a:cs typeface="Calibri"/>
              </a:rPr>
              <a:t>Experiment and results</a:t>
            </a:r>
          </a:p>
          <a:p>
            <a:pPr marL="914400" lvl="1" indent="-457200">
              <a:buFont typeface="Arial"/>
              <a:buChar char="•"/>
            </a:pPr>
            <a:r>
              <a:rPr lang="es-ES" sz="1800" b="1" dirty="0">
                <a:solidFill>
                  <a:schemeClr val="tx1">
                    <a:lumMod val="49000"/>
                    <a:lumOff val="51000"/>
                  </a:schemeClr>
                </a:solidFill>
                <a:latin typeface="Calibri"/>
                <a:ea typeface="Calibri"/>
                <a:cs typeface="Calibri"/>
              </a:rPr>
              <a:t>Rational agents</a:t>
            </a:r>
          </a:p>
          <a:p>
            <a:pPr marL="914400" lvl="1" indent="-457200">
              <a:buFont typeface="Arial"/>
              <a:buChar char="•"/>
            </a:pPr>
            <a:r>
              <a:rPr lang="es-ES" sz="1800" b="1" dirty="0">
                <a:solidFill>
                  <a:schemeClr val="tx1">
                    <a:lumMod val="49000"/>
                    <a:lumOff val="51000"/>
                  </a:schemeClr>
                </a:solidFill>
                <a:latin typeface="Calibri"/>
                <a:ea typeface="Calibri"/>
                <a:cs typeface="Calibri"/>
              </a:rPr>
              <a:t>Risk-averse agents</a:t>
            </a:r>
          </a:p>
          <a:p>
            <a:pPr marL="914400" lvl="1" indent="-457200">
              <a:buFont typeface="Arial"/>
              <a:buChar char="•"/>
            </a:pPr>
            <a:r>
              <a:rPr lang="es-ES" sz="1800" b="1" dirty="0">
                <a:solidFill>
                  <a:schemeClr val="tx1">
                    <a:lumMod val="49000"/>
                    <a:lumOff val="51000"/>
                  </a:schemeClr>
                </a:solidFill>
                <a:latin typeface="Calibri"/>
                <a:ea typeface="Calibri"/>
                <a:cs typeface="Calibri"/>
              </a:rPr>
              <a:t>Waiting-time-averse agents</a:t>
            </a:r>
          </a:p>
          <a:p>
            <a:pPr marL="914400" lvl="1" indent="-457200">
              <a:buFont typeface="Arial"/>
              <a:buChar char="•"/>
            </a:pPr>
            <a:r>
              <a:rPr lang="es-ES" sz="1800" b="1" dirty="0">
                <a:latin typeface="Calibri"/>
                <a:ea typeface="Calibri"/>
                <a:cs typeface="Calibri"/>
              </a:rPr>
              <a:t>Nonlinear response</a:t>
            </a:r>
          </a:p>
          <a:p>
            <a:pPr marL="457200" indent="-457200">
              <a:buAutoNum type="arabicPeriod"/>
            </a:pPr>
            <a:endParaRPr lang="es-ES" dirty="0">
              <a:ea typeface="Calibri"/>
            </a:endParaRPr>
          </a:p>
          <a:p>
            <a:pPr marL="457200" indent="-457200">
              <a:buAutoNum type="arabicPeriod"/>
            </a:pPr>
            <a:endParaRPr lang="es-ES" dirty="0"/>
          </a:p>
        </p:txBody>
      </p:sp>
      <p:sp>
        <p:nvSpPr>
          <p:cNvPr id="11" name="Título 2">
            <a:extLst>
              <a:ext uri="{FF2B5EF4-FFF2-40B4-BE49-F238E27FC236}">
                <a16:creationId xmlns:a16="http://schemas.microsoft.com/office/drawing/2014/main" id="{C0F52B16-2016-138A-3F63-583B6C04E43F}"/>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E8F6D492-9126-27CD-CA40-552C269BF045}"/>
              </a:ext>
            </a:extLst>
          </p:cNvPr>
          <p:cNvSpPr>
            <a:spLocks noGrp="1"/>
          </p:cNvSpPr>
          <p:nvPr>
            <p:ph type="sldNum" sz="quarter" idx="4"/>
          </p:nvPr>
        </p:nvSpPr>
        <p:spPr/>
        <p:txBody>
          <a:bodyPr/>
          <a:lstStyle/>
          <a:p>
            <a:fld id="{F577E53E-616C-4B80-8F3C-B6584B31683E}" type="slidenum">
              <a:rPr lang="en-US" smtClean="0"/>
              <a:pPr/>
              <a:t>31</a:t>
            </a:fld>
            <a:endParaRPr lang="es-ES"/>
          </a:p>
        </p:txBody>
      </p:sp>
    </p:spTree>
    <p:extLst>
      <p:ext uri="{BB962C8B-B14F-4D97-AF65-F5344CB8AC3E}">
        <p14:creationId xmlns:p14="http://schemas.microsoft.com/office/powerpoint/2010/main" val="831261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EFC529D2-7BDC-C1DC-0B5C-6B29031FD85D}"/>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rPr>
              <a:t>A </a:t>
            </a:r>
            <a:r>
              <a:rPr lang="es-ES" dirty="0" err="1">
                <a:latin typeface="Calibri"/>
              </a:rPr>
              <a:t>nonlinear</a:t>
            </a:r>
            <a:r>
              <a:rPr lang="es-ES" dirty="0">
                <a:latin typeface="Calibri"/>
              </a:rPr>
              <a:t> response </a:t>
            </a:r>
            <a:r>
              <a:rPr lang="es-ES" dirty="0" err="1">
                <a:latin typeface="Calibri"/>
              </a:rPr>
              <a:t>may</a:t>
            </a:r>
            <a:r>
              <a:rPr lang="es-ES" dirty="0">
                <a:latin typeface="Calibri"/>
              </a:rPr>
              <a:t> </a:t>
            </a:r>
            <a:r>
              <a:rPr lang="es-ES" dirty="0" err="1">
                <a:latin typeface="Calibri"/>
              </a:rPr>
              <a:t>prevent</a:t>
            </a:r>
            <a:r>
              <a:rPr lang="es-ES" dirty="0">
                <a:latin typeface="Calibri"/>
              </a:rPr>
              <a:t> </a:t>
            </a:r>
            <a:r>
              <a:rPr lang="es-ES" dirty="0" err="1">
                <a:latin typeface="Calibri"/>
              </a:rPr>
              <a:t>convergence</a:t>
            </a:r>
            <a:r>
              <a:rPr lang="es-ES" dirty="0">
                <a:latin typeface="Calibri"/>
              </a:rPr>
              <a:t> </a:t>
            </a:r>
            <a:r>
              <a:rPr lang="es-ES" dirty="0" err="1">
                <a:latin typeface="Calibri"/>
              </a:rPr>
              <a:t>towards</a:t>
            </a:r>
            <a:r>
              <a:rPr lang="es-ES" dirty="0">
                <a:latin typeface="Calibri"/>
              </a:rPr>
              <a:t> DUE</a:t>
            </a:r>
            <a:endParaRPr lang="es-ES" dirty="0"/>
          </a:p>
        </p:txBody>
      </p:sp>
      <p:pic>
        <p:nvPicPr>
          <p:cNvPr id="4" name="Imagen 3" descr="Gráfico, Histograma&#10;&#10;El contenido generado por IA puede ser incorrecto.">
            <a:extLst>
              <a:ext uri="{FF2B5EF4-FFF2-40B4-BE49-F238E27FC236}">
                <a16:creationId xmlns:a16="http://schemas.microsoft.com/office/drawing/2014/main" id="{F8FE914B-9F8C-050B-3F3E-955B0AFA24B8}"/>
              </a:ext>
            </a:extLst>
          </p:cNvPr>
          <p:cNvPicPr>
            <a:picLocks noChangeAspect="1"/>
          </p:cNvPicPr>
          <p:nvPr/>
        </p:nvPicPr>
        <p:blipFill>
          <a:blip r:embed="rId2"/>
          <a:srcRect t="5714" r="-303" b="-956"/>
          <a:stretch>
            <a:fillRect/>
          </a:stretch>
        </p:blipFill>
        <p:spPr>
          <a:xfrm>
            <a:off x="2929648" y="1096662"/>
            <a:ext cx="2558753" cy="3861650"/>
          </a:xfrm>
          <a:prstGeom prst="rect">
            <a:avLst/>
          </a:prstGeom>
        </p:spPr>
      </p:pic>
      <p:sp>
        <p:nvSpPr>
          <p:cNvPr id="2" name="Marcador de número de diapositiva 1">
            <a:extLst>
              <a:ext uri="{FF2B5EF4-FFF2-40B4-BE49-F238E27FC236}">
                <a16:creationId xmlns:a16="http://schemas.microsoft.com/office/drawing/2014/main" id="{28328E9C-D040-F530-805D-240085E32344}"/>
              </a:ext>
            </a:extLst>
          </p:cNvPr>
          <p:cNvSpPr>
            <a:spLocks noGrp="1"/>
          </p:cNvSpPr>
          <p:nvPr>
            <p:ph type="sldNum" sz="quarter" idx="4"/>
          </p:nvPr>
        </p:nvSpPr>
        <p:spPr/>
        <p:txBody>
          <a:bodyPr/>
          <a:lstStyle/>
          <a:p>
            <a:fld id="{F577E53E-616C-4B80-8F3C-B6584B31683E}" type="slidenum">
              <a:rPr lang="en-US" smtClean="0"/>
              <a:pPr/>
              <a:t>32</a:t>
            </a:fld>
            <a:endParaRPr lang="es-ES"/>
          </a:p>
        </p:txBody>
      </p:sp>
    </p:spTree>
    <p:extLst>
      <p:ext uri="{BB962C8B-B14F-4D97-AF65-F5344CB8AC3E}">
        <p14:creationId xmlns:p14="http://schemas.microsoft.com/office/powerpoint/2010/main" val="3702899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F64D1-E0A2-5349-872E-7766910E89DF}"/>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746A426-4A26-9D40-E310-E31707ACF465}"/>
              </a:ext>
            </a:extLst>
          </p:cNvPr>
          <p:cNvSpPr>
            <a:spLocks noGrp="1"/>
          </p:cNvSpPr>
          <p:nvPr>
            <p:ph type="body" sz="quarter" idx="14"/>
          </p:nvPr>
        </p:nvSpPr>
        <p:spPr>
          <a:xfrm>
            <a:off x="223847" y="1016692"/>
            <a:ext cx="8160056" cy="2585323"/>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Thesis</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objectives</a:t>
            </a:r>
            <a:endParaRPr lang="es-ES" dirty="0" err="1">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err="1">
                <a:solidFill>
                  <a:schemeClr val="tx1">
                    <a:lumMod val="49000"/>
                    <a:lumOff val="51000"/>
                  </a:schemeClr>
                </a:solidFill>
                <a:latin typeface="Calibri"/>
                <a:ea typeface="Calibri"/>
                <a:cs typeface="Calibri"/>
              </a:rPr>
              <a:t>Experiment</a:t>
            </a:r>
            <a:r>
              <a:rPr lang="es-ES" dirty="0">
                <a:solidFill>
                  <a:schemeClr val="tx1">
                    <a:lumMod val="49000"/>
                    <a:lumOff val="51000"/>
                  </a:schemeClr>
                </a:solidFill>
                <a:latin typeface="Calibri"/>
                <a:ea typeface="Calibri"/>
                <a:cs typeface="Calibri"/>
              </a:rPr>
              <a:t> and </a:t>
            </a:r>
            <a:r>
              <a:rPr lang="es-ES" dirty="0" err="1">
                <a:solidFill>
                  <a:schemeClr val="tx1">
                    <a:lumMod val="49000"/>
                    <a:lumOff val="51000"/>
                  </a:schemeClr>
                </a:solidFill>
                <a:latin typeface="Calibri"/>
                <a:ea typeface="Calibri"/>
                <a:cs typeface="Calibri"/>
              </a:rPr>
              <a:t>results</a:t>
            </a:r>
          </a:p>
          <a:p>
            <a:pPr marL="457200" indent="-457200">
              <a:buAutoNum type="arabicPeriod"/>
            </a:pPr>
            <a:r>
              <a:rPr lang="es-ES" dirty="0" err="1">
                <a:solidFill>
                  <a:schemeClr val="tx1">
                    <a:lumMod val="95000"/>
                    <a:lumOff val="5000"/>
                  </a:schemeClr>
                </a:solidFill>
                <a:latin typeface="Calibri"/>
                <a:ea typeface="Calibri"/>
                <a:cs typeface="Calibri"/>
              </a:rPr>
              <a:t>Conclusions</a:t>
            </a:r>
            <a:endParaRPr lang="es-ES" dirty="0" err="1">
              <a:solidFill>
                <a:schemeClr val="tx1">
                  <a:lumMod val="95000"/>
                  <a:lumOff val="5000"/>
                </a:schemeClr>
              </a:solidFill>
              <a:ea typeface="Calibri"/>
              <a:cs typeface="Calibri"/>
            </a:endParaRPr>
          </a:p>
          <a:p>
            <a:pPr marL="457200" indent="-457200">
              <a:buAutoNum type="arabicPeriod"/>
            </a:pPr>
            <a:endParaRPr lang="es-ES" dirty="0">
              <a:ea typeface="Calibri"/>
            </a:endParaRPr>
          </a:p>
        </p:txBody>
      </p:sp>
      <p:sp>
        <p:nvSpPr>
          <p:cNvPr id="11" name="Título 2">
            <a:extLst>
              <a:ext uri="{FF2B5EF4-FFF2-40B4-BE49-F238E27FC236}">
                <a16:creationId xmlns:a16="http://schemas.microsoft.com/office/drawing/2014/main" id="{B4049653-44D0-FC6B-845F-2F2743D77B2D}"/>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4716A11E-4767-5D0E-962B-AC8A50534D41}"/>
              </a:ext>
            </a:extLst>
          </p:cNvPr>
          <p:cNvSpPr>
            <a:spLocks noGrp="1"/>
          </p:cNvSpPr>
          <p:nvPr>
            <p:ph type="sldNum" sz="quarter" idx="4"/>
          </p:nvPr>
        </p:nvSpPr>
        <p:spPr/>
        <p:txBody>
          <a:bodyPr/>
          <a:lstStyle/>
          <a:p>
            <a:fld id="{F577E53E-616C-4B80-8F3C-B6584B31683E}" type="slidenum">
              <a:rPr lang="en-US" smtClean="0"/>
              <a:pPr/>
              <a:t>33</a:t>
            </a:fld>
            <a:endParaRPr lang="es-ES"/>
          </a:p>
        </p:txBody>
      </p:sp>
    </p:spTree>
    <p:extLst>
      <p:ext uri="{BB962C8B-B14F-4D97-AF65-F5344CB8AC3E}">
        <p14:creationId xmlns:p14="http://schemas.microsoft.com/office/powerpoint/2010/main" val="750674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8A41ECA6-7A14-37C3-D4E6-E4E6A653DAD9}"/>
            </a:ext>
          </a:extLst>
        </p:cNvPr>
        <p:cNvGrpSpPr/>
        <p:nvPr/>
      </p:nvGrpSpPr>
      <p:grpSpPr>
        <a:xfrm>
          <a:off x="0" y="0"/>
          <a:ext cx="0" cy="0"/>
          <a:chOff x="0" y="0"/>
          <a:chExt cx="0" cy="0"/>
        </a:xfrm>
      </p:grpSpPr>
      <p:sp>
        <p:nvSpPr>
          <p:cNvPr id="247" name="Shape 247">
            <a:extLst>
              <a:ext uri="{FF2B5EF4-FFF2-40B4-BE49-F238E27FC236}">
                <a16:creationId xmlns:a16="http://schemas.microsoft.com/office/drawing/2014/main" id="{72CC779F-BB18-8716-60FD-7DDE36666172}"/>
              </a:ext>
            </a:extLst>
          </p:cNvPr>
          <p:cNvSpPr txBox="1"/>
          <p:nvPr/>
        </p:nvSpPr>
        <p:spPr>
          <a:xfrm>
            <a:off x="76200" y="57150"/>
            <a:ext cx="8997900" cy="400110"/>
          </a:xfrm>
          <a:prstGeom prst="rect">
            <a:avLst/>
          </a:prstGeom>
          <a:noFill/>
          <a:ln>
            <a:noFill/>
          </a:ln>
        </p:spPr>
        <p:txBody>
          <a:bodyPr lIns="0" tIns="0" rIns="0" bIns="0" anchor="t" anchorCtr="0">
            <a:spAutoFit/>
          </a:bodyPr>
          <a:lstStyle/>
          <a:p>
            <a:r>
              <a:rPr lang="en-US" sz="2600" b="1" dirty="0">
                <a:latin typeface="Calibri"/>
                <a:ea typeface="Calibri"/>
                <a:cs typeface="Calibri"/>
                <a:sym typeface="Calibri"/>
              </a:rPr>
              <a:t>Conclusions</a:t>
            </a:r>
            <a:endParaRPr lang="es-ES" dirty="0"/>
          </a:p>
        </p:txBody>
      </p:sp>
      <p:sp>
        <p:nvSpPr>
          <p:cNvPr id="2" name="Marcador de número de diapositiva 1">
            <a:extLst>
              <a:ext uri="{FF2B5EF4-FFF2-40B4-BE49-F238E27FC236}">
                <a16:creationId xmlns:a16="http://schemas.microsoft.com/office/drawing/2014/main" id="{8B9D2321-432D-850C-7103-915CAE5CC424}"/>
              </a:ext>
            </a:extLst>
          </p:cNvPr>
          <p:cNvSpPr>
            <a:spLocks noGrp="1"/>
          </p:cNvSpPr>
          <p:nvPr>
            <p:ph type="sldNum" sz="quarter" idx="4"/>
          </p:nvPr>
        </p:nvSpPr>
        <p:spPr/>
        <p:txBody>
          <a:bodyPr/>
          <a:lstStyle/>
          <a:p>
            <a:fld id="{F577E53E-616C-4B80-8F3C-B6584B31683E}" type="slidenum">
              <a:rPr lang="en-US" smtClean="0"/>
              <a:pPr/>
              <a:t>34</a:t>
            </a:fld>
            <a:endParaRPr lang="es-ES"/>
          </a:p>
        </p:txBody>
      </p:sp>
      <p:sp>
        <p:nvSpPr>
          <p:cNvPr id="6" name="Marcador de texto 1">
            <a:extLst>
              <a:ext uri="{FF2B5EF4-FFF2-40B4-BE49-F238E27FC236}">
                <a16:creationId xmlns:a16="http://schemas.microsoft.com/office/drawing/2014/main" id="{72F42CDC-DC17-B5CD-CAB8-D54895951D37}"/>
              </a:ext>
            </a:extLst>
          </p:cNvPr>
          <p:cNvSpPr>
            <a:spLocks noGrp="1"/>
          </p:cNvSpPr>
          <p:nvPr>
            <p:ph type="body" sz="quarter" idx="14"/>
          </p:nvPr>
        </p:nvSpPr>
        <p:spPr>
          <a:xfrm>
            <a:off x="293741" y="971319"/>
            <a:ext cx="8222025" cy="4801314"/>
          </a:xfrm>
        </p:spPr>
        <p:txBody>
          <a:bodyPr wrap="square" lIns="0" tIns="0" rIns="0" bIns="0" anchor="t">
            <a:spAutoFit/>
          </a:bodyPr>
          <a:lstStyle/>
          <a:p>
            <a:pPr marL="342900" indent="-342900">
              <a:buFont typeface="Arial"/>
              <a:buChar char="•"/>
            </a:pPr>
            <a:r>
              <a:rPr lang="es-ES" b="0" dirty="0">
                <a:latin typeface="Calibri"/>
                <a:ea typeface="Calibri"/>
                <a:cs typeface="Calibri"/>
              </a:rPr>
              <a:t>The proposed model converges to DUE under its more rational formulation.</a:t>
            </a:r>
            <a:endParaRPr lang="es-ES" dirty="0"/>
          </a:p>
          <a:p>
            <a:pPr marL="342900" indent="-342900">
              <a:buFont typeface="Arial"/>
              <a:buChar char="•"/>
            </a:pPr>
            <a:endParaRPr lang="es-ES" b="0" dirty="0">
              <a:latin typeface="Calibri"/>
              <a:ea typeface="Calibri"/>
              <a:cs typeface="Calibri"/>
            </a:endParaRPr>
          </a:p>
          <a:p>
            <a:pPr marL="342900" indent="-342900">
              <a:buFont typeface="Arial"/>
              <a:buChar char="•"/>
            </a:pPr>
            <a:r>
              <a:rPr lang="es-ES" b="0" dirty="0">
                <a:latin typeface="Calibri"/>
                <a:ea typeface="Calibri"/>
                <a:cs typeface="Calibri"/>
              </a:rPr>
              <a:t>The introduction of additional behavioral mechanisms, such as </a:t>
            </a:r>
            <a:r>
              <a:rPr lang="es-ES" dirty="0">
                <a:latin typeface="Calibri"/>
                <a:ea typeface="Calibri"/>
                <a:cs typeface="Calibri"/>
              </a:rPr>
              <a:t>risk aversion, waiting-time aversion and nonlinear response</a:t>
            </a:r>
            <a:r>
              <a:rPr lang="es-ES" b="0" dirty="0">
                <a:latin typeface="Calibri"/>
                <a:ea typeface="Calibri"/>
                <a:cs typeface="Calibri"/>
              </a:rPr>
              <a:t>, can prevent convergence towards DUE.</a:t>
            </a:r>
            <a:endParaRPr lang="es-ES" dirty="0">
              <a:latin typeface="Calibri"/>
            </a:endParaRPr>
          </a:p>
          <a:p>
            <a:pPr marL="342900" indent="-342900">
              <a:buFont typeface="Arial"/>
              <a:buChar char="•"/>
            </a:pPr>
            <a:endParaRPr lang="es-ES" b="0" dirty="0">
              <a:ea typeface="Calibri"/>
              <a:cs typeface="Calibri"/>
            </a:endParaRPr>
          </a:p>
          <a:p>
            <a:pPr marL="342900" indent="-342900">
              <a:buFont typeface="Arial"/>
              <a:buChar char="•"/>
            </a:pPr>
            <a:r>
              <a:rPr lang="es-ES" b="0" dirty="0" err="1">
                <a:latin typeface="Calibri"/>
                <a:ea typeface="Calibri"/>
                <a:cs typeface="Calibri"/>
              </a:rPr>
              <a:t>These</a:t>
            </a:r>
            <a:r>
              <a:rPr lang="es-ES" b="0" dirty="0">
                <a:latin typeface="Calibri"/>
                <a:ea typeface="Calibri"/>
                <a:cs typeface="Calibri"/>
              </a:rPr>
              <a:t> </a:t>
            </a:r>
            <a:r>
              <a:rPr lang="es-ES" b="0" dirty="0" err="1">
                <a:latin typeface="Calibri"/>
                <a:ea typeface="Calibri"/>
                <a:cs typeface="Calibri"/>
              </a:rPr>
              <a:t>results</a:t>
            </a:r>
            <a:r>
              <a:rPr lang="es-ES" b="0" dirty="0">
                <a:latin typeface="Calibri"/>
                <a:ea typeface="Calibri"/>
                <a:cs typeface="Calibri"/>
              </a:rPr>
              <a:t> </a:t>
            </a:r>
            <a:r>
              <a:rPr lang="es-ES" b="0" dirty="0" err="1">
                <a:latin typeface="Calibri"/>
                <a:ea typeface="Calibri"/>
                <a:cs typeface="Calibri"/>
              </a:rPr>
              <a:t>suggest</a:t>
            </a:r>
            <a:r>
              <a:rPr lang="es-ES" b="0" dirty="0">
                <a:latin typeface="Calibri"/>
                <a:ea typeface="Calibri"/>
                <a:cs typeface="Calibri"/>
              </a:rPr>
              <a:t> </a:t>
            </a:r>
            <a:r>
              <a:rPr lang="es-ES" b="0" dirty="0" err="1">
                <a:latin typeface="Calibri"/>
                <a:ea typeface="Calibri"/>
                <a:cs typeface="Calibri"/>
              </a:rPr>
              <a:t>that</a:t>
            </a:r>
            <a:r>
              <a:rPr lang="es-ES" b="0" dirty="0">
                <a:latin typeface="Calibri"/>
                <a:ea typeface="Calibri"/>
                <a:cs typeface="Calibri"/>
              </a:rPr>
              <a:t> DUE </a:t>
            </a:r>
            <a:r>
              <a:rPr lang="es-ES" b="0" dirty="0" err="1">
                <a:latin typeface="Calibri"/>
                <a:ea typeface="Calibri"/>
                <a:cs typeface="Calibri"/>
              </a:rPr>
              <a:t>may</a:t>
            </a:r>
            <a:r>
              <a:rPr lang="es-ES" b="0" dirty="0">
                <a:latin typeface="Calibri"/>
                <a:ea typeface="Calibri"/>
                <a:cs typeface="Calibri"/>
              </a:rPr>
              <a:t> </a:t>
            </a:r>
            <a:r>
              <a:rPr lang="es-ES" b="0" dirty="0" err="1">
                <a:latin typeface="Calibri"/>
                <a:ea typeface="Calibri"/>
                <a:cs typeface="Calibri"/>
              </a:rPr>
              <a:t>not</a:t>
            </a:r>
            <a:r>
              <a:rPr lang="es-ES" b="0" dirty="0">
                <a:latin typeface="Calibri"/>
                <a:ea typeface="Calibri"/>
                <a:cs typeface="Calibri"/>
              </a:rPr>
              <a:t> </a:t>
            </a:r>
            <a:r>
              <a:rPr lang="es-ES" b="0" dirty="0" err="1">
                <a:latin typeface="Calibri"/>
                <a:ea typeface="Calibri"/>
                <a:cs typeface="Calibri"/>
              </a:rPr>
              <a:t>provide</a:t>
            </a:r>
            <a:r>
              <a:rPr lang="es-ES" b="0" dirty="0">
                <a:latin typeface="Calibri"/>
                <a:ea typeface="Calibri"/>
                <a:cs typeface="Calibri"/>
              </a:rPr>
              <a:t> a </a:t>
            </a:r>
            <a:r>
              <a:rPr lang="es-ES" b="0" dirty="0" err="1">
                <a:latin typeface="Calibri"/>
                <a:ea typeface="Calibri"/>
                <a:cs typeface="Calibri"/>
              </a:rPr>
              <a:t>realistic</a:t>
            </a:r>
            <a:r>
              <a:rPr lang="es-ES" b="0" dirty="0">
                <a:latin typeface="Calibri"/>
                <a:ea typeface="Calibri"/>
                <a:cs typeface="Calibri"/>
              </a:rPr>
              <a:t> </a:t>
            </a:r>
            <a:r>
              <a:rPr lang="es-ES" b="0" dirty="0" err="1">
                <a:latin typeface="Calibri"/>
                <a:ea typeface="Calibri"/>
                <a:cs typeface="Calibri"/>
              </a:rPr>
              <a:t>representation</a:t>
            </a:r>
            <a:r>
              <a:rPr lang="es-ES" b="0" dirty="0">
                <a:latin typeface="Calibri"/>
                <a:ea typeface="Calibri"/>
                <a:cs typeface="Calibri"/>
              </a:rPr>
              <a:t> </a:t>
            </a:r>
            <a:r>
              <a:rPr lang="es-ES" b="0" dirty="0" err="1">
                <a:latin typeface="Calibri"/>
                <a:ea typeface="Calibri"/>
                <a:cs typeface="Calibri"/>
              </a:rPr>
              <a:t>of</a:t>
            </a:r>
            <a:r>
              <a:rPr lang="es-ES" b="0" dirty="0">
                <a:latin typeface="Calibri"/>
                <a:ea typeface="Calibri"/>
                <a:cs typeface="Calibri"/>
              </a:rPr>
              <a:t> </a:t>
            </a:r>
            <a:r>
              <a:rPr lang="es-ES" b="0" dirty="0" err="1">
                <a:latin typeface="Calibri"/>
                <a:ea typeface="Calibri"/>
                <a:cs typeface="Calibri"/>
              </a:rPr>
              <a:t>travel</a:t>
            </a:r>
            <a:r>
              <a:rPr lang="es-ES" b="0" dirty="0">
                <a:latin typeface="Calibri"/>
                <a:ea typeface="Calibri"/>
                <a:cs typeface="Calibri"/>
              </a:rPr>
              <a:t> </a:t>
            </a:r>
            <a:r>
              <a:rPr lang="es-ES" b="0" dirty="0" err="1">
                <a:latin typeface="Calibri"/>
                <a:ea typeface="Calibri"/>
                <a:cs typeface="Calibri"/>
              </a:rPr>
              <a:t>behavior</a:t>
            </a:r>
            <a:r>
              <a:rPr lang="es-ES" b="0" dirty="0">
                <a:latin typeface="Calibri"/>
                <a:ea typeface="Calibri"/>
                <a:cs typeface="Calibri"/>
              </a:rPr>
              <a:t>.</a:t>
            </a:r>
          </a:p>
          <a:p>
            <a:pPr marL="342900" indent="-342900">
              <a:buFont typeface="Arial"/>
              <a:buChar char="•"/>
            </a:pPr>
            <a:endParaRPr lang="es-ES" b="0" dirty="0">
              <a:ea typeface="Calibri"/>
              <a:cs typeface="Calibri"/>
            </a:endParaRPr>
          </a:p>
          <a:p>
            <a:pPr marL="342900" indent="-342900">
              <a:buFont typeface="Arial"/>
              <a:buChar char="•"/>
            </a:pPr>
            <a:endParaRPr lang="es-ES" b="0" dirty="0">
              <a:ea typeface="Calibri"/>
              <a:cs typeface="Calibri"/>
            </a:endParaRPr>
          </a:p>
          <a:p>
            <a:pPr marL="457200" indent="-457200">
              <a:buFont typeface="Arial"/>
              <a:buChar char="•"/>
            </a:pPr>
            <a:endParaRPr lang="es-ES" dirty="0"/>
          </a:p>
          <a:p>
            <a:pPr marL="457200" indent="-457200">
              <a:buFont typeface="Arial"/>
              <a:buChar char="•"/>
            </a:pPr>
            <a:endParaRPr lang="es-ES" dirty="0"/>
          </a:p>
        </p:txBody>
      </p:sp>
    </p:spTree>
    <p:extLst>
      <p:ext uri="{BB962C8B-B14F-4D97-AF65-F5344CB8AC3E}">
        <p14:creationId xmlns:p14="http://schemas.microsoft.com/office/powerpoint/2010/main" val="3375942194"/>
      </p:ext>
    </p:extLst>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65A0-881A-EF7A-525D-4C6D436CD5A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F1EDC0D2-08CB-FF76-0358-522CDBF721C4}"/>
              </a:ext>
            </a:extLst>
          </p:cNvPr>
          <p:cNvSpPr>
            <a:spLocks noGrp="1"/>
          </p:cNvSpPr>
          <p:nvPr>
            <p:ph type="body" sz="quarter" idx="14"/>
          </p:nvPr>
        </p:nvSpPr>
        <p:spPr>
          <a:xfrm>
            <a:off x="223847" y="1016692"/>
            <a:ext cx="8160056" cy="2954655"/>
          </a:xfrm>
        </p:spPr>
        <p:txBody>
          <a:bodyPr wrap="square" lIns="0" tIns="0" rIns="0" bIns="0" anchor="t">
            <a:spAutoFit/>
          </a:bodyPr>
          <a:lstStyle/>
          <a:p>
            <a:pPr marL="457200" indent="-457200">
              <a:buAutoNum type="arabicPeriod"/>
            </a:pPr>
            <a:r>
              <a:rPr lang="es-ES" dirty="0" err="1">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a:t>
            </a:r>
            <a:r>
              <a:rPr lang="es-ES" dirty="0" err="1">
                <a:solidFill>
                  <a:schemeClr val="tx1">
                    <a:lumMod val="49000"/>
                    <a:lumOff val="51000"/>
                  </a:schemeClr>
                </a:solidFill>
                <a:latin typeface="Calibri"/>
              </a:rPr>
              <a:t>of</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the</a:t>
            </a:r>
            <a:r>
              <a:rPr lang="es-ES" dirty="0">
                <a:solidFill>
                  <a:schemeClr val="tx1">
                    <a:lumMod val="49000"/>
                    <a:lumOff val="51000"/>
                  </a:schemeClr>
                </a:solidFill>
                <a:latin typeface="Calibri"/>
              </a:rPr>
              <a:t> art</a:t>
            </a:r>
            <a:endParaRPr lang="es-ES">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Thesis</a:t>
            </a:r>
            <a:r>
              <a:rPr lang="es-ES" dirty="0">
                <a:solidFill>
                  <a:schemeClr val="tx1">
                    <a:lumMod val="49000"/>
                    <a:lumOff val="51000"/>
                  </a:schemeClr>
                </a:solidFill>
                <a:latin typeface="Calibri"/>
              </a:rPr>
              <a:t> </a:t>
            </a:r>
            <a:r>
              <a:rPr lang="es-ES" dirty="0" err="1">
                <a:solidFill>
                  <a:schemeClr val="tx1">
                    <a:lumMod val="49000"/>
                    <a:lumOff val="51000"/>
                  </a:schemeClr>
                </a:solidFill>
                <a:latin typeface="Calibri"/>
              </a:rPr>
              <a:t>objectives</a:t>
            </a:r>
            <a:endParaRPr lang="es-ES" dirty="0" err="1">
              <a:solidFill>
                <a:schemeClr val="tx1">
                  <a:lumMod val="49000"/>
                  <a:lumOff val="51000"/>
                </a:schemeClr>
              </a:solidFill>
            </a:endParaRPr>
          </a:p>
          <a:p>
            <a:pPr marL="457200" indent="-457200">
              <a:buAutoNum type="arabicPeriod"/>
            </a:pPr>
            <a:r>
              <a:rPr lang="es-ES" dirty="0" err="1">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err="1">
                <a:solidFill>
                  <a:schemeClr val="tx1">
                    <a:lumMod val="49000"/>
                    <a:lumOff val="51000"/>
                  </a:schemeClr>
                </a:solidFill>
                <a:latin typeface="Calibri"/>
                <a:ea typeface="Calibri"/>
                <a:cs typeface="Calibri"/>
              </a:rPr>
              <a:t>Experiment</a:t>
            </a:r>
            <a:r>
              <a:rPr lang="es-ES" dirty="0">
                <a:solidFill>
                  <a:schemeClr val="tx1">
                    <a:lumMod val="49000"/>
                    <a:lumOff val="51000"/>
                  </a:schemeClr>
                </a:solidFill>
                <a:latin typeface="Calibri"/>
                <a:ea typeface="Calibri"/>
                <a:cs typeface="Calibri"/>
              </a:rPr>
              <a:t> and </a:t>
            </a:r>
            <a:r>
              <a:rPr lang="es-ES" dirty="0" err="1">
                <a:solidFill>
                  <a:schemeClr val="tx1">
                    <a:lumMod val="49000"/>
                    <a:lumOff val="51000"/>
                  </a:schemeClr>
                </a:solidFill>
                <a:latin typeface="Calibri"/>
                <a:ea typeface="Calibri"/>
                <a:cs typeface="Calibri"/>
              </a:rPr>
              <a:t>results</a:t>
            </a:r>
            <a:endParaRPr lang="es-ES">
              <a:solidFill>
                <a:schemeClr val="tx1">
                  <a:lumMod val="49000"/>
                  <a:lumOff val="51000"/>
                </a:schemeClr>
              </a:solidFill>
              <a:latin typeface="Calibri"/>
              <a:ea typeface="Calibri"/>
              <a:cs typeface="Calibri"/>
            </a:endParaRPr>
          </a:p>
          <a:p>
            <a:pPr marL="457200" indent="-457200">
              <a:buAutoNum type="arabicPeriod"/>
            </a:pPr>
            <a:r>
              <a:rPr lang="es-ES" dirty="0" err="1">
                <a:solidFill>
                  <a:schemeClr val="tx1">
                    <a:lumMod val="49000"/>
                    <a:lumOff val="51000"/>
                  </a:schemeClr>
                </a:solidFill>
                <a:latin typeface="Calibri"/>
                <a:ea typeface="Calibri"/>
                <a:cs typeface="Calibri"/>
              </a:rPr>
              <a:t>Conclusions</a:t>
            </a:r>
            <a:endParaRPr lang="es-ES">
              <a:solidFill>
                <a:schemeClr val="tx1">
                  <a:lumMod val="49000"/>
                  <a:lumOff val="51000"/>
                </a:schemeClr>
              </a:solidFill>
              <a:ea typeface="Calibri"/>
              <a:cs typeface="Calibri"/>
            </a:endParaRPr>
          </a:p>
          <a:p>
            <a:pPr marL="457200" indent="-457200">
              <a:buAutoNum type="arabicPeriod"/>
            </a:pPr>
            <a:r>
              <a:rPr lang="es-ES" dirty="0">
                <a:solidFill>
                  <a:schemeClr val="tx1">
                    <a:lumMod val="95000"/>
                    <a:lumOff val="5000"/>
                  </a:schemeClr>
                </a:solidFill>
                <a:latin typeface="Calibri"/>
                <a:ea typeface="Calibri"/>
                <a:cs typeface="Calibri"/>
              </a:rPr>
              <a:t>Future </a:t>
            </a:r>
            <a:r>
              <a:rPr lang="es-ES" dirty="0" err="1">
                <a:solidFill>
                  <a:schemeClr val="tx1">
                    <a:lumMod val="95000"/>
                    <a:lumOff val="5000"/>
                  </a:schemeClr>
                </a:solidFill>
                <a:latin typeface="Calibri"/>
                <a:ea typeface="Calibri"/>
                <a:cs typeface="Calibri"/>
              </a:rPr>
              <a:t>work</a:t>
            </a:r>
            <a:endParaRPr lang="es-ES" dirty="0" err="1">
              <a:solidFill>
                <a:schemeClr val="tx1">
                  <a:lumMod val="95000"/>
                  <a:lumOff val="5000"/>
                </a:schemeClr>
              </a:solidFill>
              <a:ea typeface="Calibri"/>
              <a:cs typeface="Calibri"/>
            </a:endParaRPr>
          </a:p>
          <a:p>
            <a:pPr marL="457200" indent="-457200">
              <a:buAutoNum type="arabicPeriod"/>
            </a:pPr>
            <a:endParaRPr lang="es-ES" dirty="0">
              <a:ea typeface="Calibri"/>
            </a:endParaRPr>
          </a:p>
        </p:txBody>
      </p:sp>
      <p:sp>
        <p:nvSpPr>
          <p:cNvPr id="11" name="Título 2">
            <a:extLst>
              <a:ext uri="{FF2B5EF4-FFF2-40B4-BE49-F238E27FC236}">
                <a16:creationId xmlns:a16="http://schemas.microsoft.com/office/drawing/2014/main" id="{39E91643-3CE0-774E-30D1-D825A19051FA}"/>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3" name="Marcador de número de diapositiva 2">
            <a:extLst>
              <a:ext uri="{FF2B5EF4-FFF2-40B4-BE49-F238E27FC236}">
                <a16:creationId xmlns:a16="http://schemas.microsoft.com/office/drawing/2014/main" id="{65359EFE-0497-21DE-E5B4-C56405D8350C}"/>
              </a:ext>
            </a:extLst>
          </p:cNvPr>
          <p:cNvSpPr>
            <a:spLocks noGrp="1"/>
          </p:cNvSpPr>
          <p:nvPr>
            <p:ph type="sldNum" sz="quarter" idx="4"/>
          </p:nvPr>
        </p:nvSpPr>
        <p:spPr/>
        <p:txBody>
          <a:bodyPr/>
          <a:lstStyle/>
          <a:p>
            <a:fld id="{F577E53E-616C-4B80-8F3C-B6584B31683E}" type="slidenum">
              <a:rPr lang="en-US" smtClean="0"/>
              <a:pPr/>
              <a:t>35</a:t>
            </a:fld>
            <a:endParaRPr lang="es-ES"/>
          </a:p>
        </p:txBody>
      </p:sp>
    </p:spTree>
    <p:extLst>
      <p:ext uri="{BB962C8B-B14F-4D97-AF65-F5344CB8AC3E}">
        <p14:creationId xmlns:p14="http://schemas.microsoft.com/office/powerpoint/2010/main" val="1880115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EA840734-DF22-0694-B8AC-10F6DD04DB3E}"/>
              </a:ext>
            </a:extLst>
          </p:cNvPr>
          <p:cNvSpPr>
            <a:spLocks noGrp="1"/>
          </p:cNvSpPr>
          <p:nvPr>
            <p:ph type="title"/>
          </p:nvPr>
        </p:nvSpPr>
        <p:spPr/>
        <p:txBody>
          <a:bodyPr wrap="square" lIns="0" tIns="0" rIns="0" bIns="0" anchor="t">
            <a:spAutoFit/>
          </a:bodyPr>
          <a:lstStyle/>
          <a:p>
            <a:r>
              <a:rPr lang="es-ES" dirty="0">
                <a:latin typeface="Calibri"/>
              </a:rPr>
              <a:t>Future </a:t>
            </a:r>
            <a:r>
              <a:rPr lang="es-ES" dirty="0" err="1">
                <a:latin typeface="Calibri"/>
              </a:rPr>
              <a:t>work</a:t>
            </a:r>
            <a:endParaRPr lang="es-ES" dirty="0" err="1"/>
          </a:p>
        </p:txBody>
      </p:sp>
      <p:sp>
        <p:nvSpPr>
          <p:cNvPr id="10" name="Marcador de número de diapositiva 9">
            <a:extLst>
              <a:ext uri="{FF2B5EF4-FFF2-40B4-BE49-F238E27FC236}">
                <a16:creationId xmlns:a16="http://schemas.microsoft.com/office/drawing/2014/main" id="{A52D7BB2-DAF9-F012-5EE6-F44F8290C26A}"/>
              </a:ext>
            </a:extLst>
          </p:cNvPr>
          <p:cNvSpPr>
            <a:spLocks noGrp="1"/>
          </p:cNvSpPr>
          <p:nvPr>
            <p:ph type="sldNum" sz="quarter" idx="4"/>
          </p:nvPr>
        </p:nvSpPr>
        <p:spPr/>
        <p:txBody>
          <a:bodyPr/>
          <a:lstStyle/>
          <a:p>
            <a:fld id="{F577E53E-616C-4B80-8F3C-B6584B31683E}" type="slidenum">
              <a:rPr lang="en-US" smtClean="0"/>
              <a:pPr/>
              <a:t>36</a:t>
            </a:fld>
            <a:endParaRPr lang="es-ES"/>
          </a:p>
        </p:txBody>
      </p:sp>
      <p:sp>
        <p:nvSpPr>
          <p:cNvPr id="13" name="Marcador de texto 1">
            <a:extLst>
              <a:ext uri="{FF2B5EF4-FFF2-40B4-BE49-F238E27FC236}">
                <a16:creationId xmlns:a16="http://schemas.microsoft.com/office/drawing/2014/main" id="{C5B16FA0-055A-CD8F-8546-9C2A5871A72D}"/>
              </a:ext>
            </a:extLst>
          </p:cNvPr>
          <p:cNvSpPr>
            <a:spLocks noGrp="1"/>
          </p:cNvSpPr>
          <p:nvPr>
            <p:ph type="body" sz="quarter" idx="14"/>
          </p:nvPr>
        </p:nvSpPr>
        <p:spPr>
          <a:xfrm>
            <a:off x="293741" y="1094887"/>
            <a:ext cx="8222025" cy="2954655"/>
          </a:xfrm>
        </p:spPr>
        <p:txBody>
          <a:bodyPr wrap="square" lIns="0" tIns="0" rIns="0" bIns="0" anchor="t">
            <a:spAutoFit/>
          </a:bodyPr>
          <a:lstStyle/>
          <a:p>
            <a:pPr marL="457200" indent="-457200">
              <a:buFont typeface="Arial"/>
              <a:buChar char="•"/>
            </a:pPr>
            <a:r>
              <a:rPr lang="es-ES" dirty="0">
                <a:latin typeface="Calibri"/>
              </a:rPr>
              <a:t>More complex networks</a:t>
            </a:r>
            <a:endParaRPr lang="es-ES" dirty="0"/>
          </a:p>
          <a:p>
            <a:pPr marL="457200" indent="-457200">
              <a:buFont typeface="Arial"/>
              <a:buChar char="•"/>
            </a:pPr>
            <a:endParaRPr lang="es-ES" dirty="0">
              <a:latin typeface="Calibri"/>
            </a:endParaRPr>
          </a:p>
          <a:p>
            <a:pPr marL="457200" indent="-457200">
              <a:buFont typeface="Arial"/>
              <a:buChar char="•"/>
            </a:pPr>
            <a:r>
              <a:rPr lang="es-ES" dirty="0">
                <a:latin typeface="Calibri"/>
              </a:rPr>
              <a:t>More complex demand</a:t>
            </a:r>
            <a:endParaRPr lang="es-ES" dirty="0"/>
          </a:p>
          <a:p>
            <a:pPr marL="457200" indent="-457200">
              <a:buFont typeface="Arial"/>
              <a:buChar char="•"/>
            </a:pPr>
            <a:endParaRPr lang="es-ES" dirty="0"/>
          </a:p>
          <a:p>
            <a:pPr marL="457200" indent="-457200">
              <a:buFont typeface="Arial"/>
              <a:buChar char="•"/>
            </a:pPr>
            <a:r>
              <a:rPr lang="es-ES" dirty="0">
                <a:latin typeface="Calibri"/>
              </a:rPr>
              <a:t>More </a:t>
            </a:r>
            <a:r>
              <a:rPr lang="es-ES" dirty="0" err="1">
                <a:latin typeface="Calibri"/>
              </a:rPr>
              <a:t>modern</a:t>
            </a:r>
            <a:r>
              <a:rPr lang="es-ES" dirty="0">
                <a:latin typeface="Calibri"/>
              </a:rPr>
              <a:t> </a:t>
            </a:r>
            <a:r>
              <a:rPr lang="es-ES" dirty="0" err="1">
                <a:latin typeface="Calibri"/>
              </a:rPr>
              <a:t>algorithms</a:t>
            </a:r>
            <a:endParaRPr lang="es-ES" dirty="0" err="1"/>
          </a:p>
          <a:p>
            <a:pPr marL="457200" indent="-457200">
              <a:buFont typeface="Arial"/>
              <a:buChar char="•"/>
            </a:pPr>
            <a:endParaRPr lang="es-ES" dirty="0"/>
          </a:p>
          <a:p>
            <a:pPr marL="457200" indent="-457200">
              <a:buFont typeface="Arial"/>
              <a:buChar char="•"/>
            </a:pPr>
            <a:r>
              <a:rPr lang="es-ES" dirty="0" err="1">
                <a:latin typeface="Calibri"/>
              </a:rPr>
              <a:t>Calibrate</a:t>
            </a:r>
            <a:r>
              <a:rPr lang="es-ES" dirty="0">
                <a:latin typeface="Calibri"/>
              </a:rPr>
              <a:t> and </a:t>
            </a:r>
            <a:r>
              <a:rPr lang="es-ES" dirty="0" err="1">
                <a:latin typeface="Calibri"/>
              </a:rPr>
              <a:t>validate</a:t>
            </a:r>
            <a:r>
              <a:rPr lang="es-ES" dirty="0">
                <a:latin typeface="Calibri"/>
              </a:rPr>
              <a:t> </a:t>
            </a:r>
            <a:r>
              <a:rPr lang="es-ES" dirty="0" err="1">
                <a:latin typeface="Calibri"/>
              </a:rPr>
              <a:t>the</a:t>
            </a:r>
            <a:r>
              <a:rPr lang="es-ES" dirty="0">
                <a:latin typeface="Calibri"/>
              </a:rPr>
              <a:t> </a:t>
            </a:r>
            <a:r>
              <a:rPr lang="es-ES" dirty="0" err="1">
                <a:latin typeface="Calibri"/>
              </a:rPr>
              <a:t>model</a:t>
            </a:r>
            <a:r>
              <a:rPr lang="es-ES" dirty="0">
                <a:latin typeface="Calibri"/>
              </a:rPr>
              <a:t> </a:t>
            </a:r>
            <a:r>
              <a:rPr lang="es-ES" dirty="0" err="1">
                <a:latin typeface="Calibri"/>
              </a:rPr>
              <a:t>with</a:t>
            </a:r>
            <a:r>
              <a:rPr lang="es-ES" dirty="0">
                <a:latin typeface="Calibri"/>
              </a:rPr>
              <a:t> real-</a:t>
            </a:r>
            <a:r>
              <a:rPr lang="es-ES" dirty="0" err="1">
                <a:latin typeface="Calibri"/>
              </a:rPr>
              <a:t>world</a:t>
            </a:r>
            <a:r>
              <a:rPr lang="es-ES" dirty="0">
                <a:latin typeface="Calibri"/>
              </a:rPr>
              <a:t> data</a:t>
            </a:r>
            <a:endParaRPr lang="es-ES" dirty="0"/>
          </a:p>
          <a:p>
            <a:pPr marL="457200" indent="-457200">
              <a:buFont typeface="Arial"/>
              <a:buChar char="•"/>
            </a:pPr>
            <a:endParaRPr lang="es-ES" dirty="0"/>
          </a:p>
        </p:txBody>
      </p:sp>
    </p:spTree>
    <p:extLst>
      <p:ext uri="{BB962C8B-B14F-4D97-AF65-F5344CB8AC3E}">
        <p14:creationId xmlns:p14="http://schemas.microsoft.com/office/powerpoint/2010/main" val="35197443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C2EB1EA-4B2E-7880-16F0-7C9AC90A7841}"/>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ea typeface="Calibri"/>
                <a:cs typeface="Calibri"/>
              </a:rPr>
              <a:t>Perfect </a:t>
            </a:r>
            <a:r>
              <a:rPr lang="es-ES" dirty="0" err="1">
                <a:latin typeface="Calibri"/>
                <a:ea typeface="Calibri"/>
                <a:cs typeface="Calibri"/>
              </a:rPr>
              <a:t>memory</a:t>
            </a:r>
            <a:r>
              <a:rPr lang="es-ES" dirty="0">
                <a:latin typeface="Calibri"/>
                <a:ea typeface="Calibri"/>
                <a:cs typeface="Calibri"/>
              </a:rPr>
              <a:t> </a:t>
            </a:r>
            <a:r>
              <a:rPr lang="es-ES" dirty="0" err="1">
                <a:latin typeface="Calibri"/>
                <a:ea typeface="Calibri"/>
                <a:cs typeface="Calibri"/>
              </a:rPr>
              <a:t>prevents</a:t>
            </a:r>
            <a:r>
              <a:rPr lang="es-ES" dirty="0">
                <a:latin typeface="Calibri"/>
                <a:ea typeface="Calibri"/>
                <a:cs typeface="Calibri"/>
              </a:rPr>
              <a:t> </a:t>
            </a:r>
            <a:r>
              <a:rPr lang="es-ES" dirty="0" err="1">
                <a:latin typeface="Calibri"/>
                <a:ea typeface="Calibri"/>
                <a:cs typeface="Calibri"/>
              </a:rPr>
              <a:t>recovery</a:t>
            </a:r>
            <a:r>
              <a:rPr lang="es-ES" dirty="0">
                <a:latin typeface="Calibri"/>
                <a:ea typeface="Calibri"/>
                <a:cs typeface="Calibri"/>
              </a:rPr>
              <a:t> </a:t>
            </a:r>
            <a:r>
              <a:rPr lang="es-ES" dirty="0" err="1">
                <a:latin typeface="Calibri"/>
                <a:ea typeface="Calibri"/>
                <a:cs typeface="Calibri"/>
              </a:rPr>
              <a:t>from</a:t>
            </a:r>
            <a:r>
              <a:rPr lang="es-ES" dirty="0">
                <a:latin typeface="Calibri"/>
                <a:ea typeface="Calibri"/>
                <a:cs typeface="Calibri"/>
              </a:rPr>
              <a:t> </a:t>
            </a:r>
            <a:r>
              <a:rPr lang="es-ES" dirty="0" err="1">
                <a:latin typeface="Calibri"/>
                <a:ea typeface="Calibri"/>
                <a:cs typeface="Calibri"/>
              </a:rPr>
              <a:t>disrupted</a:t>
            </a:r>
            <a:r>
              <a:rPr lang="es-ES" dirty="0">
                <a:latin typeface="Calibri"/>
                <a:ea typeface="Calibri"/>
                <a:cs typeface="Calibri"/>
              </a:rPr>
              <a:t> </a:t>
            </a:r>
            <a:r>
              <a:rPr lang="es-ES" dirty="0" err="1">
                <a:latin typeface="Calibri"/>
                <a:ea typeface="Calibri"/>
                <a:cs typeface="Calibri"/>
              </a:rPr>
              <a:t>edges</a:t>
            </a:r>
            <a:r>
              <a:rPr lang="es-ES" dirty="0">
                <a:latin typeface="Calibri"/>
                <a:ea typeface="Calibri"/>
                <a:cs typeface="Calibri"/>
              </a:rPr>
              <a:t> , </a:t>
            </a:r>
            <a:r>
              <a:rPr lang="es-ES" dirty="0" err="1">
                <a:latin typeface="Calibri"/>
                <a:ea typeface="Calibri"/>
                <a:cs typeface="Calibri"/>
              </a:rPr>
              <a:t>whereas</a:t>
            </a:r>
            <a:r>
              <a:rPr lang="es-ES" dirty="0">
                <a:latin typeface="Calibri"/>
                <a:ea typeface="Calibri"/>
                <a:cs typeface="Calibri"/>
              </a:rPr>
              <a:t> </a:t>
            </a:r>
            <a:r>
              <a:rPr lang="es-ES" dirty="0" err="1">
                <a:latin typeface="Calibri"/>
                <a:ea typeface="Calibri"/>
                <a:cs typeface="Calibri"/>
              </a:rPr>
              <a:t>lower</a:t>
            </a:r>
            <a:r>
              <a:rPr lang="es-ES" dirty="0">
                <a:latin typeface="Calibri"/>
                <a:ea typeface="Calibri"/>
                <a:cs typeface="Calibri"/>
              </a:rPr>
              <a:t> </a:t>
            </a:r>
            <a:r>
              <a:rPr lang="es-ES" dirty="0" err="1">
                <a:latin typeface="Calibri"/>
                <a:ea typeface="Calibri"/>
                <a:cs typeface="Calibri"/>
              </a:rPr>
              <a:t>memory</a:t>
            </a:r>
            <a:r>
              <a:rPr lang="es-ES" dirty="0">
                <a:latin typeface="Calibri"/>
                <a:ea typeface="Calibri"/>
                <a:cs typeface="Calibri"/>
              </a:rPr>
              <a:t> </a:t>
            </a:r>
            <a:r>
              <a:rPr lang="es-ES" dirty="0" err="1">
                <a:latin typeface="Calibri"/>
                <a:ea typeface="Calibri"/>
                <a:cs typeface="Calibri"/>
              </a:rPr>
              <a:t>enables</a:t>
            </a:r>
            <a:r>
              <a:rPr lang="es-ES" dirty="0">
                <a:latin typeface="Calibri"/>
                <a:ea typeface="Calibri"/>
                <a:cs typeface="Calibri"/>
              </a:rPr>
              <a:t> </a:t>
            </a:r>
            <a:r>
              <a:rPr lang="es-ES" dirty="0" err="1">
                <a:latin typeface="Calibri"/>
                <a:ea typeface="Calibri"/>
                <a:cs typeface="Calibri"/>
              </a:rPr>
              <a:t>partial</a:t>
            </a:r>
            <a:r>
              <a:rPr lang="es-ES" dirty="0">
                <a:latin typeface="Calibri"/>
                <a:ea typeface="Calibri"/>
                <a:cs typeface="Calibri"/>
              </a:rPr>
              <a:t> </a:t>
            </a:r>
            <a:r>
              <a:rPr lang="es-ES" dirty="0" err="1">
                <a:latin typeface="Calibri"/>
                <a:ea typeface="Calibri"/>
                <a:cs typeface="Calibri"/>
              </a:rPr>
              <a:t>recovery</a:t>
            </a:r>
            <a:endParaRPr lang="es-ES" dirty="0" err="1">
              <a:ea typeface="Calibri"/>
              <a:cs typeface="Calibri"/>
            </a:endParaRPr>
          </a:p>
        </p:txBody>
      </p:sp>
      <p:pic>
        <p:nvPicPr>
          <p:cNvPr id="4" name="Imagen 3" descr="Gráfico&#10;&#10;El contenido generado por IA puede ser incorrecto.">
            <a:extLst>
              <a:ext uri="{FF2B5EF4-FFF2-40B4-BE49-F238E27FC236}">
                <a16:creationId xmlns:a16="http://schemas.microsoft.com/office/drawing/2014/main" id="{454897CC-9B0B-FFCC-CD0B-A6BF6AF195B9}"/>
              </a:ext>
            </a:extLst>
          </p:cNvPr>
          <p:cNvPicPr>
            <a:picLocks noChangeAspect="1"/>
          </p:cNvPicPr>
          <p:nvPr/>
        </p:nvPicPr>
        <p:blipFill>
          <a:blip r:embed="rId2"/>
          <a:stretch>
            <a:fillRect/>
          </a:stretch>
        </p:blipFill>
        <p:spPr>
          <a:xfrm>
            <a:off x="264319" y="1285542"/>
            <a:ext cx="8486775" cy="3543961"/>
          </a:xfrm>
          <a:prstGeom prst="rect">
            <a:avLst/>
          </a:prstGeom>
        </p:spPr>
      </p:pic>
      <p:sp>
        <p:nvSpPr>
          <p:cNvPr id="2" name="Marcador de número de diapositiva 1">
            <a:extLst>
              <a:ext uri="{FF2B5EF4-FFF2-40B4-BE49-F238E27FC236}">
                <a16:creationId xmlns:a16="http://schemas.microsoft.com/office/drawing/2014/main" id="{272CCB24-1350-405C-38B2-591703262AD4}"/>
              </a:ext>
            </a:extLst>
          </p:cNvPr>
          <p:cNvSpPr>
            <a:spLocks noGrp="1"/>
          </p:cNvSpPr>
          <p:nvPr>
            <p:ph type="sldNum" sz="quarter" idx="4"/>
          </p:nvPr>
        </p:nvSpPr>
        <p:spPr/>
        <p:txBody>
          <a:bodyPr/>
          <a:lstStyle/>
          <a:p>
            <a:fld id="{F577E53E-616C-4B80-8F3C-B6584B31683E}" type="slidenum">
              <a:rPr lang="en-US" smtClean="0"/>
              <a:pPr/>
              <a:t>37</a:t>
            </a:fld>
            <a:endParaRPr lang="es-ES"/>
          </a:p>
        </p:txBody>
      </p:sp>
    </p:spTree>
    <p:extLst>
      <p:ext uri="{BB962C8B-B14F-4D97-AF65-F5344CB8AC3E}">
        <p14:creationId xmlns:p14="http://schemas.microsoft.com/office/powerpoint/2010/main" val="904315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11FD389-DFE7-0826-5C90-4529F87359B2}"/>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rPr>
              <a:t>The </a:t>
            </a:r>
            <a:r>
              <a:rPr lang="es-ES" dirty="0" err="1">
                <a:latin typeface="Calibri"/>
              </a:rPr>
              <a:t>proposed</a:t>
            </a:r>
            <a:r>
              <a:rPr lang="es-ES" dirty="0">
                <a:latin typeface="Calibri"/>
              </a:rPr>
              <a:t> Bush–Mosteller MARL </a:t>
            </a:r>
            <a:r>
              <a:rPr lang="es-ES" dirty="0" err="1">
                <a:latin typeface="Calibri"/>
              </a:rPr>
              <a:t>approach</a:t>
            </a:r>
            <a:r>
              <a:rPr lang="es-ES" dirty="0">
                <a:latin typeface="Calibri"/>
              </a:rPr>
              <a:t> </a:t>
            </a:r>
            <a:r>
              <a:rPr lang="es-ES" dirty="0" err="1">
                <a:latin typeface="Calibri"/>
              </a:rPr>
              <a:t>appears</a:t>
            </a:r>
            <a:r>
              <a:rPr lang="es-ES" dirty="0">
                <a:latin typeface="Calibri"/>
              </a:rPr>
              <a:t> </a:t>
            </a:r>
            <a:r>
              <a:rPr lang="es-ES" dirty="0" err="1">
                <a:latin typeface="Calibri"/>
              </a:rPr>
              <a:t>to</a:t>
            </a:r>
            <a:r>
              <a:rPr lang="es-ES" dirty="0">
                <a:latin typeface="Calibri"/>
              </a:rPr>
              <a:t> </a:t>
            </a:r>
            <a:r>
              <a:rPr lang="es-ES" dirty="0" err="1">
                <a:latin typeface="Calibri"/>
              </a:rPr>
              <a:t>generate</a:t>
            </a:r>
            <a:r>
              <a:rPr lang="es-ES" dirty="0">
                <a:latin typeface="Calibri"/>
              </a:rPr>
              <a:t> more </a:t>
            </a:r>
            <a:r>
              <a:rPr lang="es-ES" dirty="0" err="1">
                <a:latin typeface="Calibri"/>
              </a:rPr>
              <a:t>dispersed</a:t>
            </a:r>
            <a:r>
              <a:rPr lang="es-ES" dirty="0">
                <a:latin typeface="Calibri"/>
              </a:rPr>
              <a:t> </a:t>
            </a:r>
            <a:r>
              <a:rPr lang="es-ES" dirty="0" err="1">
                <a:latin typeface="Calibri"/>
              </a:rPr>
              <a:t>traffic</a:t>
            </a:r>
            <a:r>
              <a:rPr lang="es-ES" dirty="0">
                <a:latin typeface="Calibri"/>
              </a:rPr>
              <a:t> </a:t>
            </a:r>
            <a:r>
              <a:rPr lang="es-ES" dirty="0" err="1">
                <a:latin typeface="Calibri"/>
              </a:rPr>
              <a:t>than</a:t>
            </a:r>
            <a:r>
              <a:rPr lang="es-ES" dirty="0">
                <a:latin typeface="Calibri"/>
              </a:rPr>
              <a:t> </a:t>
            </a:r>
            <a:r>
              <a:rPr lang="es-ES" dirty="0" err="1">
                <a:latin typeface="Calibri"/>
              </a:rPr>
              <a:t>the</a:t>
            </a:r>
            <a:r>
              <a:rPr lang="es-ES" dirty="0">
                <a:latin typeface="Calibri"/>
              </a:rPr>
              <a:t> </a:t>
            </a:r>
            <a:r>
              <a:rPr lang="es-ES" dirty="0" err="1">
                <a:latin typeface="Calibri"/>
              </a:rPr>
              <a:t>benchmark</a:t>
            </a:r>
          </a:p>
        </p:txBody>
      </p:sp>
      <p:pic>
        <p:nvPicPr>
          <p:cNvPr id="4" name="Imagen 3" descr="Diagrama&#10;&#10;El contenido generado por IA puede ser incorrecto.">
            <a:extLst>
              <a:ext uri="{FF2B5EF4-FFF2-40B4-BE49-F238E27FC236}">
                <a16:creationId xmlns:a16="http://schemas.microsoft.com/office/drawing/2014/main" id="{37A9960B-2963-8A33-3347-AF6854E88210}"/>
              </a:ext>
            </a:extLst>
          </p:cNvPr>
          <p:cNvPicPr>
            <a:picLocks noChangeAspect="1"/>
          </p:cNvPicPr>
          <p:nvPr/>
        </p:nvPicPr>
        <p:blipFill>
          <a:blip r:embed="rId2"/>
          <a:srcRect t="1572" r="155" b="-195"/>
          <a:stretch>
            <a:fillRect/>
          </a:stretch>
        </p:blipFill>
        <p:spPr>
          <a:xfrm>
            <a:off x="211931" y="1288733"/>
            <a:ext cx="4583912" cy="3616613"/>
          </a:xfrm>
          <a:prstGeom prst="rect">
            <a:avLst/>
          </a:prstGeom>
        </p:spPr>
      </p:pic>
      <p:pic>
        <p:nvPicPr>
          <p:cNvPr id="5" name="Imagen 4" descr="Tabla&#10;&#10;El contenido generado por IA puede ser incorrecto.">
            <a:extLst>
              <a:ext uri="{FF2B5EF4-FFF2-40B4-BE49-F238E27FC236}">
                <a16:creationId xmlns:a16="http://schemas.microsoft.com/office/drawing/2014/main" id="{9467300D-C7BD-4C0E-0E5E-7D1369AC4E2E}"/>
              </a:ext>
            </a:extLst>
          </p:cNvPr>
          <p:cNvPicPr>
            <a:picLocks noChangeAspect="1"/>
          </p:cNvPicPr>
          <p:nvPr/>
        </p:nvPicPr>
        <p:blipFill>
          <a:blip r:embed="rId3"/>
          <a:stretch>
            <a:fillRect/>
          </a:stretch>
        </p:blipFill>
        <p:spPr>
          <a:xfrm>
            <a:off x="5064919" y="1933575"/>
            <a:ext cx="3571875" cy="2333625"/>
          </a:xfrm>
          <a:prstGeom prst="rect">
            <a:avLst/>
          </a:prstGeom>
        </p:spPr>
      </p:pic>
      <p:sp>
        <p:nvSpPr>
          <p:cNvPr id="2" name="Marcador de número de diapositiva 1">
            <a:extLst>
              <a:ext uri="{FF2B5EF4-FFF2-40B4-BE49-F238E27FC236}">
                <a16:creationId xmlns:a16="http://schemas.microsoft.com/office/drawing/2014/main" id="{70CA7DEF-E934-D50D-5605-37D2524F5F49}"/>
              </a:ext>
            </a:extLst>
          </p:cNvPr>
          <p:cNvSpPr>
            <a:spLocks noGrp="1"/>
          </p:cNvSpPr>
          <p:nvPr>
            <p:ph type="sldNum" sz="quarter" idx="4"/>
          </p:nvPr>
        </p:nvSpPr>
        <p:spPr/>
        <p:txBody>
          <a:bodyPr/>
          <a:lstStyle/>
          <a:p>
            <a:fld id="{F577E53E-616C-4B80-8F3C-B6584B31683E}" type="slidenum">
              <a:rPr lang="en-US" smtClean="0"/>
              <a:pPr/>
              <a:t>38</a:t>
            </a:fld>
            <a:endParaRPr lang="es-ES"/>
          </a:p>
        </p:txBody>
      </p:sp>
    </p:spTree>
    <p:extLst>
      <p:ext uri="{BB962C8B-B14F-4D97-AF65-F5344CB8AC3E}">
        <p14:creationId xmlns:p14="http://schemas.microsoft.com/office/powerpoint/2010/main" val="1289804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F9A4424B-7E37-1664-0A31-09BA632893E8}"/>
              </a:ext>
            </a:extLst>
          </p:cNvPr>
          <p:cNvSpPr>
            <a:spLocks noGrp="1"/>
          </p:cNvSpPr>
          <p:nvPr>
            <p:ph type="body" sz="quarter" idx="14"/>
          </p:nvPr>
        </p:nvSpPr>
        <p:spPr>
          <a:xfrm>
            <a:off x="409585" y="916680"/>
            <a:ext cx="2230745" cy="307777"/>
          </a:xfrm>
        </p:spPr>
        <p:txBody>
          <a:bodyPr wrap="square" lIns="0" tIns="0" rIns="0" bIns="0" anchor="t">
            <a:spAutoFit/>
          </a:bodyPr>
          <a:lstStyle/>
          <a:p>
            <a:r>
              <a:rPr lang="es-ES" sz="2000" dirty="0" err="1">
                <a:latin typeface="Calibri"/>
              </a:rPr>
              <a:t>Rational</a:t>
            </a:r>
            <a:r>
              <a:rPr lang="es-ES" sz="2000" dirty="0">
                <a:latin typeface="Calibri"/>
              </a:rPr>
              <a:t> </a:t>
            </a:r>
            <a:r>
              <a:rPr lang="es-ES" sz="2000" dirty="0" err="1">
                <a:latin typeface="Calibri"/>
              </a:rPr>
              <a:t>agents</a:t>
            </a:r>
            <a:endParaRPr lang="es-ES" sz="2000" dirty="0"/>
          </a:p>
        </p:txBody>
      </p:sp>
      <p:sp>
        <p:nvSpPr>
          <p:cNvPr id="3" name="Título 2">
            <a:extLst>
              <a:ext uri="{FF2B5EF4-FFF2-40B4-BE49-F238E27FC236}">
                <a16:creationId xmlns:a16="http://schemas.microsoft.com/office/drawing/2014/main" id="{27DE56E4-C57B-F30B-13BD-B6F5EF7FE5CB}"/>
              </a:ext>
            </a:extLst>
          </p:cNvPr>
          <p:cNvSpPr>
            <a:spLocks noGrp="1"/>
          </p:cNvSpPr>
          <p:nvPr>
            <p:ph type="title"/>
          </p:nvPr>
        </p:nvSpPr>
        <p:spPr/>
        <p:txBody>
          <a:bodyPr wrap="square" lIns="0" tIns="0" rIns="0" bIns="0" anchor="t">
            <a:spAutoFit/>
          </a:bodyPr>
          <a:lstStyle/>
          <a:p>
            <a:r>
              <a:rPr lang="es-ES" dirty="0" err="1">
                <a:latin typeface="Calibri"/>
              </a:rPr>
              <a:t>Experiments</a:t>
            </a:r>
            <a:r>
              <a:rPr lang="es-ES" dirty="0">
                <a:latin typeface="Calibri"/>
              </a:rPr>
              <a:t> and </a:t>
            </a:r>
            <a:r>
              <a:rPr lang="es-ES" dirty="0" err="1">
                <a:latin typeface="Calibri"/>
              </a:rPr>
              <a:t>results</a:t>
            </a:r>
            <a:endParaRPr lang="es-ES" dirty="0" err="1"/>
          </a:p>
        </p:txBody>
      </p:sp>
      <p:sp>
        <p:nvSpPr>
          <p:cNvPr id="5" name="Marcador de texto 1">
            <a:extLst>
              <a:ext uri="{FF2B5EF4-FFF2-40B4-BE49-F238E27FC236}">
                <a16:creationId xmlns:a16="http://schemas.microsoft.com/office/drawing/2014/main" id="{85813C7A-1FFD-4432-80E4-745DD762F70C}"/>
              </a:ext>
            </a:extLst>
          </p:cNvPr>
          <p:cNvSpPr txBox="1">
            <a:spLocks/>
          </p:cNvSpPr>
          <p:nvPr/>
        </p:nvSpPr>
        <p:spPr>
          <a:xfrm>
            <a:off x="411966" y="1540567"/>
            <a:ext cx="3388032"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err="1">
                <a:latin typeface="Calibri"/>
              </a:rPr>
              <a:t>Spatial</a:t>
            </a:r>
            <a:r>
              <a:rPr lang="es-ES" sz="2000" dirty="0">
                <a:latin typeface="Calibri"/>
              </a:rPr>
              <a:t> </a:t>
            </a:r>
            <a:r>
              <a:rPr lang="es-ES" sz="2000" dirty="0" err="1">
                <a:latin typeface="Calibri"/>
              </a:rPr>
              <a:t>traffic</a:t>
            </a:r>
            <a:r>
              <a:rPr lang="es-ES" sz="2000" dirty="0">
                <a:latin typeface="Calibri"/>
              </a:rPr>
              <a:t> </a:t>
            </a:r>
            <a:r>
              <a:rPr lang="es-ES" sz="2000" dirty="0" err="1">
                <a:latin typeface="Calibri"/>
              </a:rPr>
              <a:t>comparison</a:t>
            </a:r>
            <a:endParaRPr lang="es-ES" sz="2000"/>
          </a:p>
        </p:txBody>
      </p:sp>
      <p:sp>
        <p:nvSpPr>
          <p:cNvPr id="6" name="Marcador de texto 1">
            <a:extLst>
              <a:ext uri="{FF2B5EF4-FFF2-40B4-BE49-F238E27FC236}">
                <a16:creationId xmlns:a16="http://schemas.microsoft.com/office/drawing/2014/main" id="{A76B52BD-1851-F48A-2BD9-F1BB45993551}"/>
              </a:ext>
            </a:extLst>
          </p:cNvPr>
          <p:cNvSpPr txBox="1">
            <a:spLocks/>
          </p:cNvSpPr>
          <p:nvPr/>
        </p:nvSpPr>
        <p:spPr>
          <a:xfrm>
            <a:off x="411965" y="2204935"/>
            <a:ext cx="3388032"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err="1">
                <a:latin typeface="Calibri"/>
              </a:rPr>
              <a:t>Disruption</a:t>
            </a:r>
            <a:r>
              <a:rPr lang="es-ES" sz="2000" dirty="0">
                <a:latin typeface="Calibri"/>
              </a:rPr>
              <a:t> </a:t>
            </a:r>
            <a:r>
              <a:rPr lang="es-ES" sz="2000" dirty="0" err="1">
                <a:latin typeface="Calibri"/>
              </a:rPr>
              <a:t>recovery</a:t>
            </a:r>
            <a:endParaRPr lang="es-ES" sz="2000"/>
          </a:p>
        </p:txBody>
      </p:sp>
      <p:sp>
        <p:nvSpPr>
          <p:cNvPr id="7" name="Marcador de texto 1">
            <a:extLst>
              <a:ext uri="{FF2B5EF4-FFF2-40B4-BE49-F238E27FC236}">
                <a16:creationId xmlns:a16="http://schemas.microsoft.com/office/drawing/2014/main" id="{FE23DCC9-6A8B-8A88-E602-B133E2D93E02}"/>
              </a:ext>
            </a:extLst>
          </p:cNvPr>
          <p:cNvSpPr txBox="1">
            <a:spLocks/>
          </p:cNvSpPr>
          <p:nvPr/>
        </p:nvSpPr>
        <p:spPr>
          <a:xfrm>
            <a:off x="3040865" y="2733572"/>
            <a:ext cx="3388032"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a:latin typeface="Calibri"/>
              </a:rPr>
              <a:t>Risk-</a:t>
            </a:r>
            <a:r>
              <a:rPr lang="es-ES" sz="2000" dirty="0" err="1">
                <a:latin typeface="Calibri"/>
              </a:rPr>
              <a:t>aversion</a:t>
            </a:r>
            <a:endParaRPr lang="es-ES" sz="2000"/>
          </a:p>
        </p:txBody>
      </p:sp>
      <p:sp>
        <p:nvSpPr>
          <p:cNvPr id="8" name="Marcador de texto 1">
            <a:extLst>
              <a:ext uri="{FF2B5EF4-FFF2-40B4-BE49-F238E27FC236}">
                <a16:creationId xmlns:a16="http://schemas.microsoft.com/office/drawing/2014/main" id="{6A39DAF8-5133-6C9A-4957-B78E47BE0CE9}"/>
              </a:ext>
            </a:extLst>
          </p:cNvPr>
          <p:cNvSpPr txBox="1">
            <a:spLocks/>
          </p:cNvSpPr>
          <p:nvPr/>
        </p:nvSpPr>
        <p:spPr>
          <a:xfrm>
            <a:off x="3040865" y="3347933"/>
            <a:ext cx="3388032"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err="1">
                <a:latin typeface="Calibri"/>
              </a:rPr>
              <a:t>Waiting</a:t>
            </a:r>
            <a:r>
              <a:rPr lang="es-ES" sz="2000" dirty="0">
                <a:latin typeface="Calibri"/>
              </a:rPr>
              <a:t>-time </a:t>
            </a:r>
            <a:r>
              <a:rPr lang="es-ES" sz="2000" dirty="0" err="1">
                <a:latin typeface="Calibri"/>
              </a:rPr>
              <a:t>aversion</a:t>
            </a:r>
            <a:endParaRPr lang="es-ES" sz="2000"/>
          </a:p>
        </p:txBody>
      </p:sp>
      <p:sp>
        <p:nvSpPr>
          <p:cNvPr id="9" name="Marcador de texto 1">
            <a:extLst>
              <a:ext uri="{FF2B5EF4-FFF2-40B4-BE49-F238E27FC236}">
                <a16:creationId xmlns:a16="http://schemas.microsoft.com/office/drawing/2014/main" id="{6620E49A-CE3C-2762-A731-80BCF3DD5D34}"/>
              </a:ext>
            </a:extLst>
          </p:cNvPr>
          <p:cNvSpPr txBox="1">
            <a:spLocks/>
          </p:cNvSpPr>
          <p:nvPr/>
        </p:nvSpPr>
        <p:spPr>
          <a:xfrm>
            <a:off x="3040865" y="3962296"/>
            <a:ext cx="3388032" cy="307777"/>
          </a:xfrm>
          <a:prstGeom prst="rect">
            <a:avLst/>
          </a:prstGeom>
        </p:spPr>
        <p:txBody>
          <a:bodyPr wrap="square" lIns="0" tIns="0" rIns="0" bIns="0" anchor="t">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2400" b="1" i="0" u="none" strike="noStrike" cap="none" baseline="0">
                <a:solidFill>
                  <a:srgbClr val="000000"/>
                </a:solidFill>
                <a:latin typeface="Calibri" panose="020F0502020204030204" pitchFamily="34" charset="0"/>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s-ES" sz="2000" dirty="0">
                <a:latin typeface="Calibri"/>
              </a:rPr>
              <a:t>Non-linear response</a:t>
            </a:r>
            <a:endParaRPr lang="es-ES" sz="2000"/>
          </a:p>
        </p:txBody>
      </p:sp>
      <p:cxnSp>
        <p:nvCxnSpPr>
          <p:cNvPr id="10" name="Conector recto de flecha 9">
            <a:extLst>
              <a:ext uri="{FF2B5EF4-FFF2-40B4-BE49-F238E27FC236}">
                <a16:creationId xmlns:a16="http://schemas.microsoft.com/office/drawing/2014/main" id="{B5F2BF8A-C93A-95A5-E3D8-DD5A2815E640}"/>
              </a:ext>
            </a:extLst>
          </p:cNvPr>
          <p:cNvCxnSpPr/>
          <p:nvPr/>
        </p:nvCxnSpPr>
        <p:spPr>
          <a:xfrm>
            <a:off x="2876227" y="2731808"/>
            <a:ext cx="2279" cy="1652716"/>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06BDB8C1-B911-922B-FCD0-ABFA456C1861}"/>
              </a:ext>
            </a:extLst>
          </p:cNvPr>
          <p:cNvSpPr txBox="1"/>
          <p:nvPr/>
        </p:nvSpPr>
        <p:spPr>
          <a:xfrm>
            <a:off x="319344" y="3207736"/>
            <a:ext cx="2422458" cy="707886"/>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ctr"/>
            <a:r>
              <a:rPr lang="es-ES" sz="2000" b="1" dirty="0" err="1">
                <a:latin typeface="Calibri"/>
              </a:rPr>
              <a:t>Bounded</a:t>
            </a:r>
            <a:r>
              <a:rPr lang="es-ES" sz="2000" b="1" dirty="0">
                <a:latin typeface="Calibri"/>
              </a:rPr>
              <a:t> </a:t>
            </a:r>
            <a:r>
              <a:rPr lang="es-ES" sz="2000" b="1" dirty="0" err="1">
                <a:latin typeface="Calibri"/>
              </a:rPr>
              <a:t>rationality</a:t>
            </a:r>
            <a:r>
              <a:rPr lang="es-ES" sz="2000" b="1" dirty="0">
                <a:latin typeface="Calibri"/>
              </a:rPr>
              <a:t> </a:t>
            </a:r>
            <a:endParaRPr lang="es-ES"/>
          </a:p>
          <a:p>
            <a:pPr algn="ctr"/>
            <a:r>
              <a:rPr lang="es-ES" sz="2000" b="1" dirty="0" err="1">
                <a:latin typeface="Calibri"/>
              </a:rPr>
              <a:t>extensions</a:t>
            </a:r>
            <a:endParaRPr lang="es-ES" sz="2000" b="1" dirty="0" err="1">
              <a:latin typeface="Calibri" panose="020F0502020204030204" pitchFamily="34" charset="0"/>
            </a:endParaRPr>
          </a:p>
        </p:txBody>
      </p:sp>
      <p:sp>
        <p:nvSpPr>
          <p:cNvPr id="4" name="Marcador de número de diapositiva 3">
            <a:extLst>
              <a:ext uri="{FF2B5EF4-FFF2-40B4-BE49-F238E27FC236}">
                <a16:creationId xmlns:a16="http://schemas.microsoft.com/office/drawing/2014/main" id="{06BF6CBE-5A73-54C0-F0FC-B2C2499BDF1C}"/>
              </a:ext>
            </a:extLst>
          </p:cNvPr>
          <p:cNvSpPr>
            <a:spLocks noGrp="1"/>
          </p:cNvSpPr>
          <p:nvPr>
            <p:ph type="sldNum" sz="quarter" idx="4"/>
          </p:nvPr>
        </p:nvSpPr>
        <p:spPr/>
        <p:txBody>
          <a:bodyPr/>
          <a:lstStyle/>
          <a:p>
            <a:fld id="{F577E53E-616C-4B80-8F3C-B6584B31683E}" type="slidenum">
              <a:rPr lang="en-US" smtClean="0"/>
              <a:pPr/>
              <a:t>39</a:t>
            </a:fld>
            <a:endParaRPr lang="es-ES"/>
          </a:p>
        </p:txBody>
      </p:sp>
    </p:spTree>
    <p:extLst>
      <p:ext uri="{BB962C8B-B14F-4D97-AF65-F5344CB8AC3E}">
        <p14:creationId xmlns:p14="http://schemas.microsoft.com/office/powerpoint/2010/main" val="16679254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5BDA58-F4BA-BFCE-8234-CA0D187A4E4A}"/>
              </a:ext>
            </a:extLst>
          </p:cNvPr>
          <p:cNvSpPr>
            <a:spLocks noGrp="1"/>
          </p:cNvSpPr>
          <p:nvPr>
            <p:ph type="body" sz="quarter" idx="14"/>
          </p:nvPr>
        </p:nvSpPr>
        <p:spPr>
          <a:xfrm>
            <a:off x="672167" y="2500468"/>
            <a:ext cx="8123372" cy="2123658"/>
          </a:xfrm>
        </p:spPr>
        <p:txBody>
          <a:bodyPr wrap="square" lIns="0" tIns="0" rIns="0" bIns="0" anchor="t">
            <a:spAutoFit/>
          </a:bodyPr>
          <a:lstStyle/>
          <a:p>
            <a:r>
              <a:rPr lang="es-ES" sz="1800" b="0" dirty="0" err="1">
                <a:latin typeface="Calibri"/>
              </a:rPr>
              <a:t>Usually</a:t>
            </a:r>
            <a:r>
              <a:rPr lang="es-ES" sz="1800" b="0" dirty="0">
                <a:latin typeface="Calibri"/>
              </a:rPr>
              <a:t>: Perfect </a:t>
            </a:r>
            <a:r>
              <a:rPr lang="es-ES" sz="1800" b="0" dirty="0" err="1">
                <a:latin typeface="Calibri"/>
              </a:rPr>
              <a:t>rationality</a:t>
            </a:r>
            <a:r>
              <a:rPr lang="es-ES" sz="1800" b="0" dirty="0">
                <a:latin typeface="Calibri"/>
              </a:rPr>
              <a:t> -&gt; </a:t>
            </a:r>
            <a:r>
              <a:rPr lang="es-ES" sz="1800" b="0" dirty="0" err="1">
                <a:latin typeface="Calibri"/>
              </a:rPr>
              <a:t>Conventional</a:t>
            </a:r>
            <a:r>
              <a:rPr lang="es-ES" sz="1800" b="0" dirty="0">
                <a:latin typeface="Calibri"/>
              </a:rPr>
              <a:t> </a:t>
            </a:r>
            <a:r>
              <a:rPr lang="es-ES" sz="1800" b="0" dirty="0" err="1">
                <a:latin typeface="Calibri"/>
              </a:rPr>
              <a:t>approaches</a:t>
            </a:r>
            <a:r>
              <a:rPr lang="es-ES" sz="1800" b="0" dirty="0">
                <a:latin typeface="Calibri"/>
              </a:rPr>
              <a:t> -&gt; DUE</a:t>
            </a:r>
            <a:endParaRPr lang="es-ES" dirty="0"/>
          </a:p>
          <a:p>
            <a:endParaRPr lang="es-ES" sz="1800" b="0" dirty="0">
              <a:latin typeface="Arial"/>
              <a:ea typeface="Calibri"/>
            </a:endParaRPr>
          </a:p>
          <a:p>
            <a:r>
              <a:rPr lang="es-ES" sz="1800" b="0" dirty="0">
                <a:latin typeface="Arial"/>
                <a:ea typeface="Calibri"/>
              </a:rPr>
              <a:t>Goals:</a:t>
            </a:r>
          </a:p>
          <a:p>
            <a:endParaRPr lang="es-ES" b="0" dirty="0">
              <a:latin typeface="Calibri"/>
              <a:ea typeface="Calibri"/>
            </a:endParaRPr>
          </a:p>
          <a:p>
            <a:pPr marL="342900" indent="-342900">
              <a:buAutoNum type="arabicParenR"/>
            </a:pPr>
            <a:r>
              <a:rPr lang="es-ES" sz="1800" b="0" dirty="0">
                <a:latin typeface="Calibri"/>
                <a:ea typeface="Calibri"/>
                <a:cs typeface="Calibri"/>
              </a:rPr>
              <a:t>(</a:t>
            </a:r>
            <a:r>
              <a:rPr lang="es-ES" sz="1800" dirty="0">
                <a:solidFill>
                  <a:srgbClr val="FF0000"/>
                </a:solidFill>
                <a:latin typeface="Calibri"/>
                <a:ea typeface="Calibri"/>
                <a:cs typeface="Calibri"/>
              </a:rPr>
              <a:t>Small </a:t>
            </a:r>
            <a:r>
              <a:rPr lang="es-ES" sz="1800" b="0" err="1">
                <a:latin typeface="Calibri"/>
                <a:ea typeface="Calibri"/>
                <a:cs typeface="Calibri"/>
              </a:rPr>
              <a:t>degree</a:t>
            </a:r>
            <a:r>
              <a:rPr lang="es-ES" sz="1800" b="0" dirty="0">
                <a:latin typeface="Calibri"/>
                <a:ea typeface="Calibri"/>
                <a:cs typeface="Calibri"/>
              </a:rPr>
              <a:t>) </a:t>
            </a:r>
            <a:r>
              <a:rPr lang="es-ES" sz="1800" b="0" err="1">
                <a:latin typeface="Calibri"/>
                <a:ea typeface="Calibri"/>
                <a:cs typeface="Calibri"/>
              </a:rPr>
              <a:t>Bounded</a:t>
            </a:r>
            <a:r>
              <a:rPr lang="es-ES" sz="1800" b="0" dirty="0">
                <a:latin typeface="Calibri"/>
                <a:ea typeface="Calibri"/>
                <a:cs typeface="Calibri"/>
              </a:rPr>
              <a:t> </a:t>
            </a:r>
            <a:r>
              <a:rPr lang="es-ES" sz="1800" b="0" err="1">
                <a:latin typeface="Calibri"/>
                <a:ea typeface="Calibri"/>
                <a:cs typeface="Calibri"/>
              </a:rPr>
              <a:t>rationality</a:t>
            </a:r>
            <a:r>
              <a:rPr lang="es-ES" sz="1800" b="0" dirty="0">
                <a:latin typeface="Calibri"/>
                <a:ea typeface="Calibri"/>
                <a:cs typeface="Calibri"/>
              </a:rPr>
              <a:t> -&gt; MARL </a:t>
            </a:r>
            <a:r>
              <a:rPr lang="es-ES" sz="1800" b="0" err="1">
                <a:latin typeface="Calibri"/>
                <a:ea typeface="Calibri"/>
                <a:cs typeface="Calibri"/>
              </a:rPr>
              <a:t>approach</a:t>
            </a:r>
            <a:r>
              <a:rPr lang="es-ES" sz="1800" b="0" dirty="0">
                <a:latin typeface="Calibri"/>
                <a:ea typeface="Calibri"/>
                <a:cs typeface="Calibri"/>
              </a:rPr>
              <a:t> -&gt; </a:t>
            </a:r>
            <a:r>
              <a:rPr lang="es-ES" sz="1800" dirty="0">
                <a:solidFill>
                  <a:srgbClr val="FF0000"/>
                </a:solidFill>
                <a:latin typeface="Calibri"/>
                <a:ea typeface="Calibri"/>
                <a:cs typeface="Calibri"/>
              </a:rPr>
              <a:t>DUE??</a:t>
            </a:r>
            <a:endParaRPr lang="en-US" sz="1800" dirty="0">
              <a:solidFill>
                <a:srgbClr val="FF0000"/>
              </a:solidFill>
              <a:latin typeface="Calibri"/>
              <a:ea typeface="Calibri"/>
              <a:cs typeface="Calibri"/>
            </a:endParaRPr>
          </a:p>
          <a:p>
            <a:endParaRPr lang="es-ES" b="0" dirty="0">
              <a:latin typeface="Calibri"/>
            </a:endParaRPr>
          </a:p>
          <a:p>
            <a:r>
              <a:rPr lang="es-ES" sz="1800" b="0" dirty="0">
                <a:latin typeface="Calibri"/>
              </a:rPr>
              <a:t>2)   (</a:t>
            </a:r>
            <a:r>
              <a:rPr lang="es-ES" sz="1800" dirty="0">
                <a:solidFill>
                  <a:srgbClr val="FF0000"/>
                </a:solidFill>
                <a:latin typeface="Calibri"/>
              </a:rPr>
              <a:t>High </a:t>
            </a:r>
            <a:r>
              <a:rPr lang="es-ES" sz="1800" b="0" dirty="0" err="1">
                <a:latin typeface="Calibri"/>
              </a:rPr>
              <a:t>degree</a:t>
            </a:r>
            <a:r>
              <a:rPr lang="es-ES" sz="1800" b="0" dirty="0">
                <a:latin typeface="Calibri"/>
              </a:rPr>
              <a:t>) </a:t>
            </a:r>
            <a:r>
              <a:rPr lang="es-ES" sz="1800" b="0" dirty="0" err="1">
                <a:latin typeface="Calibri"/>
              </a:rPr>
              <a:t>Bounded</a:t>
            </a:r>
            <a:r>
              <a:rPr lang="es-ES" sz="1800" b="0" dirty="0">
                <a:latin typeface="Calibri"/>
              </a:rPr>
              <a:t> </a:t>
            </a:r>
            <a:r>
              <a:rPr lang="es-ES" sz="1800" b="0" dirty="0" err="1">
                <a:latin typeface="Calibri"/>
              </a:rPr>
              <a:t>rationality</a:t>
            </a:r>
            <a:r>
              <a:rPr lang="es-ES" sz="1800" b="0" dirty="0">
                <a:latin typeface="Calibri"/>
              </a:rPr>
              <a:t> -&gt; MARL </a:t>
            </a:r>
            <a:r>
              <a:rPr lang="es-ES" sz="1800" b="0" dirty="0" err="1">
                <a:latin typeface="Calibri"/>
              </a:rPr>
              <a:t>approach</a:t>
            </a:r>
            <a:r>
              <a:rPr lang="es-ES" sz="1800" b="0" dirty="0">
                <a:latin typeface="Calibri"/>
              </a:rPr>
              <a:t> -&gt; </a:t>
            </a:r>
            <a:r>
              <a:rPr lang="es-ES" sz="1800" dirty="0">
                <a:solidFill>
                  <a:srgbClr val="FF0000"/>
                </a:solidFill>
                <a:latin typeface="Calibri"/>
              </a:rPr>
              <a:t>DUE??</a:t>
            </a:r>
          </a:p>
        </p:txBody>
      </p:sp>
      <p:sp>
        <p:nvSpPr>
          <p:cNvPr id="3" name="Título 2">
            <a:extLst>
              <a:ext uri="{FF2B5EF4-FFF2-40B4-BE49-F238E27FC236}">
                <a16:creationId xmlns:a16="http://schemas.microsoft.com/office/drawing/2014/main" id="{7244635C-2883-545C-D0FB-E6A5E797667E}"/>
              </a:ext>
            </a:extLst>
          </p:cNvPr>
          <p:cNvSpPr>
            <a:spLocks noGrp="1"/>
          </p:cNvSpPr>
          <p:nvPr>
            <p:ph type="title"/>
          </p:nvPr>
        </p:nvSpPr>
        <p:spPr>
          <a:xfrm>
            <a:off x="73152" y="73152"/>
            <a:ext cx="8863030" cy="861774"/>
          </a:xfrm>
        </p:spPr>
        <p:txBody>
          <a:bodyPr wrap="square" lIns="0" tIns="0" rIns="0" bIns="0" anchor="t">
            <a:spAutoFit/>
          </a:bodyPr>
          <a:lstStyle/>
          <a:p>
            <a:r>
              <a:rPr lang="es-ES" dirty="0" err="1">
                <a:latin typeface="Calibri"/>
              </a:rPr>
              <a:t>This</a:t>
            </a:r>
            <a:r>
              <a:rPr lang="es-ES" dirty="0">
                <a:latin typeface="Calibri"/>
              </a:rPr>
              <a:t> </a:t>
            </a:r>
            <a:r>
              <a:rPr lang="es-ES" dirty="0" err="1">
                <a:latin typeface="Calibri"/>
              </a:rPr>
              <a:t>thesis</a:t>
            </a:r>
            <a:r>
              <a:rPr lang="es-ES" dirty="0">
                <a:latin typeface="Calibri"/>
              </a:rPr>
              <a:t> examines </a:t>
            </a:r>
            <a:r>
              <a:rPr lang="es-ES" dirty="0" err="1">
                <a:latin typeface="Calibri"/>
              </a:rPr>
              <a:t>the</a:t>
            </a:r>
            <a:r>
              <a:rPr lang="es-ES" dirty="0">
                <a:latin typeface="Calibri"/>
              </a:rPr>
              <a:t> </a:t>
            </a:r>
            <a:r>
              <a:rPr lang="es-ES" dirty="0" err="1">
                <a:latin typeface="Calibri"/>
              </a:rPr>
              <a:t>impact</a:t>
            </a:r>
            <a:r>
              <a:rPr lang="es-ES" dirty="0">
                <a:latin typeface="Calibri"/>
              </a:rPr>
              <a:t> </a:t>
            </a:r>
            <a:r>
              <a:rPr lang="es-ES" dirty="0" err="1">
                <a:latin typeface="Calibri"/>
              </a:rPr>
              <a:t>of</a:t>
            </a:r>
            <a:r>
              <a:rPr lang="es-ES" dirty="0">
                <a:latin typeface="Calibri"/>
              </a:rPr>
              <a:t> </a:t>
            </a:r>
            <a:r>
              <a:rPr lang="es-ES" dirty="0" err="1">
                <a:latin typeface="Calibri"/>
              </a:rPr>
              <a:t>bounded</a:t>
            </a:r>
            <a:r>
              <a:rPr lang="es-ES" dirty="0">
                <a:latin typeface="Calibri"/>
              </a:rPr>
              <a:t> </a:t>
            </a:r>
            <a:r>
              <a:rPr lang="es-ES" dirty="0" err="1">
                <a:latin typeface="Calibri"/>
              </a:rPr>
              <a:t>rational</a:t>
            </a:r>
            <a:r>
              <a:rPr lang="es-ES" dirty="0">
                <a:latin typeface="Calibri"/>
              </a:rPr>
              <a:t> </a:t>
            </a:r>
            <a:r>
              <a:rPr lang="es-ES" dirty="0" err="1">
                <a:latin typeface="Calibri"/>
              </a:rPr>
              <a:t>agents</a:t>
            </a:r>
            <a:r>
              <a:rPr lang="es-ES" dirty="0">
                <a:latin typeface="Calibri"/>
              </a:rPr>
              <a:t> </a:t>
            </a:r>
            <a:r>
              <a:rPr lang="es-ES" dirty="0" err="1">
                <a:latin typeface="Calibri"/>
              </a:rPr>
              <a:t>on</a:t>
            </a:r>
            <a:r>
              <a:rPr lang="es-ES" dirty="0">
                <a:latin typeface="Calibri"/>
              </a:rPr>
              <a:t> </a:t>
            </a:r>
            <a:r>
              <a:rPr lang="es-ES" dirty="0" err="1">
                <a:latin typeface="Calibri"/>
              </a:rPr>
              <a:t>traffic</a:t>
            </a:r>
            <a:endParaRPr lang="es-ES" dirty="0">
              <a:latin typeface="Calibri"/>
            </a:endParaRPr>
          </a:p>
        </p:txBody>
      </p:sp>
      <p:sp>
        <p:nvSpPr>
          <p:cNvPr id="4" name="Marcador de número de diapositiva 3">
            <a:extLst>
              <a:ext uri="{FF2B5EF4-FFF2-40B4-BE49-F238E27FC236}">
                <a16:creationId xmlns:a16="http://schemas.microsoft.com/office/drawing/2014/main" id="{933316A8-99B6-B3AB-A756-9B73ABC3695F}"/>
              </a:ext>
            </a:extLst>
          </p:cNvPr>
          <p:cNvSpPr>
            <a:spLocks noGrp="1"/>
          </p:cNvSpPr>
          <p:nvPr>
            <p:ph type="sldNum" sz="quarter" idx="4"/>
          </p:nvPr>
        </p:nvSpPr>
        <p:spPr/>
        <p:txBody>
          <a:bodyPr/>
          <a:lstStyle/>
          <a:p>
            <a:fld id="{F577E53E-616C-4B80-8F3C-B6584B31683E}" type="slidenum">
              <a:rPr lang="en-US" smtClean="0"/>
              <a:pPr/>
              <a:t>40</a:t>
            </a:fld>
            <a:endParaRPr lang="es-ES"/>
          </a:p>
        </p:txBody>
      </p:sp>
    </p:spTree>
    <p:extLst>
      <p:ext uri="{BB962C8B-B14F-4D97-AF65-F5344CB8AC3E}">
        <p14:creationId xmlns:p14="http://schemas.microsoft.com/office/powerpoint/2010/main" val="1092115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54">
          <a:extLst>
            <a:ext uri="{FF2B5EF4-FFF2-40B4-BE49-F238E27FC236}">
              <a16:creationId xmlns:a16="http://schemas.microsoft.com/office/drawing/2014/main" id="{1F5D89BF-11EA-D83E-5E49-886E5270429F}"/>
            </a:ext>
          </a:extLst>
        </p:cNvPr>
        <p:cNvGrpSpPr/>
        <p:nvPr/>
      </p:nvGrpSpPr>
      <p:grpSpPr>
        <a:xfrm>
          <a:off x="0" y="0"/>
          <a:ext cx="0" cy="0"/>
          <a:chOff x="0" y="0"/>
          <a:chExt cx="0" cy="0"/>
        </a:xfrm>
      </p:grpSpPr>
      <p:sp>
        <p:nvSpPr>
          <p:cNvPr id="59" name="Shape 59">
            <a:extLst>
              <a:ext uri="{FF2B5EF4-FFF2-40B4-BE49-F238E27FC236}">
                <a16:creationId xmlns:a16="http://schemas.microsoft.com/office/drawing/2014/main" id="{8288EF4D-7FF9-472F-1295-A3D85CB03D61}"/>
              </a:ext>
            </a:extLst>
          </p:cNvPr>
          <p:cNvSpPr txBox="1"/>
          <p:nvPr/>
        </p:nvSpPr>
        <p:spPr>
          <a:xfrm>
            <a:off x="228600" y="114300"/>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60" name="Shape 60">
            <a:extLst>
              <a:ext uri="{FF2B5EF4-FFF2-40B4-BE49-F238E27FC236}">
                <a16:creationId xmlns:a16="http://schemas.microsoft.com/office/drawing/2014/main" id="{53760548-3D88-063B-6B23-E786084555BB}"/>
              </a:ext>
            </a:extLst>
          </p:cNvPr>
          <p:cNvSpPr txBox="1"/>
          <p:nvPr/>
        </p:nvSpPr>
        <p:spPr>
          <a:xfrm>
            <a:off x="76200" y="57150"/>
            <a:ext cx="9017100" cy="430887"/>
          </a:xfrm>
          <a:prstGeom prst="rect">
            <a:avLst/>
          </a:prstGeom>
          <a:noFill/>
          <a:ln>
            <a:noFill/>
          </a:ln>
        </p:spPr>
        <p:txBody>
          <a:bodyPr lIns="0" tIns="0" rIns="0" bIns="0" anchor="t" anchorCtr="0">
            <a:spAutoFit/>
          </a:bodyPr>
          <a:lstStyle>
            <a:defPPr marR="0" algn="l" rtl="0">
              <a:lnSpc>
                <a:spcPct val="100000"/>
              </a:lnSpc>
              <a:spcBef>
                <a:spcPts val="0"/>
              </a:spcBef>
              <a:spcAft>
                <a:spcPts val="0"/>
              </a:spcAft>
            </a:defPPr>
            <a:lvl1pPr marL="0" lvl="0" indent="0">
              <a:buSzPct val="25000"/>
              <a:defRPr sz="3200" b="1">
                <a:latin typeface="Calibri"/>
                <a:ea typeface="Calibri"/>
                <a:cs typeface="Calibri"/>
              </a:defRPr>
            </a:lvl1pPr>
          </a:lstStyle>
          <a:p>
            <a:r>
              <a:rPr lang="en-US" sz="2800" dirty="0">
                <a:sym typeface="Calibri"/>
              </a:rPr>
              <a:t>Traffic assignment model</a:t>
            </a:r>
            <a:endParaRPr lang="es-ES" dirty="0"/>
          </a:p>
        </p:txBody>
      </p:sp>
      <p:sp>
        <p:nvSpPr>
          <p:cNvPr id="65" name="Shape 65">
            <a:extLst>
              <a:ext uri="{FF2B5EF4-FFF2-40B4-BE49-F238E27FC236}">
                <a16:creationId xmlns:a16="http://schemas.microsoft.com/office/drawing/2014/main" id="{C750089C-5F83-19F3-826B-41E6088262E2}"/>
              </a:ext>
            </a:extLst>
          </p:cNvPr>
          <p:cNvSpPr txBox="1"/>
          <p:nvPr/>
        </p:nvSpPr>
        <p:spPr>
          <a:xfrm>
            <a:off x="5447915" y="1048419"/>
            <a:ext cx="3084341" cy="310984"/>
          </a:xfrm>
          <a:prstGeom prst="rect">
            <a:avLst/>
          </a:prstGeom>
          <a:noFill/>
          <a:ln>
            <a:noFill/>
          </a:ln>
        </p:spPr>
        <p:txBody>
          <a:bodyPr lIns="91425" tIns="45700" rIns="91425" bIns="45700" anchor="t" anchorCtr="0">
            <a:noAutofit/>
          </a:bodyPr>
          <a:lstStyle/>
          <a:p>
            <a:pPr algn="ctr"/>
            <a:r>
              <a:rPr lang="en-US" b="1" dirty="0">
                <a:solidFill>
                  <a:srgbClr val="111111"/>
                </a:solidFill>
                <a:latin typeface="Calibri"/>
                <a:ea typeface="Calibri"/>
                <a:cs typeface="Calibri"/>
              </a:rPr>
              <a:t>Implemented version</a:t>
            </a:r>
          </a:p>
        </p:txBody>
      </p:sp>
      <p:sp>
        <p:nvSpPr>
          <p:cNvPr id="68" name="Shape 68">
            <a:extLst>
              <a:ext uri="{FF2B5EF4-FFF2-40B4-BE49-F238E27FC236}">
                <a16:creationId xmlns:a16="http://schemas.microsoft.com/office/drawing/2014/main" id="{F0031CB6-B49F-CCC8-F987-EFF11DC04401}"/>
              </a:ext>
            </a:extLst>
          </p:cNvPr>
          <p:cNvSpPr txBox="1"/>
          <p:nvPr/>
        </p:nvSpPr>
        <p:spPr>
          <a:xfrm>
            <a:off x="771525" y="1044922"/>
            <a:ext cx="3082152" cy="307386"/>
          </a:xfrm>
          <a:prstGeom prst="rect">
            <a:avLst/>
          </a:prstGeom>
          <a:noFill/>
          <a:ln>
            <a:noFill/>
          </a:ln>
        </p:spPr>
        <p:txBody>
          <a:bodyPr lIns="91425" tIns="45700" rIns="91425" bIns="45700" anchor="t" anchorCtr="0">
            <a:noAutofit/>
          </a:bodyPr>
          <a:lstStyle/>
          <a:p>
            <a:pPr algn="ctr"/>
            <a:r>
              <a:rPr lang="en-US" b="1" dirty="0">
                <a:solidFill>
                  <a:srgbClr val="111111"/>
                </a:solidFill>
                <a:latin typeface="Calibri"/>
                <a:ea typeface="Calibri"/>
                <a:cs typeface="Calibri"/>
                <a:sym typeface="Calibri"/>
              </a:rPr>
              <a:t>Generic version</a:t>
            </a:r>
            <a:endParaRPr lang="es-ES" dirty="0"/>
          </a:p>
        </p:txBody>
      </p:sp>
      <p:pic>
        <p:nvPicPr>
          <p:cNvPr id="4" name="Imagen 3">
            <a:extLst>
              <a:ext uri="{FF2B5EF4-FFF2-40B4-BE49-F238E27FC236}">
                <a16:creationId xmlns:a16="http://schemas.microsoft.com/office/drawing/2014/main" id="{62B0C4DC-69D2-F428-7487-A64929743CB9}"/>
              </a:ext>
            </a:extLst>
          </p:cNvPr>
          <p:cNvPicPr>
            <a:picLocks noChangeAspect="1"/>
          </p:cNvPicPr>
          <p:nvPr/>
        </p:nvPicPr>
        <p:blipFill>
          <a:blip r:embed="rId3"/>
          <a:stretch>
            <a:fillRect/>
          </a:stretch>
        </p:blipFill>
        <p:spPr>
          <a:xfrm>
            <a:off x="21431" y="1538333"/>
            <a:ext cx="4686301" cy="1659644"/>
          </a:xfrm>
          <a:prstGeom prst="rect">
            <a:avLst/>
          </a:prstGeom>
        </p:spPr>
      </p:pic>
      <p:pic>
        <p:nvPicPr>
          <p:cNvPr id="5" name="Imagen 4" descr="Diagrama&#10;&#10;El contenido generado por IA puede ser incorrecto.">
            <a:extLst>
              <a:ext uri="{FF2B5EF4-FFF2-40B4-BE49-F238E27FC236}">
                <a16:creationId xmlns:a16="http://schemas.microsoft.com/office/drawing/2014/main" id="{FA5545FE-242C-AA18-3499-ECB0D2BF392F}"/>
              </a:ext>
            </a:extLst>
          </p:cNvPr>
          <p:cNvPicPr>
            <a:picLocks noChangeAspect="1"/>
          </p:cNvPicPr>
          <p:nvPr/>
        </p:nvPicPr>
        <p:blipFill>
          <a:blip r:embed="rId4"/>
          <a:stretch>
            <a:fillRect/>
          </a:stretch>
        </p:blipFill>
        <p:spPr>
          <a:xfrm>
            <a:off x="5024439" y="1352550"/>
            <a:ext cx="3924301" cy="2038351"/>
          </a:xfrm>
          <a:prstGeom prst="rect">
            <a:avLst/>
          </a:prstGeom>
        </p:spPr>
      </p:pic>
      <p:sp>
        <p:nvSpPr>
          <p:cNvPr id="3" name="CuadroTexto 2">
            <a:extLst>
              <a:ext uri="{FF2B5EF4-FFF2-40B4-BE49-F238E27FC236}">
                <a16:creationId xmlns:a16="http://schemas.microsoft.com/office/drawing/2014/main" id="{A3ABF0D1-7476-ACF4-B99F-454FAB8399D8}"/>
              </a:ext>
            </a:extLst>
          </p:cNvPr>
          <p:cNvSpPr txBox="1"/>
          <p:nvPr/>
        </p:nvSpPr>
        <p:spPr>
          <a:xfrm>
            <a:off x="190562" y="3235539"/>
            <a:ext cx="483005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000" i="1" dirty="0" err="1">
                <a:solidFill>
                  <a:schemeClr val="tx1"/>
                </a:solidFill>
                <a:latin typeface="Calibri"/>
                <a:ea typeface="Calibri"/>
                <a:cs typeface="Calibri"/>
              </a:rPr>
              <a:t>Source</a:t>
            </a:r>
            <a:r>
              <a:rPr lang="es-ES" sz="1000" i="1" dirty="0">
                <a:solidFill>
                  <a:schemeClr val="tx1"/>
                </a:solidFill>
                <a:latin typeface="Calibri"/>
                <a:ea typeface="Calibri"/>
                <a:cs typeface="Calibri"/>
              </a:rPr>
              <a:t>: </a:t>
            </a:r>
            <a:r>
              <a:rPr lang="es-ES" sz="1000" i="1" dirty="0" err="1">
                <a:solidFill>
                  <a:schemeClr val="tx1"/>
                </a:solidFill>
                <a:latin typeface="Calibri"/>
                <a:ea typeface="Calibri"/>
                <a:cs typeface="Calibri"/>
              </a:rPr>
              <a:t>Adapted</a:t>
            </a:r>
            <a:r>
              <a:rPr lang="es-ES" sz="1000" i="1" dirty="0">
                <a:solidFill>
                  <a:schemeClr val="tx1"/>
                </a:solidFill>
                <a:latin typeface="Calibri"/>
                <a:ea typeface="Calibri"/>
                <a:cs typeface="Calibri"/>
              </a:rPr>
              <a:t> </a:t>
            </a:r>
            <a:r>
              <a:rPr lang="es-ES" sz="1000" i="1" dirty="0" err="1">
                <a:solidFill>
                  <a:schemeClr val="tx1"/>
                </a:solidFill>
                <a:latin typeface="Calibri"/>
                <a:ea typeface="Calibri"/>
                <a:cs typeface="Calibri"/>
              </a:rPr>
              <a:t>from</a:t>
            </a:r>
            <a:r>
              <a:rPr lang="es-ES" sz="1000" i="1" dirty="0">
                <a:solidFill>
                  <a:schemeClr val="tx1"/>
                </a:solidFill>
                <a:latin typeface="Calibri"/>
                <a:ea typeface="Calibri"/>
                <a:cs typeface="Calibri"/>
              </a:rPr>
              <a:t> Boyles et al. [8]</a:t>
            </a:r>
            <a:endParaRPr lang="es-ES" sz="1000" dirty="0">
              <a:solidFill>
                <a:schemeClr val="tx1"/>
              </a:solidFill>
              <a:latin typeface="Calibri"/>
              <a:ea typeface="Calibri"/>
              <a:cs typeface="Calibri"/>
            </a:endParaRPr>
          </a:p>
        </p:txBody>
      </p:sp>
      <p:sp>
        <p:nvSpPr>
          <p:cNvPr id="10" name="Shape 84">
            <a:extLst>
              <a:ext uri="{FF2B5EF4-FFF2-40B4-BE49-F238E27FC236}">
                <a16:creationId xmlns:a16="http://schemas.microsoft.com/office/drawing/2014/main" id="{E6136789-F4F3-82D0-A338-03C1285714BB}"/>
              </a:ext>
            </a:extLst>
          </p:cNvPr>
          <p:cNvSpPr/>
          <p:nvPr/>
        </p:nvSpPr>
        <p:spPr>
          <a:xfrm>
            <a:off x="152400" y="4100512"/>
            <a:ext cx="8001000" cy="592800"/>
          </a:xfrm>
          <a:prstGeom prst="rect">
            <a:avLst/>
          </a:prstGeom>
          <a:noFill/>
          <a:ln>
            <a:noFill/>
          </a:ln>
        </p:spPr>
        <p:txBody>
          <a:bodyPr lIns="63500" tIns="25400" rIns="63500" bIns="25400" anchor="t" anchorCtr="0">
            <a:noAutofit/>
          </a:bodyPr>
          <a:lstStyle/>
          <a:p>
            <a:r>
              <a:rPr lang="en-US" sz="1800" b="1" dirty="0">
                <a:solidFill>
                  <a:srgbClr val="FF0000"/>
                </a:solidFill>
                <a:latin typeface="Calibri"/>
                <a:ea typeface="Calibri"/>
                <a:cs typeface="Calibri"/>
                <a:sym typeface="Calibri"/>
              </a:rPr>
              <a:t>Dynamic User Equilibrium (DUE)</a:t>
            </a:r>
            <a:r>
              <a:rPr lang="en-US" sz="1800" dirty="0">
                <a:solidFill>
                  <a:srgbClr val="262626"/>
                </a:solidFill>
                <a:latin typeface="Calibri"/>
                <a:ea typeface="Calibri"/>
                <a:cs typeface="Calibri"/>
                <a:sym typeface="Calibri"/>
              </a:rPr>
              <a:t>: Drivers have perfect information and choose routes that minimize their travel time.</a:t>
            </a:r>
            <a:endParaRPr lang="es-ES" sz="1800" u="sng" dirty="0"/>
          </a:p>
        </p:txBody>
      </p:sp>
      <p:sp>
        <p:nvSpPr>
          <p:cNvPr id="2" name="Marcador de número de diapositiva 1">
            <a:extLst>
              <a:ext uri="{FF2B5EF4-FFF2-40B4-BE49-F238E27FC236}">
                <a16:creationId xmlns:a16="http://schemas.microsoft.com/office/drawing/2014/main" id="{8EDE899D-E05B-346A-C0E8-0A5DF9FAEDD5}"/>
              </a:ext>
            </a:extLst>
          </p:cNvPr>
          <p:cNvSpPr>
            <a:spLocks noGrp="1"/>
          </p:cNvSpPr>
          <p:nvPr>
            <p:ph type="sldNum" sz="quarter" idx="4"/>
          </p:nvPr>
        </p:nvSpPr>
        <p:spPr/>
        <p:txBody>
          <a:bodyPr/>
          <a:lstStyle/>
          <a:p>
            <a:fld id="{F577E53E-616C-4B80-8F3C-B6584B31683E}" type="slidenum">
              <a:rPr lang="en-US" smtClean="0"/>
              <a:pPr/>
              <a:t>41</a:t>
            </a:fld>
            <a:endParaRPr lang="es-ES"/>
          </a:p>
        </p:txBody>
      </p:sp>
    </p:spTree>
    <p:extLst>
      <p:ext uri="{BB962C8B-B14F-4D97-AF65-F5344CB8AC3E}">
        <p14:creationId xmlns:p14="http://schemas.microsoft.com/office/powerpoint/2010/main" val="3642177678"/>
      </p:ext>
    </p:extLst>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E3701F16-0AC5-D3E5-391B-58E46A189DE1}"/>
              </a:ext>
            </a:extLst>
          </p:cNvPr>
          <p:cNvSpPr>
            <a:spLocks noGrp="1"/>
          </p:cNvSpPr>
          <p:nvPr>
            <p:ph type="title"/>
          </p:nvPr>
        </p:nvSpPr>
        <p:spPr/>
        <p:txBody>
          <a:bodyPr wrap="square" lIns="0" tIns="0" rIns="0" bIns="0" anchor="t">
            <a:spAutoFit/>
          </a:bodyPr>
          <a:lstStyle/>
          <a:p>
            <a:r>
              <a:rPr lang="es-ES" dirty="0">
                <a:latin typeface="Calibri"/>
              </a:rPr>
              <a:t>Dynamic </a:t>
            </a:r>
            <a:r>
              <a:rPr lang="es-ES" dirty="0" err="1">
                <a:latin typeface="Calibri"/>
              </a:rPr>
              <a:t>traffic</a:t>
            </a:r>
            <a:r>
              <a:rPr lang="es-ES" dirty="0">
                <a:latin typeface="Calibri"/>
              </a:rPr>
              <a:t> </a:t>
            </a:r>
            <a:r>
              <a:rPr lang="es-ES" dirty="0" err="1">
                <a:latin typeface="Calibri"/>
              </a:rPr>
              <a:t>assignment</a:t>
            </a:r>
            <a:r>
              <a:rPr lang="es-ES" dirty="0">
                <a:latin typeface="Calibri"/>
              </a:rPr>
              <a:t> </a:t>
            </a:r>
            <a:r>
              <a:rPr lang="es-ES" dirty="0" err="1">
                <a:latin typeface="Calibri"/>
              </a:rPr>
              <a:t>models</a:t>
            </a:r>
            <a:r>
              <a:rPr lang="es-ES" dirty="0">
                <a:latin typeface="Calibri"/>
              </a:rPr>
              <a:t> are more </a:t>
            </a:r>
            <a:r>
              <a:rPr lang="es-ES" dirty="0" err="1">
                <a:latin typeface="Calibri"/>
              </a:rPr>
              <a:t>realistic</a:t>
            </a:r>
            <a:endParaRPr lang="es-ES" dirty="0" err="1"/>
          </a:p>
        </p:txBody>
      </p:sp>
      <p:pic>
        <p:nvPicPr>
          <p:cNvPr id="2" name="Imagen 1" descr="Mapa&#10;&#10;El contenido generado por IA puede ser incorrecto.">
            <a:extLst>
              <a:ext uri="{FF2B5EF4-FFF2-40B4-BE49-F238E27FC236}">
                <a16:creationId xmlns:a16="http://schemas.microsoft.com/office/drawing/2014/main" id="{F88C69B5-BB0C-6F00-719A-5585443E0B27}"/>
              </a:ext>
            </a:extLst>
          </p:cNvPr>
          <p:cNvPicPr>
            <a:picLocks noChangeAspect="1"/>
          </p:cNvPicPr>
          <p:nvPr/>
        </p:nvPicPr>
        <p:blipFill>
          <a:blip r:embed="rId2"/>
          <a:stretch>
            <a:fillRect/>
          </a:stretch>
        </p:blipFill>
        <p:spPr>
          <a:xfrm>
            <a:off x="2610197" y="610115"/>
            <a:ext cx="6325452" cy="4340311"/>
          </a:xfrm>
          <a:prstGeom prst="rect">
            <a:avLst/>
          </a:prstGeom>
        </p:spPr>
      </p:pic>
      <p:sp>
        <p:nvSpPr>
          <p:cNvPr id="6" name="Shape 68">
            <a:extLst>
              <a:ext uri="{FF2B5EF4-FFF2-40B4-BE49-F238E27FC236}">
                <a16:creationId xmlns:a16="http://schemas.microsoft.com/office/drawing/2014/main" id="{3A78A071-78D6-29F4-EBA1-E25332EF7B13}"/>
              </a:ext>
            </a:extLst>
          </p:cNvPr>
          <p:cNvSpPr txBox="1"/>
          <p:nvPr/>
        </p:nvSpPr>
        <p:spPr>
          <a:xfrm>
            <a:off x="571500" y="1162810"/>
            <a:ext cx="1417467" cy="369637"/>
          </a:xfrm>
          <a:prstGeom prst="rect">
            <a:avLst/>
          </a:prstGeom>
          <a:noFill/>
          <a:ln>
            <a:noFill/>
          </a:ln>
        </p:spPr>
        <p:txBody>
          <a:bodyPr lIns="91425" tIns="45700" rIns="91425" bIns="45700" anchor="t" anchorCtr="0">
            <a:noAutofit/>
          </a:bodyPr>
          <a:lstStyle/>
          <a:p>
            <a:pPr marL="0" marR="0" lvl="0" indent="0" algn="ctr">
              <a:spcBef>
                <a:spcPts val="0"/>
              </a:spcBef>
              <a:buNone/>
            </a:pPr>
            <a:r>
              <a:rPr lang="en-US" sz="2400" b="1" dirty="0">
                <a:solidFill>
                  <a:schemeClr val="tx1"/>
                </a:solidFill>
                <a:latin typeface="Calibri"/>
                <a:ea typeface="Calibri"/>
                <a:cs typeface="Calibri"/>
                <a:sym typeface="Calibri"/>
              </a:rPr>
              <a:t>Static</a:t>
            </a:r>
            <a:endParaRPr lang="es-ES" sz="2400">
              <a:solidFill>
                <a:schemeClr val="tx1"/>
              </a:solidFill>
            </a:endParaRPr>
          </a:p>
        </p:txBody>
      </p:sp>
      <p:sp>
        <p:nvSpPr>
          <p:cNvPr id="7" name="Shape 68">
            <a:extLst>
              <a:ext uri="{FF2B5EF4-FFF2-40B4-BE49-F238E27FC236}">
                <a16:creationId xmlns:a16="http://schemas.microsoft.com/office/drawing/2014/main" id="{0289AC6D-0F37-A1CB-671A-3631AE919443}"/>
              </a:ext>
            </a:extLst>
          </p:cNvPr>
          <p:cNvSpPr txBox="1"/>
          <p:nvPr/>
        </p:nvSpPr>
        <p:spPr>
          <a:xfrm>
            <a:off x="594669" y="3093553"/>
            <a:ext cx="1363406" cy="369637"/>
          </a:xfrm>
          <a:prstGeom prst="rect">
            <a:avLst/>
          </a:prstGeom>
          <a:noFill/>
          <a:ln>
            <a:noFill/>
          </a:ln>
        </p:spPr>
        <p:txBody>
          <a:bodyPr lIns="91425" tIns="45700" rIns="91425" bIns="45700" anchor="t" anchorCtr="0">
            <a:noAutofit/>
          </a:bodyPr>
          <a:lstStyle/>
          <a:p>
            <a:pPr marL="0" marR="0" lvl="0" indent="0" algn="ctr">
              <a:spcBef>
                <a:spcPts val="0"/>
              </a:spcBef>
              <a:buNone/>
            </a:pPr>
            <a:r>
              <a:rPr lang="en-US" sz="2400" b="1" dirty="0">
                <a:solidFill>
                  <a:schemeClr val="tx1"/>
                </a:solidFill>
                <a:latin typeface="Calibri"/>
                <a:ea typeface="Calibri"/>
                <a:cs typeface="Calibri"/>
                <a:sym typeface="Calibri"/>
              </a:rPr>
              <a:t>Dynamic</a:t>
            </a:r>
            <a:endParaRPr lang="es-ES" sz="2400">
              <a:solidFill>
                <a:schemeClr val="tx1"/>
              </a:solidFill>
            </a:endParaRPr>
          </a:p>
        </p:txBody>
      </p:sp>
      <p:sp>
        <p:nvSpPr>
          <p:cNvPr id="11" name="Shape 259">
            <a:extLst>
              <a:ext uri="{FF2B5EF4-FFF2-40B4-BE49-F238E27FC236}">
                <a16:creationId xmlns:a16="http://schemas.microsoft.com/office/drawing/2014/main" id="{1321F197-E1C9-2BCC-DD74-A807EC24AF61}"/>
              </a:ext>
            </a:extLst>
          </p:cNvPr>
          <p:cNvSpPr/>
          <p:nvPr/>
        </p:nvSpPr>
        <p:spPr>
          <a:xfrm>
            <a:off x="1149376" y="1589933"/>
            <a:ext cx="263631" cy="304800"/>
          </a:xfrm>
          <a:prstGeom prst="downArrow">
            <a:avLst>
              <a:gd name="adj1" fmla="val 50000"/>
              <a:gd name="adj2" fmla="val 30218"/>
            </a:avLst>
          </a:prstGeom>
          <a:solidFill>
            <a:srgbClr val="262626"/>
          </a:solidFill>
          <a:ln>
            <a:noFill/>
          </a:ln>
        </p:spPr>
        <p:txBody>
          <a:bodyPr lIns="91425" tIns="45700" rIns="91425" bIns="45700" anchor="ctr"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sp>
        <p:nvSpPr>
          <p:cNvPr id="12" name="Shape 68">
            <a:extLst>
              <a:ext uri="{FF2B5EF4-FFF2-40B4-BE49-F238E27FC236}">
                <a16:creationId xmlns:a16="http://schemas.microsoft.com/office/drawing/2014/main" id="{0A9F25E5-5994-3541-7370-43B57AC9FAFD}"/>
              </a:ext>
            </a:extLst>
          </p:cNvPr>
          <p:cNvSpPr txBox="1"/>
          <p:nvPr/>
        </p:nvSpPr>
        <p:spPr>
          <a:xfrm>
            <a:off x="594669" y="1888769"/>
            <a:ext cx="1417467" cy="616772"/>
          </a:xfrm>
          <a:prstGeom prst="rect">
            <a:avLst/>
          </a:prstGeom>
          <a:noFill/>
          <a:ln>
            <a:noFill/>
          </a:ln>
        </p:spPr>
        <p:txBody>
          <a:bodyPr lIns="91425" tIns="45700" rIns="91425" bIns="45700" anchor="t" anchorCtr="0">
            <a:noAutofit/>
          </a:bodyPr>
          <a:lstStyle/>
          <a:p>
            <a:pPr algn="ctr"/>
            <a:r>
              <a:rPr lang="en-US" sz="1800" b="1" dirty="0">
                <a:solidFill>
                  <a:srgbClr val="FF0000"/>
                </a:solidFill>
                <a:latin typeface="Calibri"/>
                <a:ea typeface="Calibri"/>
                <a:cs typeface="Calibri"/>
                <a:sym typeface="Calibri"/>
              </a:rPr>
              <a:t>Constant </a:t>
            </a:r>
            <a:r>
              <a:rPr lang="en-US" sz="1800" b="1" dirty="0">
                <a:solidFill>
                  <a:srgbClr val="111111"/>
                </a:solidFill>
                <a:latin typeface="Calibri"/>
                <a:ea typeface="Calibri"/>
                <a:cs typeface="Calibri"/>
                <a:sym typeface="Calibri"/>
              </a:rPr>
              <a:t>travel times</a:t>
            </a:r>
            <a:endParaRPr lang="es-ES" dirty="0"/>
          </a:p>
        </p:txBody>
      </p:sp>
      <p:sp>
        <p:nvSpPr>
          <p:cNvPr id="13" name="Shape 259">
            <a:extLst>
              <a:ext uri="{FF2B5EF4-FFF2-40B4-BE49-F238E27FC236}">
                <a16:creationId xmlns:a16="http://schemas.microsoft.com/office/drawing/2014/main" id="{DE1A30D9-F5CB-BF71-F770-31A75003301C}"/>
              </a:ext>
            </a:extLst>
          </p:cNvPr>
          <p:cNvSpPr/>
          <p:nvPr/>
        </p:nvSpPr>
        <p:spPr>
          <a:xfrm>
            <a:off x="1149376" y="3528399"/>
            <a:ext cx="263631" cy="304800"/>
          </a:xfrm>
          <a:prstGeom prst="downArrow">
            <a:avLst>
              <a:gd name="adj1" fmla="val 50000"/>
              <a:gd name="adj2" fmla="val 30218"/>
            </a:avLst>
          </a:prstGeom>
          <a:solidFill>
            <a:srgbClr val="262626"/>
          </a:solidFill>
          <a:ln>
            <a:noFill/>
          </a:ln>
        </p:spPr>
        <p:txBody>
          <a:bodyPr lIns="91425" tIns="45700" rIns="91425" bIns="45700" anchor="ctr"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sp>
        <p:nvSpPr>
          <p:cNvPr id="14" name="Shape 68">
            <a:extLst>
              <a:ext uri="{FF2B5EF4-FFF2-40B4-BE49-F238E27FC236}">
                <a16:creationId xmlns:a16="http://schemas.microsoft.com/office/drawing/2014/main" id="{165DCB89-542D-A0C0-3955-E38F9491B92D}"/>
              </a:ext>
            </a:extLst>
          </p:cNvPr>
          <p:cNvSpPr txBox="1"/>
          <p:nvPr/>
        </p:nvSpPr>
        <p:spPr>
          <a:xfrm>
            <a:off x="378426" y="3827236"/>
            <a:ext cx="1842230" cy="616772"/>
          </a:xfrm>
          <a:prstGeom prst="rect">
            <a:avLst/>
          </a:prstGeom>
          <a:noFill/>
          <a:ln>
            <a:noFill/>
          </a:ln>
        </p:spPr>
        <p:txBody>
          <a:bodyPr lIns="91425" tIns="45700" rIns="91425" bIns="45700" anchor="t" anchorCtr="0">
            <a:noAutofit/>
          </a:bodyPr>
          <a:lstStyle/>
          <a:p>
            <a:pPr algn="ctr"/>
            <a:r>
              <a:rPr lang="en-US" sz="1800" b="1" dirty="0">
                <a:solidFill>
                  <a:srgbClr val="FF0000"/>
                </a:solidFill>
                <a:latin typeface="Calibri"/>
                <a:ea typeface="Calibri"/>
                <a:cs typeface="Calibri"/>
                <a:sym typeface="Calibri"/>
              </a:rPr>
              <a:t>Time-dependent</a:t>
            </a:r>
            <a:r>
              <a:rPr lang="en-US" sz="1800" b="1" dirty="0">
                <a:solidFill>
                  <a:srgbClr val="111111"/>
                </a:solidFill>
                <a:latin typeface="Calibri"/>
                <a:ea typeface="Calibri"/>
                <a:cs typeface="Calibri"/>
                <a:sym typeface="Calibri"/>
              </a:rPr>
              <a:t> travel times</a:t>
            </a:r>
            <a:endParaRPr lang="es-ES" sz="1800"/>
          </a:p>
        </p:txBody>
      </p:sp>
      <p:sp>
        <p:nvSpPr>
          <p:cNvPr id="4" name="Marcador de número de diapositiva 3">
            <a:extLst>
              <a:ext uri="{FF2B5EF4-FFF2-40B4-BE49-F238E27FC236}">
                <a16:creationId xmlns:a16="http://schemas.microsoft.com/office/drawing/2014/main" id="{F3CB6741-CB16-640F-15DE-17A4BA0156F9}"/>
              </a:ext>
            </a:extLst>
          </p:cNvPr>
          <p:cNvSpPr>
            <a:spLocks noGrp="1"/>
          </p:cNvSpPr>
          <p:nvPr>
            <p:ph type="sldNum" sz="quarter" idx="4"/>
          </p:nvPr>
        </p:nvSpPr>
        <p:spPr/>
        <p:txBody>
          <a:bodyPr/>
          <a:lstStyle/>
          <a:p>
            <a:fld id="{F577E53E-616C-4B80-8F3C-B6584B31683E}" type="slidenum">
              <a:rPr lang="en-US" smtClean="0"/>
              <a:pPr/>
              <a:t>42</a:t>
            </a:fld>
            <a:endParaRPr lang="es-ES"/>
          </a:p>
        </p:txBody>
      </p:sp>
    </p:spTree>
    <p:extLst>
      <p:ext uri="{BB962C8B-B14F-4D97-AF65-F5344CB8AC3E}">
        <p14:creationId xmlns:p14="http://schemas.microsoft.com/office/powerpoint/2010/main" val="666449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62FF0B3-04D5-4E92-F7E7-E674A651BA2F}"/>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ea typeface="Calibri"/>
                <a:cs typeface="Calibri"/>
              </a:rPr>
              <a:t>Two </a:t>
            </a:r>
            <a:r>
              <a:rPr lang="es-ES" dirty="0" err="1">
                <a:latin typeface="Calibri"/>
                <a:ea typeface="Calibri"/>
                <a:cs typeface="Calibri"/>
              </a:rPr>
              <a:t>notions</a:t>
            </a:r>
            <a:r>
              <a:rPr lang="es-ES" dirty="0">
                <a:latin typeface="Calibri"/>
                <a:ea typeface="Calibri"/>
                <a:cs typeface="Calibri"/>
              </a:rPr>
              <a:t> </a:t>
            </a:r>
            <a:r>
              <a:rPr lang="es-ES" dirty="0" err="1">
                <a:latin typeface="Calibri"/>
                <a:ea typeface="Calibri"/>
                <a:cs typeface="Calibri"/>
              </a:rPr>
              <a:t>of</a:t>
            </a:r>
            <a:r>
              <a:rPr lang="es-ES" dirty="0">
                <a:latin typeface="Calibri"/>
                <a:ea typeface="Calibri"/>
                <a:cs typeface="Calibri"/>
              </a:rPr>
              <a:t> </a:t>
            </a:r>
            <a:r>
              <a:rPr lang="es-ES" dirty="0" err="1">
                <a:latin typeface="Calibri"/>
                <a:ea typeface="Calibri"/>
                <a:cs typeface="Calibri"/>
              </a:rPr>
              <a:t>convergence</a:t>
            </a:r>
            <a:r>
              <a:rPr lang="es-ES" dirty="0">
                <a:latin typeface="Calibri"/>
                <a:ea typeface="Calibri"/>
                <a:cs typeface="Calibri"/>
              </a:rPr>
              <a:t> and </a:t>
            </a:r>
            <a:r>
              <a:rPr lang="es-ES" dirty="0" err="1">
                <a:latin typeface="Calibri"/>
                <a:ea typeface="Calibri"/>
                <a:cs typeface="Calibri"/>
              </a:rPr>
              <a:t>key</a:t>
            </a:r>
            <a:r>
              <a:rPr lang="es-ES" dirty="0">
                <a:latin typeface="Calibri"/>
                <a:ea typeface="Calibri"/>
                <a:cs typeface="Calibri"/>
              </a:rPr>
              <a:t> </a:t>
            </a:r>
            <a:r>
              <a:rPr lang="es-ES" dirty="0" err="1">
                <a:latin typeface="Calibri"/>
                <a:ea typeface="Calibri"/>
                <a:cs typeface="Calibri"/>
              </a:rPr>
              <a:t>simulation</a:t>
            </a:r>
            <a:r>
              <a:rPr lang="es-ES" dirty="0">
                <a:latin typeface="Calibri"/>
                <a:ea typeface="Calibri"/>
                <a:cs typeface="Calibri"/>
              </a:rPr>
              <a:t>-time </a:t>
            </a:r>
            <a:r>
              <a:rPr lang="es-ES" dirty="0" err="1">
                <a:latin typeface="Calibri"/>
                <a:ea typeface="Calibri"/>
                <a:cs typeface="Calibri"/>
              </a:rPr>
              <a:t>concepts</a:t>
            </a:r>
            <a:endParaRPr lang="es-ES" dirty="0" err="1"/>
          </a:p>
        </p:txBody>
      </p:sp>
      <p:sp>
        <p:nvSpPr>
          <p:cNvPr id="4" name="CuadroTexto 3">
            <a:extLst>
              <a:ext uri="{FF2B5EF4-FFF2-40B4-BE49-F238E27FC236}">
                <a16:creationId xmlns:a16="http://schemas.microsoft.com/office/drawing/2014/main" id="{11801A2F-E2AF-A33D-361B-01903450AF2B}"/>
              </a:ext>
            </a:extLst>
          </p:cNvPr>
          <p:cNvSpPr txBox="1"/>
          <p:nvPr/>
        </p:nvSpPr>
        <p:spPr>
          <a:xfrm>
            <a:off x="679621" y="1536873"/>
            <a:ext cx="3143809"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s-ES" sz="1800" dirty="0" err="1">
                <a:latin typeface="Calibri"/>
                <a:ea typeface="Calibri"/>
                <a:cs typeface="Calibri"/>
              </a:rPr>
              <a:t>Convergence</a:t>
            </a:r>
            <a:r>
              <a:rPr lang="es-ES" sz="1800" dirty="0">
                <a:latin typeface="Calibri"/>
                <a:ea typeface="Calibri"/>
                <a:cs typeface="Calibri"/>
              </a:rPr>
              <a:t> </a:t>
            </a:r>
            <a:r>
              <a:rPr lang="es-ES" sz="1800" dirty="0" err="1">
                <a:latin typeface="Calibri"/>
                <a:ea typeface="Calibri"/>
                <a:cs typeface="Calibri"/>
              </a:rPr>
              <a:t>of</a:t>
            </a:r>
            <a:r>
              <a:rPr lang="es-ES" sz="1800" dirty="0">
                <a:latin typeface="Calibri"/>
                <a:ea typeface="Calibri"/>
                <a:cs typeface="Calibri"/>
              </a:rPr>
              <a:t> </a:t>
            </a:r>
            <a:r>
              <a:rPr lang="es-ES" sz="1800" dirty="0" err="1">
                <a:latin typeface="Calibri"/>
                <a:ea typeface="Calibri"/>
                <a:cs typeface="Calibri"/>
              </a:rPr>
              <a:t>agents</a:t>
            </a:r>
            <a:r>
              <a:rPr lang="es-ES" sz="1800" dirty="0">
                <a:latin typeface="Calibri"/>
                <a:ea typeface="Calibri"/>
                <a:cs typeface="Calibri"/>
              </a:rPr>
              <a:t> </a:t>
            </a:r>
            <a:r>
              <a:rPr lang="es-ES" sz="1800" dirty="0" err="1">
                <a:latin typeface="Calibri"/>
                <a:ea typeface="Calibri"/>
                <a:cs typeface="Calibri"/>
              </a:rPr>
              <a:t>policies</a:t>
            </a:r>
          </a:p>
        </p:txBody>
      </p:sp>
      <p:sp>
        <p:nvSpPr>
          <p:cNvPr id="5" name="CuadroTexto 4">
            <a:extLst>
              <a:ext uri="{FF2B5EF4-FFF2-40B4-BE49-F238E27FC236}">
                <a16:creationId xmlns:a16="http://schemas.microsoft.com/office/drawing/2014/main" id="{556BBA7B-2427-EE55-5C97-4E63CC21E09C}"/>
              </a:ext>
            </a:extLst>
          </p:cNvPr>
          <p:cNvSpPr txBox="1"/>
          <p:nvPr/>
        </p:nvSpPr>
        <p:spPr>
          <a:xfrm>
            <a:off x="679620" y="1907575"/>
            <a:ext cx="7128875"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s-ES" sz="1800" dirty="0" err="1">
                <a:latin typeface="Calibri"/>
                <a:ea typeface="Calibri"/>
                <a:cs typeface="Calibri"/>
              </a:rPr>
              <a:t>Convergence</a:t>
            </a:r>
            <a:r>
              <a:rPr lang="es-ES" sz="1800" dirty="0">
                <a:latin typeface="Calibri"/>
                <a:ea typeface="Calibri"/>
                <a:cs typeface="Calibri"/>
              </a:rPr>
              <a:t> </a:t>
            </a:r>
            <a:r>
              <a:rPr lang="es-ES" sz="1800" dirty="0" err="1">
                <a:latin typeface="Calibri"/>
                <a:ea typeface="Calibri"/>
                <a:cs typeface="Calibri"/>
              </a:rPr>
              <a:t>of</a:t>
            </a:r>
            <a:r>
              <a:rPr lang="es-ES" sz="1800" dirty="0">
                <a:latin typeface="Calibri"/>
                <a:ea typeface="Calibri"/>
                <a:cs typeface="Calibri"/>
              </a:rPr>
              <a:t> </a:t>
            </a:r>
            <a:r>
              <a:rPr lang="es-ES" sz="1800" dirty="0" err="1">
                <a:latin typeface="Calibri"/>
                <a:ea typeface="Calibri"/>
                <a:cs typeface="Calibri"/>
              </a:rPr>
              <a:t>the</a:t>
            </a:r>
            <a:r>
              <a:rPr lang="es-ES" sz="1800" dirty="0">
                <a:latin typeface="Calibri"/>
                <a:ea typeface="Calibri"/>
                <a:cs typeface="Calibri"/>
              </a:rPr>
              <a:t> </a:t>
            </a:r>
            <a:r>
              <a:rPr lang="es-ES" sz="1800" dirty="0" err="1">
                <a:latin typeface="Calibri"/>
                <a:ea typeface="Calibri"/>
                <a:cs typeface="Calibri"/>
              </a:rPr>
              <a:t>network</a:t>
            </a:r>
            <a:r>
              <a:rPr lang="es-ES" sz="1800" dirty="0">
                <a:latin typeface="Calibri"/>
                <a:ea typeface="Calibri"/>
                <a:cs typeface="Calibri"/>
              </a:rPr>
              <a:t> </a:t>
            </a:r>
            <a:r>
              <a:rPr lang="es-ES" sz="1800" dirty="0" err="1">
                <a:latin typeface="Calibri"/>
                <a:ea typeface="Calibri"/>
                <a:cs typeface="Calibri"/>
              </a:rPr>
              <a:t>state</a:t>
            </a:r>
            <a:r>
              <a:rPr lang="es-ES" sz="1800" dirty="0">
                <a:latin typeface="Calibri"/>
                <a:ea typeface="Calibri"/>
                <a:cs typeface="Calibri"/>
              </a:rPr>
              <a:t> </a:t>
            </a:r>
            <a:r>
              <a:rPr lang="es-ES" sz="1800" dirty="0" err="1">
                <a:latin typeface="Calibri"/>
                <a:ea typeface="Calibri"/>
                <a:cs typeface="Calibri"/>
              </a:rPr>
              <a:t>towards</a:t>
            </a:r>
            <a:r>
              <a:rPr lang="es-ES" sz="1800" dirty="0">
                <a:latin typeface="Calibri"/>
                <a:ea typeface="Calibri"/>
                <a:cs typeface="Calibri"/>
              </a:rPr>
              <a:t> a </a:t>
            </a:r>
            <a:r>
              <a:rPr lang="es-ES" sz="1800" b="1" dirty="0">
                <a:solidFill>
                  <a:srgbClr val="FF0000"/>
                </a:solidFill>
                <a:latin typeface="Calibri"/>
                <a:ea typeface="Calibri"/>
                <a:cs typeface="Calibri"/>
              </a:rPr>
              <a:t>DUE </a:t>
            </a:r>
            <a:r>
              <a:rPr lang="es-ES" sz="1800" dirty="0">
                <a:latin typeface="Calibri"/>
                <a:ea typeface="Calibri"/>
                <a:cs typeface="Calibri"/>
              </a:rPr>
              <a:t>(</a:t>
            </a:r>
            <a:r>
              <a:rPr lang="es-ES" sz="1800" dirty="0" err="1">
                <a:latin typeface="Calibri"/>
                <a:ea typeface="Calibri"/>
                <a:cs typeface="Calibri"/>
              </a:rPr>
              <a:t>using</a:t>
            </a:r>
            <a:r>
              <a:rPr lang="es-ES" sz="1800" dirty="0">
                <a:latin typeface="Calibri"/>
                <a:ea typeface="Calibri"/>
                <a:cs typeface="Calibri"/>
              </a:rPr>
              <a:t> </a:t>
            </a:r>
            <a:r>
              <a:rPr lang="es-ES" sz="1800" dirty="0" err="1">
                <a:latin typeface="Calibri"/>
                <a:ea typeface="Calibri"/>
                <a:cs typeface="Calibri"/>
              </a:rPr>
              <a:t>the</a:t>
            </a:r>
            <a:r>
              <a:rPr lang="es-ES" sz="1800" dirty="0">
                <a:latin typeface="Calibri"/>
                <a:ea typeface="Calibri"/>
                <a:cs typeface="Calibri"/>
              </a:rPr>
              <a:t> </a:t>
            </a:r>
            <a:r>
              <a:rPr lang="es-ES" sz="1800" b="1" dirty="0">
                <a:solidFill>
                  <a:srgbClr val="FF0000"/>
                </a:solidFill>
                <a:latin typeface="Calibri"/>
                <a:ea typeface="Calibri"/>
                <a:cs typeface="Calibri"/>
              </a:rPr>
              <a:t>R-gap</a:t>
            </a:r>
            <a:r>
              <a:rPr lang="es-ES" sz="1800" dirty="0">
                <a:latin typeface="Calibri"/>
                <a:ea typeface="Calibri"/>
                <a:cs typeface="Calibri"/>
              </a:rPr>
              <a:t> </a:t>
            </a:r>
            <a:r>
              <a:rPr lang="es-ES" sz="1800" dirty="0" err="1">
                <a:latin typeface="Calibri"/>
                <a:ea typeface="Calibri"/>
                <a:cs typeface="Calibri"/>
              </a:rPr>
              <a:t>metric</a:t>
            </a:r>
            <a:r>
              <a:rPr lang="es-ES" sz="1800" dirty="0">
                <a:latin typeface="Calibri"/>
                <a:ea typeface="Calibri"/>
                <a:cs typeface="Calibri"/>
              </a:rPr>
              <a:t>)</a:t>
            </a:r>
            <a:endParaRPr lang="es-ES">
              <a:latin typeface="Calibri"/>
              <a:ea typeface="Calibri"/>
              <a:cs typeface="Calibri"/>
            </a:endParaRPr>
          </a:p>
        </p:txBody>
      </p:sp>
      <p:pic>
        <p:nvPicPr>
          <p:cNvPr id="6" name="Imagen 5">
            <a:extLst>
              <a:ext uri="{FF2B5EF4-FFF2-40B4-BE49-F238E27FC236}">
                <a16:creationId xmlns:a16="http://schemas.microsoft.com/office/drawing/2014/main" id="{7FE69E8A-5E54-8921-C464-BF7C110EBF9D}"/>
              </a:ext>
            </a:extLst>
          </p:cNvPr>
          <p:cNvPicPr>
            <a:picLocks noChangeAspect="1"/>
          </p:cNvPicPr>
          <p:nvPr/>
        </p:nvPicPr>
        <p:blipFill>
          <a:blip r:embed="rId2"/>
          <a:stretch>
            <a:fillRect/>
          </a:stretch>
        </p:blipFill>
        <p:spPr>
          <a:xfrm>
            <a:off x="648730" y="2707218"/>
            <a:ext cx="7715250" cy="2339429"/>
          </a:xfrm>
          <a:prstGeom prst="rect">
            <a:avLst/>
          </a:prstGeom>
        </p:spPr>
      </p:pic>
      <p:sp>
        <p:nvSpPr>
          <p:cNvPr id="7" name="CuadroTexto 6">
            <a:extLst>
              <a:ext uri="{FF2B5EF4-FFF2-40B4-BE49-F238E27FC236}">
                <a16:creationId xmlns:a16="http://schemas.microsoft.com/office/drawing/2014/main" id="{D4DF0EC1-219D-0C83-9590-18F3E8D41323}"/>
              </a:ext>
            </a:extLst>
          </p:cNvPr>
          <p:cNvSpPr txBox="1"/>
          <p:nvPr/>
        </p:nvSpPr>
        <p:spPr>
          <a:xfrm>
            <a:off x="679620" y="2525412"/>
            <a:ext cx="2690160"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s-ES" sz="1800" b="1" dirty="0" err="1">
                <a:solidFill>
                  <a:schemeClr val="tx1"/>
                </a:solidFill>
                <a:latin typeface="Calibri"/>
                <a:ea typeface="Calibri"/>
                <a:cs typeface="Calibri"/>
              </a:rPr>
              <a:t>Simulation</a:t>
            </a:r>
            <a:r>
              <a:rPr lang="es-ES" sz="1800" b="1" dirty="0">
                <a:solidFill>
                  <a:schemeClr val="tx1"/>
                </a:solidFill>
                <a:latin typeface="Calibri"/>
                <a:ea typeface="Calibri"/>
                <a:cs typeface="Calibri"/>
              </a:rPr>
              <a:t>-time </a:t>
            </a:r>
            <a:r>
              <a:rPr lang="es-ES" sz="1800" b="1" dirty="0" err="1">
                <a:solidFill>
                  <a:schemeClr val="tx1"/>
                </a:solidFill>
                <a:latin typeface="Calibri"/>
                <a:ea typeface="Calibri"/>
                <a:cs typeface="Calibri"/>
              </a:rPr>
              <a:t>concepts</a:t>
            </a:r>
            <a:r>
              <a:rPr lang="es-ES" sz="1800" b="1" dirty="0">
                <a:solidFill>
                  <a:schemeClr val="tx1"/>
                </a:solidFill>
                <a:latin typeface="Calibri"/>
                <a:ea typeface="Calibri"/>
                <a:cs typeface="Calibri"/>
              </a:rPr>
              <a:t>:</a:t>
            </a:r>
          </a:p>
        </p:txBody>
      </p:sp>
      <p:sp>
        <p:nvSpPr>
          <p:cNvPr id="8" name="CuadroTexto 7">
            <a:extLst>
              <a:ext uri="{FF2B5EF4-FFF2-40B4-BE49-F238E27FC236}">
                <a16:creationId xmlns:a16="http://schemas.microsoft.com/office/drawing/2014/main" id="{09101F74-5267-7971-77B6-9F98EB522AC1}"/>
              </a:ext>
            </a:extLst>
          </p:cNvPr>
          <p:cNvSpPr txBox="1"/>
          <p:nvPr/>
        </p:nvSpPr>
        <p:spPr>
          <a:xfrm>
            <a:off x="679621" y="1166169"/>
            <a:ext cx="2563522" cy="369332"/>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r>
              <a:rPr lang="es-ES" sz="1800" b="1" dirty="0" err="1">
                <a:solidFill>
                  <a:schemeClr val="tx1"/>
                </a:solidFill>
                <a:latin typeface="Calibri"/>
              </a:rPr>
              <a:t>Notions</a:t>
            </a:r>
            <a:r>
              <a:rPr lang="es-ES" sz="1800" b="1" dirty="0">
                <a:solidFill>
                  <a:schemeClr val="tx1"/>
                </a:solidFill>
                <a:latin typeface="Calibri"/>
              </a:rPr>
              <a:t> </a:t>
            </a:r>
            <a:r>
              <a:rPr lang="es-ES" sz="1800" b="1" dirty="0" err="1">
                <a:solidFill>
                  <a:schemeClr val="tx1"/>
                </a:solidFill>
                <a:latin typeface="Calibri"/>
              </a:rPr>
              <a:t>of</a:t>
            </a:r>
            <a:r>
              <a:rPr lang="es-ES" sz="1800" b="1" dirty="0">
                <a:solidFill>
                  <a:schemeClr val="tx1"/>
                </a:solidFill>
                <a:latin typeface="Calibri"/>
              </a:rPr>
              <a:t> </a:t>
            </a:r>
            <a:r>
              <a:rPr lang="es-ES" sz="1800" b="1" dirty="0" err="1">
                <a:solidFill>
                  <a:schemeClr val="tx1"/>
                </a:solidFill>
                <a:latin typeface="Calibri"/>
              </a:rPr>
              <a:t>convergence</a:t>
            </a:r>
            <a:r>
              <a:rPr lang="es-ES" sz="1800" b="1" dirty="0">
                <a:solidFill>
                  <a:schemeClr val="tx1"/>
                </a:solidFill>
                <a:latin typeface="Calibri"/>
              </a:rPr>
              <a:t>: </a:t>
            </a:r>
            <a:endParaRPr lang="es-ES" sz="1800" b="1">
              <a:solidFill>
                <a:schemeClr val="tx1"/>
              </a:solidFill>
              <a:latin typeface="Calibri" panose="020F0502020204030204" pitchFamily="34" charset="0"/>
            </a:endParaRPr>
          </a:p>
        </p:txBody>
      </p:sp>
      <p:sp>
        <p:nvSpPr>
          <p:cNvPr id="2" name="Marcador de número de diapositiva 1">
            <a:extLst>
              <a:ext uri="{FF2B5EF4-FFF2-40B4-BE49-F238E27FC236}">
                <a16:creationId xmlns:a16="http://schemas.microsoft.com/office/drawing/2014/main" id="{DCBBEE4C-D391-8A42-61B5-9CA13129D7C3}"/>
              </a:ext>
            </a:extLst>
          </p:cNvPr>
          <p:cNvSpPr>
            <a:spLocks noGrp="1"/>
          </p:cNvSpPr>
          <p:nvPr>
            <p:ph type="sldNum" sz="quarter" idx="4"/>
          </p:nvPr>
        </p:nvSpPr>
        <p:spPr/>
        <p:txBody>
          <a:bodyPr/>
          <a:lstStyle/>
          <a:p>
            <a:fld id="{F577E53E-616C-4B80-8F3C-B6584B31683E}" type="slidenum">
              <a:rPr lang="en-US" smtClean="0"/>
              <a:pPr/>
              <a:t>43</a:t>
            </a:fld>
            <a:endParaRPr lang="es-ES"/>
          </a:p>
        </p:txBody>
      </p:sp>
    </p:spTree>
    <p:extLst>
      <p:ext uri="{BB962C8B-B14F-4D97-AF65-F5344CB8AC3E}">
        <p14:creationId xmlns:p14="http://schemas.microsoft.com/office/powerpoint/2010/main" val="3676931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99C655-8399-B617-8ACD-169A6BEDB62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C4F713C7-FA21-F798-CF20-E245F16C5274}"/>
              </a:ext>
            </a:extLst>
          </p:cNvPr>
          <p:cNvSpPr>
            <a:spLocks noGrp="1"/>
          </p:cNvSpPr>
          <p:nvPr>
            <p:ph type="body" sz="quarter" idx="14"/>
          </p:nvPr>
        </p:nvSpPr>
        <p:spPr>
          <a:xfrm>
            <a:off x="223847" y="1016692"/>
            <a:ext cx="8160056" cy="2492990"/>
          </a:xfrm>
        </p:spPr>
        <p:txBody>
          <a:bodyPr wrap="square" lIns="0" tIns="0" rIns="0" bIns="0" anchor="t">
            <a:spAutoFit/>
          </a:bodyPr>
          <a:lstStyle/>
          <a:p>
            <a:pPr marL="457200" indent="-457200">
              <a:buAutoNum type="arabicPeriod"/>
            </a:pPr>
            <a:r>
              <a:rPr lang="es-ES" dirty="0">
                <a:solidFill>
                  <a:schemeClr val="tx1">
                    <a:lumMod val="49000"/>
                    <a:lumOff val="51000"/>
                  </a:schemeClr>
                </a:solidFill>
                <a:latin typeface="Calibri"/>
              </a:rPr>
              <a:t>Introduction</a:t>
            </a:r>
            <a:endParaRPr lang="es-ES">
              <a:solidFill>
                <a:schemeClr val="tx1">
                  <a:lumMod val="49000"/>
                  <a:lumOff val="51000"/>
                </a:schemeClr>
              </a:solidFill>
              <a:latin typeface="Calibri"/>
            </a:endParaRPr>
          </a:p>
          <a:p>
            <a:pPr marL="457200" indent="-457200">
              <a:buAutoNum type="arabicPeriod"/>
            </a:pPr>
            <a:r>
              <a:rPr lang="es-ES" dirty="0">
                <a:solidFill>
                  <a:schemeClr val="tx1">
                    <a:lumMod val="49000"/>
                    <a:lumOff val="51000"/>
                  </a:schemeClr>
                </a:solidFill>
                <a:latin typeface="Calibri"/>
              </a:rPr>
              <a:t>State of the art</a:t>
            </a:r>
            <a:endParaRPr lang="es-ES">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Thesis objectives</a:t>
            </a:r>
            <a:endParaRPr lang="es-ES" dirty="0" err="1">
              <a:solidFill>
                <a:schemeClr val="tx1">
                  <a:lumMod val="49000"/>
                  <a:lumOff val="51000"/>
                </a:schemeClr>
              </a:solidFill>
            </a:endParaRPr>
          </a:p>
          <a:p>
            <a:pPr marL="457200" indent="-457200">
              <a:buAutoNum type="arabicPeriod"/>
            </a:pPr>
            <a:r>
              <a:rPr lang="es-ES" dirty="0">
                <a:solidFill>
                  <a:schemeClr val="tx1">
                    <a:lumMod val="49000"/>
                    <a:lumOff val="51000"/>
                  </a:schemeClr>
                </a:solidFill>
                <a:latin typeface="Calibri"/>
              </a:rPr>
              <a:t>Methods</a:t>
            </a:r>
            <a:endParaRPr lang="es-ES">
              <a:solidFill>
                <a:schemeClr val="tx1">
                  <a:lumMod val="49000"/>
                  <a:lumOff val="51000"/>
                </a:schemeClr>
              </a:solidFill>
            </a:endParaRPr>
          </a:p>
          <a:p>
            <a:pPr marL="457200" indent="-457200">
              <a:buFontTx/>
              <a:buAutoNum type="arabicPeriod"/>
            </a:pPr>
            <a:r>
              <a:rPr lang="es-ES" dirty="0">
                <a:solidFill>
                  <a:schemeClr val="tx1">
                    <a:lumMod val="95000"/>
                    <a:lumOff val="5000"/>
                  </a:schemeClr>
                </a:solidFill>
                <a:latin typeface="Calibri"/>
                <a:ea typeface="Calibri"/>
                <a:cs typeface="Calibri"/>
              </a:rPr>
              <a:t>Experiment and results</a:t>
            </a:r>
          </a:p>
          <a:p>
            <a:pPr marL="914400" lvl="1" indent="-457200">
              <a:buFont typeface="Arial"/>
              <a:buChar char="•"/>
            </a:pPr>
            <a:r>
              <a:rPr lang="es-ES" sz="1800" b="1" dirty="0" err="1">
                <a:solidFill>
                  <a:schemeClr val="tx1">
                    <a:lumMod val="49000"/>
                    <a:lumOff val="51000"/>
                  </a:schemeClr>
                </a:solidFill>
                <a:latin typeface="Calibri"/>
                <a:ea typeface="Calibri"/>
                <a:cs typeface="Calibri"/>
              </a:rPr>
              <a:t>Rational</a:t>
            </a:r>
            <a:r>
              <a:rPr lang="es-ES" sz="1800" b="1" dirty="0">
                <a:solidFill>
                  <a:schemeClr val="tx1">
                    <a:lumMod val="49000"/>
                    <a:lumOff val="51000"/>
                  </a:schemeClr>
                </a:solidFill>
                <a:latin typeface="Calibri"/>
                <a:ea typeface="Calibri"/>
                <a:cs typeface="Calibri"/>
              </a:rPr>
              <a:t> </a:t>
            </a:r>
            <a:r>
              <a:rPr lang="es-ES" sz="1800" b="1" dirty="0" err="1">
                <a:solidFill>
                  <a:schemeClr val="tx1">
                    <a:lumMod val="49000"/>
                    <a:lumOff val="51000"/>
                  </a:schemeClr>
                </a:solidFill>
                <a:latin typeface="Calibri"/>
                <a:ea typeface="Calibri"/>
                <a:cs typeface="Calibri"/>
              </a:rPr>
              <a:t>agents</a:t>
            </a:r>
          </a:p>
          <a:p>
            <a:pPr marL="457200" indent="-457200">
              <a:buAutoNum type="arabicPeriod"/>
            </a:pPr>
            <a:endParaRPr lang="es-ES" dirty="0">
              <a:ea typeface="Calibri"/>
            </a:endParaRPr>
          </a:p>
        </p:txBody>
      </p:sp>
      <p:sp>
        <p:nvSpPr>
          <p:cNvPr id="11" name="Título 2">
            <a:extLst>
              <a:ext uri="{FF2B5EF4-FFF2-40B4-BE49-F238E27FC236}">
                <a16:creationId xmlns:a16="http://schemas.microsoft.com/office/drawing/2014/main" id="{CD24DB1C-5B35-81C3-C00E-7F80B0060070}"/>
              </a:ext>
            </a:extLst>
          </p:cNvPr>
          <p:cNvSpPr>
            <a:spLocks noGrp="1"/>
          </p:cNvSpPr>
          <p:nvPr>
            <p:ph type="title"/>
          </p:nvPr>
        </p:nvSpPr>
        <p:spPr>
          <a:xfrm>
            <a:off x="73152" y="73152"/>
            <a:ext cx="8863030" cy="430887"/>
          </a:xfrm>
        </p:spPr>
        <p:txBody>
          <a:bodyPr wrap="square" lIns="0" tIns="0" rIns="0" bIns="0" anchor="t">
            <a:spAutoFit/>
          </a:bodyPr>
          <a:lstStyle/>
          <a:p>
            <a:r>
              <a:rPr lang="es-ES" dirty="0" err="1">
                <a:latin typeface="Calibri"/>
              </a:rPr>
              <a:t>Outline</a:t>
            </a:r>
            <a:endParaRPr lang="es-ES" dirty="0" err="1"/>
          </a:p>
        </p:txBody>
      </p:sp>
      <p:sp>
        <p:nvSpPr>
          <p:cNvPr id="5" name="Marcador de número de diapositiva 4">
            <a:extLst>
              <a:ext uri="{FF2B5EF4-FFF2-40B4-BE49-F238E27FC236}">
                <a16:creationId xmlns:a16="http://schemas.microsoft.com/office/drawing/2014/main" id="{55A1DBA4-DA54-B404-C36A-E13639AF7125}"/>
              </a:ext>
            </a:extLst>
          </p:cNvPr>
          <p:cNvSpPr>
            <a:spLocks noGrp="1"/>
          </p:cNvSpPr>
          <p:nvPr>
            <p:ph type="sldNum" sz="quarter" idx="4"/>
          </p:nvPr>
        </p:nvSpPr>
        <p:spPr/>
        <p:txBody>
          <a:bodyPr/>
          <a:lstStyle/>
          <a:p>
            <a:fld id="{F577E53E-616C-4B80-8F3C-B6584B31683E}" type="slidenum">
              <a:rPr lang="en-US" smtClean="0"/>
              <a:pPr/>
              <a:t>44</a:t>
            </a:fld>
            <a:endParaRPr lang="es-ES"/>
          </a:p>
        </p:txBody>
      </p:sp>
    </p:spTree>
    <p:extLst>
      <p:ext uri="{BB962C8B-B14F-4D97-AF65-F5344CB8AC3E}">
        <p14:creationId xmlns:p14="http://schemas.microsoft.com/office/powerpoint/2010/main" val="3440352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0BBB1969-63AF-89E5-DB7A-4C03795BD0CA}"/>
              </a:ext>
            </a:extLst>
          </p:cNvPr>
          <p:cNvSpPr>
            <a:spLocks noGrp="1"/>
          </p:cNvSpPr>
          <p:nvPr>
            <p:ph type="title"/>
          </p:nvPr>
        </p:nvSpPr>
        <p:spPr>
          <a:xfrm>
            <a:off x="73152" y="73152"/>
            <a:ext cx="8863030" cy="861774"/>
          </a:xfrm>
        </p:spPr>
        <p:txBody>
          <a:bodyPr wrap="square" lIns="0" tIns="0" rIns="0" bIns="0" anchor="t">
            <a:spAutoFit/>
          </a:bodyPr>
          <a:lstStyle/>
          <a:p>
            <a:r>
              <a:rPr lang="es-ES" dirty="0">
                <a:latin typeface="Calibri"/>
                <a:ea typeface="Calibri"/>
                <a:cs typeface="Calibri"/>
              </a:rPr>
              <a:t>Perfect </a:t>
            </a:r>
            <a:r>
              <a:rPr lang="es-ES" dirty="0" err="1">
                <a:latin typeface="Calibri"/>
                <a:ea typeface="Calibri"/>
                <a:cs typeface="Calibri"/>
              </a:rPr>
              <a:t>memory</a:t>
            </a:r>
            <a:r>
              <a:rPr lang="es-ES" dirty="0">
                <a:latin typeface="Calibri"/>
                <a:ea typeface="Calibri"/>
                <a:cs typeface="Calibri"/>
              </a:rPr>
              <a:t> </a:t>
            </a:r>
            <a:r>
              <a:rPr lang="es-ES" dirty="0" err="1">
                <a:latin typeface="Calibri"/>
                <a:ea typeface="Calibri"/>
                <a:cs typeface="Calibri"/>
              </a:rPr>
              <a:t>prevents</a:t>
            </a:r>
            <a:r>
              <a:rPr lang="es-ES" dirty="0">
                <a:latin typeface="Calibri"/>
                <a:ea typeface="Calibri"/>
                <a:cs typeface="Calibri"/>
              </a:rPr>
              <a:t> </a:t>
            </a:r>
            <a:r>
              <a:rPr lang="es-ES" dirty="0" err="1">
                <a:latin typeface="Calibri"/>
                <a:ea typeface="Calibri"/>
                <a:cs typeface="Calibri"/>
              </a:rPr>
              <a:t>recovery</a:t>
            </a:r>
            <a:r>
              <a:rPr lang="es-ES" dirty="0">
                <a:latin typeface="Calibri"/>
                <a:ea typeface="Calibri"/>
                <a:cs typeface="Calibri"/>
              </a:rPr>
              <a:t> </a:t>
            </a:r>
            <a:r>
              <a:rPr lang="es-ES" dirty="0" err="1">
                <a:latin typeface="Calibri"/>
                <a:ea typeface="Calibri"/>
                <a:cs typeface="Calibri"/>
              </a:rPr>
              <a:t>from</a:t>
            </a:r>
            <a:r>
              <a:rPr lang="es-ES" dirty="0">
                <a:latin typeface="Calibri"/>
                <a:ea typeface="Calibri"/>
                <a:cs typeface="Calibri"/>
              </a:rPr>
              <a:t> </a:t>
            </a:r>
            <a:r>
              <a:rPr lang="es-ES" dirty="0" err="1">
                <a:latin typeface="Calibri"/>
                <a:ea typeface="Calibri"/>
                <a:cs typeface="Calibri"/>
              </a:rPr>
              <a:t>disrupted</a:t>
            </a:r>
            <a:r>
              <a:rPr lang="es-ES" dirty="0">
                <a:latin typeface="Calibri"/>
                <a:ea typeface="Calibri"/>
                <a:cs typeface="Calibri"/>
              </a:rPr>
              <a:t> </a:t>
            </a:r>
            <a:r>
              <a:rPr lang="es-ES" dirty="0" err="1">
                <a:latin typeface="Calibri"/>
                <a:ea typeface="Calibri"/>
                <a:cs typeface="Calibri"/>
              </a:rPr>
              <a:t>routes</a:t>
            </a:r>
            <a:r>
              <a:rPr lang="es-ES" dirty="0">
                <a:latin typeface="Calibri"/>
                <a:ea typeface="Calibri"/>
                <a:cs typeface="Calibri"/>
              </a:rPr>
              <a:t>, </a:t>
            </a:r>
            <a:r>
              <a:rPr lang="es-ES" dirty="0" err="1">
                <a:latin typeface="Calibri"/>
                <a:ea typeface="Calibri"/>
                <a:cs typeface="Calibri"/>
              </a:rPr>
              <a:t>whereas</a:t>
            </a:r>
            <a:r>
              <a:rPr lang="es-ES" dirty="0">
                <a:latin typeface="Calibri"/>
                <a:ea typeface="Calibri"/>
                <a:cs typeface="Calibri"/>
              </a:rPr>
              <a:t> </a:t>
            </a:r>
            <a:r>
              <a:rPr lang="es-ES" dirty="0" err="1">
                <a:latin typeface="Calibri"/>
                <a:ea typeface="Calibri"/>
                <a:cs typeface="Calibri"/>
              </a:rPr>
              <a:t>lower</a:t>
            </a:r>
            <a:r>
              <a:rPr lang="es-ES" dirty="0">
                <a:latin typeface="Calibri"/>
                <a:ea typeface="Calibri"/>
                <a:cs typeface="Calibri"/>
              </a:rPr>
              <a:t> </a:t>
            </a:r>
            <a:r>
              <a:rPr lang="es-ES" dirty="0" err="1">
                <a:latin typeface="Calibri"/>
                <a:ea typeface="Calibri"/>
                <a:cs typeface="Calibri"/>
              </a:rPr>
              <a:t>memory</a:t>
            </a:r>
            <a:r>
              <a:rPr lang="es-ES" dirty="0">
                <a:latin typeface="Calibri"/>
                <a:ea typeface="Calibri"/>
                <a:cs typeface="Calibri"/>
              </a:rPr>
              <a:t> </a:t>
            </a:r>
            <a:r>
              <a:rPr lang="es-ES" dirty="0" err="1">
                <a:latin typeface="Calibri"/>
                <a:ea typeface="Calibri"/>
                <a:cs typeface="Calibri"/>
              </a:rPr>
              <a:t>enables</a:t>
            </a:r>
            <a:r>
              <a:rPr lang="es-ES" dirty="0">
                <a:latin typeface="Calibri"/>
                <a:ea typeface="Calibri"/>
                <a:cs typeface="Calibri"/>
              </a:rPr>
              <a:t> </a:t>
            </a:r>
            <a:r>
              <a:rPr lang="es-ES" dirty="0" err="1">
                <a:latin typeface="Calibri"/>
                <a:ea typeface="Calibri"/>
                <a:cs typeface="Calibri"/>
              </a:rPr>
              <a:t>partial</a:t>
            </a:r>
            <a:r>
              <a:rPr lang="es-ES" dirty="0">
                <a:latin typeface="Calibri"/>
                <a:ea typeface="Calibri"/>
                <a:cs typeface="Calibri"/>
              </a:rPr>
              <a:t> </a:t>
            </a:r>
            <a:r>
              <a:rPr lang="es-ES" dirty="0" err="1">
                <a:latin typeface="Calibri"/>
                <a:ea typeface="Calibri"/>
                <a:cs typeface="Calibri"/>
              </a:rPr>
              <a:t>recovery</a:t>
            </a:r>
            <a:endParaRPr lang="es-ES" dirty="0" err="1">
              <a:latin typeface="Calibri"/>
            </a:endParaRPr>
          </a:p>
        </p:txBody>
      </p:sp>
      <p:pic>
        <p:nvPicPr>
          <p:cNvPr id="4" name="Imagen 3" descr="Gráfico&#10;&#10;El contenido generado por IA puede ser incorrecto.">
            <a:extLst>
              <a:ext uri="{FF2B5EF4-FFF2-40B4-BE49-F238E27FC236}">
                <a16:creationId xmlns:a16="http://schemas.microsoft.com/office/drawing/2014/main" id="{F35F993E-6B48-CCC1-1FAB-5CCD7CE0E41A}"/>
              </a:ext>
            </a:extLst>
          </p:cNvPr>
          <p:cNvPicPr>
            <a:picLocks noChangeAspect="1"/>
          </p:cNvPicPr>
          <p:nvPr/>
        </p:nvPicPr>
        <p:blipFill>
          <a:blip r:embed="rId2"/>
          <a:stretch>
            <a:fillRect/>
          </a:stretch>
        </p:blipFill>
        <p:spPr>
          <a:xfrm>
            <a:off x="345283" y="1202531"/>
            <a:ext cx="8317705" cy="3731418"/>
          </a:xfrm>
          <a:prstGeom prst="rect">
            <a:avLst/>
          </a:prstGeom>
        </p:spPr>
      </p:pic>
      <p:sp>
        <p:nvSpPr>
          <p:cNvPr id="2" name="Marcador de número de diapositiva 1">
            <a:extLst>
              <a:ext uri="{FF2B5EF4-FFF2-40B4-BE49-F238E27FC236}">
                <a16:creationId xmlns:a16="http://schemas.microsoft.com/office/drawing/2014/main" id="{84544CD4-731B-E8D9-7110-A1FED6894CD1}"/>
              </a:ext>
            </a:extLst>
          </p:cNvPr>
          <p:cNvSpPr>
            <a:spLocks noGrp="1"/>
          </p:cNvSpPr>
          <p:nvPr>
            <p:ph type="sldNum" sz="quarter" idx="4"/>
          </p:nvPr>
        </p:nvSpPr>
        <p:spPr/>
        <p:txBody>
          <a:bodyPr/>
          <a:lstStyle/>
          <a:p>
            <a:fld id="{F577E53E-616C-4B80-8F3C-B6584B31683E}" type="slidenum">
              <a:rPr lang="en-US" smtClean="0"/>
              <a:pPr/>
              <a:t>45</a:t>
            </a:fld>
            <a:endParaRPr lang="es-ES"/>
          </a:p>
        </p:txBody>
      </p:sp>
    </p:spTree>
    <p:extLst>
      <p:ext uri="{BB962C8B-B14F-4D97-AF65-F5344CB8AC3E}">
        <p14:creationId xmlns:p14="http://schemas.microsoft.com/office/powerpoint/2010/main" val="1618138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242">
          <a:extLst>
            <a:ext uri="{FF2B5EF4-FFF2-40B4-BE49-F238E27FC236}">
              <a16:creationId xmlns:a16="http://schemas.microsoft.com/office/drawing/2014/main" id="{67466A4C-70B8-5946-649F-FA57AEA989A8}"/>
            </a:ext>
          </a:extLst>
        </p:cNvPr>
        <p:cNvGrpSpPr/>
        <p:nvPr/>
      </p:nvGrpSpPr>
      <p:grpSpPr>
        <a:xfrm>
          <a:off x="0" y="0"/>
          <a:ext cx="0" cy="0"/>
          <a:chOff x="0" y="0"/>
          <a:chExt cx="0" cy="0"/>
        </a:xfrm>
      </p:grpSpPr>
      <p:sp>
        <p:nvSpPr>
          <p:cNvPr id="244" name="Shape 244">
            <a:extLst>
              <a:ext uri="{FF2B5EF4-FFF2-40B4-BE49-F238E27FC236}">
                <a16:creationId xmlns:a16="http://schemas.microsoft.com/office/drawing/2014/main" id="{30FAC805-5C71-A267-0FA1-FA27BE88A606}"/>
              </a:ext>
            </a:extLst>
          </p:cNvPr>
          <p:cNvSpPr/>
          <p:nvPr/>
        </p:nvSpPr>
        <p:spPr>
          <a:xfrm>
            <a:off x="76200" y="1407319"/>
            <a:ext cx="3545680" cy="2544286"/>
          </a:xfrm>
          <a:prstGeom prst="rect">
            <a:avLst/>
          </a:prstGeom>
          <a:noFill/>
          <a:ln>
            <a:noFill/>
          </a:ln>
        </p:spPr>
        <p:txBody>
          <a:bodyPr wrap="square" lIns="63500" tIns="25400" rIns="63500" bIns="25400" anchor="t" anchorCtr="0">
            <a:spAutoFit/>
          </a:bodyPr>
          <a:lstStyle/>
          <a:p>
            <a:pPr algn="ctr"/>
            <a:r>
              <a:rPr lang="en-US" sz="1800" b="1" dirty="0">
                <a:solidFill>
                  <a:srgbClr val="262626"/>
                </a:solidFill>
                <a:latin typeface="Calibri"/>
                <a:ea typeface="Calibri"/>
                <a:cs typeface="Calibri"/>
              </a:rPr>
              <a:t>Behavioral extensions such as </a:t>
            </a:r>
            <a:r>
              <a:rPr lang="en-US" sz="1800" b="1" dirty="0">
                <a:solidFill>
                  <a:srgbClr val="FF0000"/>
                </a:solidFill>
                <a:latin typeface="Calibri"/>
                <a:ea typeface="Calibri"/>
                <a:cs typeface="Calibri"/>
              </a:rPr>
              <a:t>risk-aversion, waiting-time aversion and nonlinear response </a:t>
            </a:r>
            <a:endParaRPr lang="en-US" sz="1800" b="1">
              <a:solidFill>
                <a:srgbClr val="FF0000"/>
              </a:solidFill>
            </a:endParaRPr>
          </a:p>
          <a:p>
            <a:pPr marL="0" marR="0" lvl="0" indent="0" algn="ctr" rtl="0">
              <a:spcBef>
                <a:spcPts val="0"/>
              </a:spcBef>
              <a:buNone/>
            </a:pPr>
            <a:endParaRPr sz="1800" b="1" i="0" u="none" strike="noStrike" cap="none" baseline="0" dirty="0">
              <a:solidFill>
                <a:srgbClr val="262626"/>
              </a:solidFill>
              <a:latin typeface="Calibri"/>
              <a:ea typeface="Calibri"/>
              <a:cs typeface="Calibri"/>
            </a:endParaRPr>
          </a:p>
          <a:p>
            <a:pPr algn="ctr"/>
            <a:r>
              <a:rPr lang="en-US" sz="1800" b="1" dirty="0">
                <a:solidFill>
                  <a:srgbClr val="262626"/>
                </a:solidFill>
                <a:latin typeface="Calibri"/>
                <a:ea typeface="Calibri"/>
                <a:cs typeface="Calibri"/>
                <a:sym typeface="Calibri"/>
              </a:rPr>
              <a:t>   </a:t>
            </a:r>
          </a:p>
          <a:p>
            <a:pPr algn="ctr"/>
            <a:r>
              <a:rPr lang="en-US" sz="1800" b="1" dirty="0">
                <a:solidFill>
                  <a:srgbClr val="262626"/>
                </a:solidFill>
                <a:latin typeface="Calibri"/>
                <a:ea typeface="Calibri"/>
                <a:cs typeface="Calibri"/>
                <a:sym typeface="Calibri"/>
              </a:rPr>
              <a:t>May give </a:t>
            </a:r>
            <a:r>
              <a:rPr lang="en-US" sz="1800" b="1" dirty="0">
                <a:solidFill>
                  <a:srgbClr val="FF0000"/>
                </a:solidFill>
                <a:latin typeface="Calibri"/>
                <a:ea typeface="Calibri"/>
                <a:cs typeface="Calibri"/>
                <a:sym typeface="Calibri"/>
              </a:rPr>
              <a:t>higher R-gap </a:t>
            </a:r>
            <a:endParaRPr lang="en-US" sz="1800" b="1" dirty="0">
              <a:solidFill>
                <a:srgbClr val="FF0000"/>
              </a:solidFill>
              <a:latin typeface="Calibri"/>
              <a:ea typeface="Calibri"/>
              <a:cs typeface="Calibri"/>
            </a:endParaRPr>
          </a:p>
          <a:p>
            <a:pPr algn="ctr"/>
            <a:endParaRPr lang="en-US" sz="1800" b="1" dirty="0">
              <a:solidFill>
                <a:srgbClr val="262626"/>
              </a:solidFill>
              <a:latin typeface="Calibri"/>
              <a:ea typeface="Calibri"/>
              <a:cs typeface="Calibri"/>
            </a:endParaRPr>
          </a:p>
          <a:p>
            <a:pPr algn="ctr"/>
            <a:endParaRPr lang="en-US" sz="1800" b="1" dirty="0">
              <a:solidFill>
                <a:srgbClr val="262626"/>
              </a:solidFill>
              <a:latin typeface="Calibri"/>
              <a:ea typeface="Calibri"/>
              <a:cs typeface="Calibri"/>
            </a:endParaRPr>
          </a:p>
          <a:p>
            <a:pPr algn="ctr"/>
            <a:r>
              <a:rPr lang="en-US" sz="1800" b="1" dirty="0">
                <a:solidFill>
                  <a:srgbClr val="262626"/>
                </a:solidFill>
                <a:latin typeface="Calibri"/>
                <a:ea typeface="Calibri"/>
                <a:cs typeface="Calibri"/>
              </a:rPr>
              <a:t>May </a:t>
            </a:r>
            <a:r>
              <a:rPr lang="en-US" sz="1800" b="1" dirty="0">
                <a:solidFill>
                  <a:srgbClr val="FF0000"/>
                </a:solidFill>
                <a:latin typeface="Calibri"/>
                <a:ea typeface="Calibri"/>
                <a:cs typeface="Calibri"/>
              </a:rPr>
              <a:t>prevent</a:t>
            </a:r>
            <a:r>
              <a:rPr lang="en-US" sz="1800" b="1" dirty="0">
                <a:solidFill>
                  <a:srgbClr val="262626"/>
                </a:solidFill>
                <a:latin typeface="Calibri"/>
                <a:ea typeface="Calibri"/>
                <a:cs typeface="Calibri"/>
              </a:rPr>
              <a:t> convergence to </a:t>
            </a:r>
            <a:r>
              <a:rPr lang="en-US" sz="1800" b="1" dirty="0">
                <a:solidFill>
                  <a:srgbClr val="FF0000"/>
                </a:solidFill>
                <a:latin typeface="Calibri"/>
                <a:ea typeface="Calibri"/>
                <a:cs typeface="Calibri"/>
              </a:rPr>
              <a:t>DUE</a:t>
            </a:r>
          </a:p>
        </p:txBody>
      </p:sp>
      <p:sp>
        <p:nvSpPr>
          <p:cNvPr id="247" name="Shape 247">
            <a:extLst>
              <a:ext uri="{FF2B5EF4-FFF2-40B4-BE49-F238E27FC236}">
                <a16:creationId xmlns:a16="http://schemas.microsoft.com/office/drawing/2014/main" id="{C08B9602-7658-BA53-699D-293BCFDCFEAA}"/>
              </a:ext>
            </a:extLst>
          </p:cNvPr>
          <p:cNvSpPr txBox="1"/>
          <p:nvPr/>
        </p:nvSpPr>
        <p:spPr>
          <a:xfrm>
            <a:off x="76200" y="57150"/>
            <a:ext cx="8997900" cy="800219"/>
          </a:xfrm>
          <a:prstGeom prst="rect">
            <a:avLst/>
          </a:prstGeom>
          <a:noFill/>
          <a:ln>
            <a:noFill/>
          </a:ln>
        </p:spPr>
        <p:txBody>
          <a:bodyPr lIns="0" tIns="0" rIns="0" bIns="0" anchor="t" anchorCtr="0">
            <a:spAutoFit/>
          </a:bodyPr>
          <a:lstStyle/>
          <a:p>
            <a:r>
              <a:rPr lang="en-US" sz="2600" b="1" i="0" u="none" strike="noStrike" cap="none" baseline="0" dirty="0">
                <a:solidFill>
                  <a:srgbClr val="000000"/>
                </a:solidFill>
                <a:latin typeface="Calibri"/>
                <a:ea typeface="Calibri"/>
                <a:cs typeface="Calibri"/>
                <a:sym typeface="Calibri"/>
              </a:rPr>
              <a:t>In summary,</a:t>
            </a:r>
            <a:r>
              <a:rPr lang="en-US" sz="2600" b="1" dirty="0">
                <a:latin typeface="Calibri"/>
                <a:ea typeface="Calibri"/>
                <a:cs typeface="Calibri"/>
                <a:sym typeface="Calibri"/>
              </a:rPr>
              <a:t> more realistic agent behavior may prevent convergence to DUE</a:t>
            </a:r>
            <a:endParaRPr lang="es-ES" b="1" dirty="0">
              <a:latin typeface="Calibri"/>
              <a:ea typeface="Calibri"/>
              <a:cs typeface="Calibri"/>
            </a:endParaRPr>
          </a:p>
        </p:txBody>
      </p:sp>
      <p:sp>
        <p:nvSpPr>
          <p:cNvPr id="3" name="Shape 259">
            <a:extLst>
              <a:ext uri="{FF2B5EF4-FFF2-40B4-BE49-F238E27FC236}">
                <a16:creationId xmlns:a16="http://schemas.microsoft.com/office/drawing/2014/main" id="{BAFD57DA-9A48-0048-1074-38208DBCDC2C}"/>
              </a:ext>
            </a:extLst>
          </p:cNvPr>
          <p:cNvSpPr/>
          <p:nvPr/>
        </p:nvSpPr>
        <p:spPr>
          <a:xfrm>
            <a:off x="1643647" y="2377676"/>
            <a:ext cx="263631" cy="304800"/>
          </a:xfrm>
          <a:prstGeom prst="downArrow">
            <a:avLst>
              <a:gd name="adj1" fmla="val 50000"/>
              <a:gd name="adj2" fmla="val 30218"/>
            </a:avLst>
          </a:prstGeom>
          <a:solidFill>
            <a:srgbClr val="262626"/>
          </a:solidFill>
          <a:ln>
            <a:noFill/>
          </a:ln>
        </p:spPr>
        <p:txBody>
          <a:bodyPr lIns="91425" tIns="45700" rIns="91425" bIns="45700" anchor="ctr"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sp>
        <p:nvSpPr>
          <p:cNvPr id="4" name="Shape 259">
            <a:extLst>
              <a:ext uri="{FF2B5EF4-FFF2-40B4-BE49-F238E27FC236}">
                <a16:creationId xmlns:a16="http://schemas.microsoft.com/office/drawing/2014/main" id="{EB5354B0-85C4-A222-DE42-182A792E0610}"/>
              </a:ext>
            </a:extLst>
          </p:cNvPr>
          <p:cNvSpPr/>
          <p:nvPr/>
        </p:nvSpPr>
        <p:spPr>
          <a:xfrm>
            <a:off x="1643647" y="3227781"/>
            <a:ext cx="263631" cy="304800"/>
          </a:xfrm>
          <a:prstGeom prst="downArrow">
            <a:avLst>
              <a:gd name="adj1" fmla="val 50000"/>
              <a:gd name="adj2" fmla="val 30218"/>
            </a:avLst>
          </a:prstGeom>
          <a:solidFill>
            <a:srgbClr val="262626"/>
          </a:solidFill>
          <a:ln>
            <a:noFill/>
          </a:ln>
        </p:spPr>
        <p:txBody>
          <a:bodyPr lIns="91425" tIns="45700" rIns="91425" bIns="45700" anchor="ctr"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pic>
        <p:nvPicPr>
          <p:cNvPr id="6" name="Imagen 5" descr="UPC-CEI-positiu-p3005-interior-blanc.png">
            <a:extLst>
              <a:ext uri="{FF2B5EF4-FFF2-40B4-BE49-F238E27FC236}">
                <a16:creationId xmlns:a16="http://schemas.microsoft.com/office/drawing/2014/main" id="{483DCABE-0817-B011-97EF-76E54B08EF88}"/>
              </a:ext>
            </a:extLst>
          </p:cNvPr>
          <p:cNvPicPr>
            <a:picLocks noChangeAspect="1"/>
          </p:cNvPicPr>
          <p:nvPr/>
        </p:nvPicPr>
        <p:blipFill>
          <a:blip r:embed="rId3"/>
          <a:srcRect b="24837"/>
          <a:stretch>
            <a:fillRect/>
          </a:stretch>
        </p:blipFill>
        <p:spPr>
          <a:xfrm>
            <a:off x="5815013" y="4312444"/>
            <a:ext cx="3257550" cy="830481"/>
          </a:xfrm>
          <a:prstGeom prst="rect">
            <a:avLst/>
          </a:prstGeom>
        </p:spPr>
      </p:pic>
      <p:pic>
        <p:nvPicPr>
          <p:cNvPr id="7" name="Imagen 6">
            <a:extLst>
              <a:ext uri="{FF2B5EF4-FFF2-40B4-BE49-F238E27FC236}">
                <a16:creationId xmlns:a16="http://schemas.microsoft.com/office/drawing/2014/main" id="{3E21C975-5583-3217-772F-57361B87308C}"/>
              </a:ext>
            </a:extLst>
          </p:cNvPr>
          <p:cNvPicPr>
            <a:picLocks noChangeAspect="1"/>
          </p:cNvPicPr>
          <p:nvPr/>
        </p:nvPicPr>
        <p:blipFill>
          <a:blip r:embed="rId4"/>
          <a:stretch>
            <a:fillRect/>
          </a:stretch>
        </p:blipFill>
        <p:spPr>
          <a:xfrm>
            <a:off x="5923991" y="642936"/>
            <a:ext cx="2418087" cy="3593307"/>
          </a:xfrm>
          <a:prstGeom prst="rect">
            <a:avLst/>
          </a:prstGeom>
        </p:spPr>
      </p:pic>
      <p:sp>
        <p:nvSpPr>
          <p:cNvPr id="2" name="Marcador de número de diapositiva 1">
            <a:extLst>
              <a:ext uri="{FF2B5EF4-FFF2-40B4-BE49-F238E27FC236}">
                <a16:creationId xmlns:a16="http://schemas.microsoft.com/office/drawing/2014/main" id="{CB1F2F0A-C678-3877-AC80-5D8DC34C9C5A}"/>
              </a:ext>
            </a:extLst>
          </p:cNvPr>
          <p:cNvSpPr>
            <a:spLocks noGrp="1"/>
          </p:cNvSpPr>
          <p:nvPr>
            <p:ph type="sldNum" sz="quarter" idx="4"/>
          </p:nvPr>
        </p:nvSpPr>
        <p:spPr/>
        <p:txBody>
          <a:bodyPr/>
          <a:lstStyle/>
          <a:p>
            <a:fld id="{F577E53E-616C-4B80-8F3C-B6584B31683E}" type="slidenum">
              <a:rPr lang="en-US" smtClean="0"/>
              <a:pPr/>
              <a:t>46</a:t>
            </a:fld>
            <a:endParaRPr lang="es-ES"/>
          </a:p>
        </p:txBody>
      </p:sp>
    </p:spTree>
    <p:extLst>
      <p:ext uri="{BB962C8B-B14F-4D97-AF65-F5344CB8AC3E}">
        <p14:creationId xmlns:p14="http://schemas.microsoft.com/office/powerpoint/2010/main" val="3882336208"/>
      </p:ext>
    </p:extLst>
  </p:cSld>
  <p:clrMapOvr>
    <a:masterClrMapping/>
  </p:clrMapOvr>
  <p:transition spd="slow">
    <p:cut/>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2000" b="1" dirty="0">
            <a:latin typeface="Calibri" panose="020F0502020204030204" pitchFamily="34" charset="0"/>
          </a:defRPr>
        </a:defPPr>
      </a:lstStyle>
    </a:txDef>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otalTime>247</TotalTime>
  <Words>1981</Words>
  <Application>Microsoft Office PowerPoint</Application>
  <PresentationFormat>Presentación en pantalla (16:9)</PresentationFormat>
  <Paragraphs>192</Paragraphs>
  <Slides>46</Slides>
  <Notes>9</Notes>
  <HiddenSlides>10</HiddenSlides>
  <MMClips>0</MMClips>
  <ScaleCrop>false</ScaleCrop>
  <HeadingPairs>
    <vt:vector size="4" baseType="variant">
      <vt:variant>
        <vt:lpstr>Tema</vt:lpstr>
      </vt:variant>
      <vt:variant>
        <vt:i4>1</vt:i4>
      </vt:variant>
      <vt:variant>
        <vt:lpstr>Títulos de diapositiva</vt:lpstr>
      </vt:variant>
      <vt:variant>
        <vt:i4>46</vt:i4>
      </vt:variant>
    </vt:vector>
  </HeadingPairs>
  <TitlesOfParts>
    <vt:vector size="47" baseType="lpstr">
      <vt:lpstr>Office Theme</vt:lpstr>
      <vt:lpstr>Presentación de PowerPoint</vt:lpstr>
      <vt:lpstr>Presentation outline</vt:lpstr>
      <vt:lpstr>Outline</vt:lpstr>
      <vt:lpstr>Presentación de PowerPoint</vt:lpstr>
      <vt:lpstr>Presentación de PowerPoint</vt:lpstr>
      <vt:lpstr>Presentación de PowerPoint</vt:lpstr>
      <vt:lpstr>Dynamic user equilibrium is a fundamental equilibrium concept in traffic assignment </vt:lpstr>
      <vt:lpstr>Bounded rationality recognizes that human decisions may deviate from perfectly rational behavior</vt:lpstr>
      <vt:lpstr>Outline</vt:lpstr>
      <vt:lpstr>Recent research increasingly focuses on modelling individual travellers’ learning and adaptation</vt:lpstr>
      <vt:lpstr>Outline</vt:lpstr>
      <vt:lpstr>Thesis Objectives</vt:lpstr>
      <vt:lpstr>Outline</vt:lpstr>
      <vt:lpstr>Outline</vt:lpstr>
      <vt:lpstr>Presentación de PowerPoint</vt:lpstr>
      <vt:lpstr>Outline</vt:lpstr>
      <vt:lpstr>Presentación de PowerPoint</vt:lpstr>
      <vt:lpstr>The original Bush–Mosteller model can be extended to represent "irrational" drivers</vt:lpstr>
      <vt:lpstr>The nonlinear response introduces a threshold below which drivers do not react</vt:lpstr>
      <vt:lpstr>Outline</vt:lpstr>
      <vt:lpstr>R-gap measures convergence towards Dynamic User Equilibrium (DUE)</vt:lpstr>
      <vt:lpstr>Outline</vt:lpstr>
      <vt:lpstr>Outline</vt:lpstr>
      <vt:lpstr>Rational agents converge towards DUE</vt:lpstr>
      <vt:lpstr>Outline</vt:lpstr>
      <vt:lpstr>Risk-averse drivers may prevent convergence towards DUE</vt:lpstr>
      <vt:lpstr>Risk-averse drivers may prefer longer but more reliable routes</vt:lpstr>
      <vt:lpstr>Outline</vt:lpstr>
      <vt:lpstr>Waiting-time-averse drivers may prevent convergence towards DUE</vt:lpstr>
      <vt:lpstr>Waiting-time-averse drivers may favor longer routes to reduce time spent stopped </vt:lpstr>
      <vt:lpstr>Outline</vt:lpstr>
      <vt:lpstr>A nonlinear response may prevent convergence towards DUE</vt:lpstr>
      <vt:lpstr>Outline</vt:lpstr>
      <vt:lpstr>Presentación de PowerPoint</vt:lpstr>
      <vt:lpstr>Outline</vt:lpstr>
      <vt:lpstr>Future work</vt:lpstr>
      <vt:lpstr>Perfect memory prevents recovery from disrupted edges , whereas lower memory enables partial recovery</vt:lpstr>
      <vt:lpstr>The proposed Bush–Mosteller MARL approach appears to generate more dispersed traffic than the benchmark</vt:lpstr>
      <vt:lpstr>Experiments and results</vt:lpstr>
      <vt:lpstr>This thesis examines the impact of bounded rational agents on traffic</vt:lpstr>
      <vt:lpstr>Presentación de PowerPoint</vt:lpstr>
      <vt:lpstr>Dynamic traffic assignment models are more realistic</vt:lpstr>
      <vt:lpstr>Two notions of convergence and key simulation-time concepts</vt:lpstr>
      <vt:lpstr>Outline</vt:lpstr>
      <vt:lpstr>Perfect memory prevents recovery from disrupted routes, whereas lower memory enables partial recovery</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Shawn Siroka</dc:creator>
  <cp:lastModifiedBy>Alley, Michael P</cp:lastModifiedBy>
  <cp:revision>2445</cp:revision>
  <cp:lastPrinted>2016-08-29T17:06:47Z</cp:lastPrinted>
  <dcterms:modified xsi:type="dcterms:W3CDTF">2026-10-08T07:17:04Z</dcterms:modified>
</cp:coreProperties>
</file>